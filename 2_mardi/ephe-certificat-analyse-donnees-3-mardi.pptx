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325" r:id="rId2"/>
    <p:sldId id="384" r:id="rId3"/>
    <p:sldId id="332" r:id="rId4"/>
    <p:sldId id="353" r:id="rId5"/>
    <p:sldId id="333" r:id="rId6"/>
    <p:sldId id="334" r:id="rId7"/>
    <p:sldId id="335" r:id="rId8"/>
    <p:sldId id="336" r:id="rId9"/>
    <p:sldId id="337" r:id="rId10"/>
    <p:sldId id="338" r:id="rId11"/>
    <p:sldId id="354" r:id="rId12"/>
    <p:sldId id="343" r:id="rId13"/>
    <p:sldId id="344" r:id="rId14"/>
    <p:sldId id="341" r:id="rId15"/>
    <p:sldId id="345" r:id="rId16"/>
    <p:sldId id="346" r:id="rId17"/>
    <p:sldId id="350" r:id="rId18"/>
    <p:sldId id="347" r:id="rId19"/>
    <p:sldId id="348" r:id="rId20"/>
    <p:sldId id="349" r:id="rId21"/>
    <p:sldId id="351" r:id="rId22"/>
    <p:sldId id="352" r:id="rId23"/>
    <p:sldId id="356" r:id="rId24"/>
    <p:sldId id="381" r:id="rId25"/>
    <p:sldId id="357" r:id="rId26"/>
    <p:sldId id="362" r:id="rId27"/>
    <p:sldId id="363" r:id="rId28"/>
    <p:sldId id="364" r:id="rId29"/>
    <p:sldId id="365" r:id="rId30"/>
    <p:sldId id="366" r:id="rId31"/>
    <p:sldId id="367" r:id="rId32"/>
    <p:sldId id="369" r:id="rId33"/>
    <p:sldId id="370" r:id="rId34"/>
    <p:sldId id="371" r:id="rId35"/>
    <p:sldId id="372" r:id="rId36"/>
    <p:sldId id="373" r:id="rId37"/>
    <p:sldId id="374" r:id="rId38"/>
    <p:sldId id="382" r:id="rId39"/>
    <p:sldId id="358" r:id="rId40"/>
    <p:sldId id="359" r:id="rId41"/>
    <p:sldId id="360" r:id="rId42"/>
    <p:sldId id="361" r:id="rId43"/>
    <p:sldId id="375" r:id="rId44"/>
    <p:sldId id="376" r:id="rId45"/>
    <p:sldId id="377" r:id="rId46"/>
    <p:sldId id="383" r:id="rId47"/>
    <p:sldId id="378" r:id="rId48"/>
    <p:sldId id="380" r:id="rId49"/>
    <p:sldId id="379" r:id="rId50"/>
    <p:sldId id="355" r:id="rId5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D7D5"/>
    <a:srgbClr val="E8EAE2"/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0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EF05C-4C82-4749-BE1E-71411ACBC6AE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43AC4-46C3-4EB1-B84B-2703E8FAF7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827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AB905-7933-4A61-96BB-B4DB8C6F141C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79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  <a:lvl2pPr>
              <a:defRPr>
                <a:latin typeface="Century Gothic" panose="020B0502020202020204" pitchFamily="34" charset="0"/>
              </a:defRPr>
            </a:lvl2pPr>
            <a:lvl3pPr>
              <a:defRPr>
                <a:latin typeface="Century Gothic" panose="020B0502020202020204" pitchFamily="34" charset="0"/>
              </a:defRPr>
            </a:lvl3pPr>
            <a:lvl4pPr>
              <a:defRPr>
                <a:latin typeface="Century Gothic" panose="020B0502020202020204" pitchFamily="34" charset="0"/>
              </a:defRPr>
            </a:lvl4pPr>
            <a:lvl5pPr>
              <a:defRPr>
                <a:latin typeface="Century Gothic" panose="020B0502020202020204" pitchFamily="34" charset="0"/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E597CFE6-086F-4466-B917-61FE807FD400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fld id="{6697765D-F622-4BC4-AC55-80A3CC4A834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766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75430-8AF8-4873-AE45-E3DF7E010459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14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15DBE-BEC2-4A77-8E9E-9B652885393B}" type="datetime1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831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D7AE6-5E81-4158-8ED5-C0018C810B41}" type="datetime1">
              <a:rPr lang="fr-FR" smtClean="0"/>
              <a:t>07/04/2026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577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ECE3-A10A-43FD-915F-AFC239D005CC}" type="datetime1">
              <a:rPr lang="fr-FR" smtClean="0"/>
              <a:t>07/04/2026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91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F6269-7736-4C18-829D-3E1E4B12473A}" type="datetime1">
              <a:rPr lang="fr-FR" smtClean="0"/>
              <a:t>07/04/2026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084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AD2B5-16C3-424F-A9D0-5F545E4549BE}" type="datetime1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68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05DAD-40D5-461B-896D-6FFA56F2A2D3}" type="datetime1">
              <a:rPr lang="fr-FR" smtClean="0"/>
              <a:t>07/04/2026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021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5A1E6-89C7-4BB4-B27D-89BDA0161999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7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90B9A-6E24-4A38-91E5-B306B4C22B54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3497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3F4DC-8D94-4F6C-A93D-7650930DBE07}" type="datetime1">
              <a:rPr lang="fr-FR" smtClean="0"/>
              <a:t>07/04/2026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7765D-F622-4BC4-AC55-80A3CC4A83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126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/>
          <p:cNvSpPr>
            <a:spLocks noGrp="1"/>
          </p:cNvSpPr>
          <p:nvPr>
            <p:ph type="ctrTitle"/>
          </p:nvPr>
        </p:nvSpPr>
        <p:spPr>
          <a:xfrm>
            <a:off x="127840" y="2590799"/>
            <a:ext cx="8387510" cy="154193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Abadi ExtraLight" panose="020B0204020104020204" pitchFamily="34" charset="0"/>
              </a:rPr>
              <a:t>Introduction </a:t>
            </a:r>
            <a:br>
              <a:rPr lang="fr-FR" sz="3600" dirty="0">
                <a:latin typeface="Abadi ExtraLight" panose="020B0204020104020204" pitchFamily="34" charset="0"/>
              </a:rPr>
            </a:br>
            <a:r>
              <a:rPr lang="fr-FR" sz="3600" dirty="0">
                <a:latin typeface="Abadi ExtraLight" panose="020B0204020104020204" pitchFamily="34" charset="0"/>
              </a:rPr>
              <a:t>aux modèles de régression </a:t>
            </a:r>
            <a:br>
              <a:rPr lang="fr-FR" sz="3600" dirty="0">
                <a:latin typeface="Abadi ExtraLight" panose="020B0204020104020204" pitchFamily="34" charset="0"/>
              </a:rPr>
            </a:br>
            <a:r>
              <a:rPr lang="fr-FR" sz="3600" dirty="0">
                <a:latin typeface="Abadi ExtraLight" panose="020B0204020104020204" pitchFamily="34" charset="0"/>
              </a:rPr>
              <a:t>en cadre bayésien</a:t>
            </a:r>
            <a:endParaRPr lang="fr-FR" sz="4800" dirty="0">
              <a:latin typeface="Abadi ExtraLight" panose="020B0204020104020204" pitchFamily="34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E46610-9265-49DA-9591-C93E8917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t>1</a:t>
            </a:fld>
            <a:endParaRPr lang="fr-FR"/>
          </a:p>
        </p:txBody>
      </p:sp>
      <p:pic>
        <p:nvPicPr>
          <p:cNvPr id="4" name="Image 3" descr="Une image contenant texte, habits, eau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2DBBF5F-0470-8B7A-7371-A4D93DBBFE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285" y="-103244"/>
            <a:ext cx="9282494" cy="2694043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F64E1141-7356-4149-70A0-7982FBA3BE31}"/>
              </a:ext>
            </a:extLst>
          </p:cNvPr>
          <p:cNvSpPr txBox="1">
            <a:spLocks/>
          </p:cNvSpPr>
          <p:nvPr/>
        </p:nvSpPr>
        <p:spPr>
          <a:xfrm>
            <a:off x="-1" y="5284842"/>
            <a:ext cx="9282493" cy="15419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fr-FR" sz="2400" dirty="0">
                <a:latin typeface="Abadi ExtraLight" panose="020B0204020104020204" pitchFamily="34" charset="0"/>
              </a:rPr>
              <a:t>Version 2026</a:t>
            </a:r>
          </a:p>
          <a:p>
            <a:pPr algn="l"/>
            <a:r>
              <a:rPr lang="fr-FR" sz="2400" dirty="0">
                <a:latin typeface="Abadi ExtraLight" panose="020B0204020104020204" pitchFamily="34" charset="0"/>
              </a:rPr>
              <a:t>Jean-Yves Barnagaud – jean-yves.barnagaud@ephe.psl.eu</a:t>
            </a:r>
          </a:p>
        </p:txBody>
      </p:sp>
    </p:spTree>
    <p:extLst>
      <p:ext uri="{BB962C8B-B14F-4D97-AF65-F5344CB8AC3E}">
        <p14:creationId xmlns:p14="http://schemas.microsoft.com/office/powerpoint/2010/main" val="348375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9685FF-BB6A-8E8D-05C4-42C57F1DD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B19AF5-75E9-4B22-89CD-DDEB2572D276}"/>
              </a:ext>
            </a:extLst>
          </p:cNvPr>
          <p:cNvSpPr txBox="1"/>
          <p:nvPr/>
        </p:nvSpPr>
        <p:spPr>
          <a:xfrm>
            <a:off x="220757" y="88899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Objectifs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28D9D84-CABA-D0F9-BC53-8430287589A8}"/>
              </a:ext>
            </a:extLst>
          </p:cNvPr>
          <p:cNvSpPr txBox="1"/>
          <p:nvPr/>
        </p:nvSpPr>
        <p:spPr>
          <a:xfrm>
            <a:off x="546847" y="1487393"/>
            <a:ext cx="780825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Comprendre le principe de l’inférence bayésienne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Connaître les principaux outils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Savoir interpréter un modèle de régression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fr-F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2800" dirty="0"/>
              <a:t>Construire un modèle bayésien simple</a:t>
            </a:r>
          </a:p>
        </p:txBody>
      </p:sp>
    </p:spTree>
    <p:extLst>
      <p:ext uri="{BB962C8B-B14F-4D97-AF65-F5344CB8AC3E}">
        <p14:creationId xmlns:p14="http://schemas.microsoft.com/office/powerpoint/2010/main" val="1686827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538B45B-350C-D009-20DC-4E434C6F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</a:t>
            </a:fld>
            <a:endParaRPr lang="fr-FR"/>
          </a:p>
        </p:txBody>
      </p:sp>
      <p:pic>
        <p:nvPicPr>
          <p:cNvPr id="6" name="Image 5" descr="Une image contenant texte, mammifère, loutre, plein air&#10;&#10;Le contenu généré par l’IA peut être incorrect.">
            <a:extLst>
              <a:ext uri="{FF2B5EF4-FFF2-40B4-BE49-F238E27FC236}">
                <a16:creationId xmlns:a16="http://schemas.microsoft.com/office/drawing/2014/main" id="{1B7E3F6B-C336-3F62-8580-65E686EFC8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39" y="94129"/>
            <a:ext cx="4722177" cy="6669741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746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130F2-629B-D70D-EF84-AD2AE2BBE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253FAC-7ADB-1CAD-D722-FB54E2224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31D70A6-070B-E1DD-72B4-4C6A1E5AB0F5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Quelques rappels importants</a:t>
            </a:r>
          </a:p>
        </p:txBody>
      </p:sp>
    </p:spTree>
    <p:extLst>
      <p:ext uri="{BB962C8B-B14F-4D97-AF65-F5344CB8AC3E}">
        <p14:creationId xmlns:p14="http://schemas.microsoft.com/office/powerpoint/2010/main" val="351208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BB0776-C91F-B687-40DD-3AC3A4E5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1D068B2-EF3F-9317-D11D-9B8FAEE517B1}"/>
              </a:ext>
            </a:extLst>
          </p:cNvPr>
          <p:cNvSpPr txBox="1"/>
          <p:nvPr/>
        </p:nvSpPr>
        <p:spPr>
          <a:xfrm>
            <a:off x="233082" y="4593200"/>
            <a:ext cx="6822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jeu. Quelle est la probabilité d’avoir tiré le héron?</a:t>
            </a: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F6B15A1A-C8C8-3821-B274-87B9F7BCA6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3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8BD7-0662-AF63-A0BD-EBD4EC807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24C94A-584B-A1F6-7971-52286D9E1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C15EA87-A33E-A352-4CD9-9B31F61150B9}"/>
              </a:ext>
            </a:extLst>
          </p:cNvPr>
          <p:cNvSpPr txBox="1"/>
          <p:nvPr/>
        </p:nvSpPr>
        <p:spPr>
          <a:xfrm>
            <a:off x="233082" y="4593200"/>
            <a:ext cx="6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jeu. Quelle est la probabilité d’avoir tiré le héron?</a:t>
            </a:r>
          </a:p>
          <a:p>
            <a:r>
              <a:rPr lang="fr-FR" b="1" dirty="0">
                <a:latin typeface="Abadi ExtraLight" panose="020B0204020104020204" pitchFamily="34" charset="0"/>
              </a:rPr>
              <a:t>1/8</a:t>
            </a: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CF35F069-9253-5E05-4B13-7030A10150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5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1B89-E959-9113-8DF2-0E71BDA6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BDC9A6-7D90-10C2-8BC2-3380D49D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45C3CC-8D1E-565D-4A16-5A85F75FD91F}"/>
              </a:ext>
            </a:extLst>
          </p:cNvPr>
          <p:cNvSpPr txBox="1"/>
          <p:nvPr/>
        </p:nvSpPr>
        <p:spPr>
          <a:xfrm>
            <a:off x="233082" y="4593200"/>
            <a:ext cx="6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 et vous dis que j’ai tiré un gros oiseau. Quelle est la probabilité que ce soit le héron? </a:t>
            </a:r>
            <a:endParaRPr lang="fr-FR" b="1" dirty="0">
              <a:latin typeface="Abadi ExtraLight" panose="020B0204020104020204" pitchFamily="34" charset="0"/>
            </a:endParaRP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8D465C8E-4E64-B844-0039-F2442ECB62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171A552E-E3C1-B3C3-6924-44EB607C65A0}"/>
              </a:ext>
            </a:extLst>
          </p:cNvPr>
          <p:cNvSpPr/>
          <p:nvPr/>
        </p:nvSpPr>
        <p:spPr>
          <a:xfrm>
            <a:off x="726141" y="21010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EA50FB4B-FAEB-EA9E-6CBA-BBC01320BD7F}"/>
              </a:ext>
            </a:extLst>
          </p:cNvPr>
          <p:cNvSpPr/>
          <p:nvPr/>
        </p:nvSpPr>
        <p:spPr>
          <a:xfrm>
            <a:off x="5056094" y="22803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5448178D-52A4-C3FC-4A19-A56A725080E1}"/>
              </a:ext>
            </a:extLst>
          </p:cNvPr>
          <p:cNvSpPr/>
          <p:nvPr/>
        </p:nvSpPr>
        <p:spPr>
          <a:xfrm>
            <a:off x="5011271" y="2301404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2C2B274C-0B28-DDE7-F038-A6FE2270D8C2}"/>
              </a:ext>
            </a:extLst>
          </p:cNvPr>
          <p:cNvSpPr/>
          <p:nvPr/>
        </p:nvSpPr>
        <p:spPr>
          <a:xfrm>
            <a:off x="708212" y="2211757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2616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D9B4-573C-69EE-EAED-471AF931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59EF6C-91CB-00A9-1578-51839347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892BD7-D326-73A0-B712-11FA63282ABC}"/>
              </a:ext>
            </a:extLst>
          </p:cNvPr>
          <p:cNvSpPr txBox="1"/>
          <p:nvPr/>
        </p:nvSpPr>
        <p:spPr>
          <a:xfrm>
            <a:off x="233082" y="4593200"/>
            <a:ext cx="6822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 et vous dis que j’ai tiré un gros oiseau. Quelle est la probabilité que ce soit le héron?</a:t>
            </a:r>
          </a:p>
          <a:p>
            <a:r>
              <a:rPr lang="fr-FR" b="1" dirty="0">
                <a:latin typeface="Abadi ExtraLight" panose="020B0204020104020204" pitchFamily="34" charset="0"/>
              </a:rPr>
              <a:t>1/4</a:t>
            </a:r>
            <a:r>
              <a:rPr lang="fr-FR" dirty="0">
                <a:latin typeface="Abadi ExtraLight" panose="020B0204020104020204" pitchFamily="34" charset="0"/>
              </a:rPr>
              <a:t> </a:t>
            </a:r>
            <a:endParaRPr lang="fr-FR" b="1" dirty="0">
              <a:latin typeface="Abadi ExtraLight" panose="020B0204020104020204" pitchFamily="34" charset="0"/>
            </a:endParaRP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B2EEEF00-7586-A14E-1003-3B0BB41004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6EF64BDC-92ED-D3EC-D662-228B8CAB290A}"/>
              </a:ext>
            </a:extLst>
          </p:cNvPr>
          <p:cNvSpPr/>
          <p:nvPr/>
        </p:nvSpPr>
        <p:spPr>
          <a:xfrm>
            <a:off x="726141" y="21010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5308AB8D-34A7-6C44-ABED-EBEF1A4DB915}"/>
              </a:ext>
            </a:extLst>
          </p:cNvPr>
          <p:cNvSpPr/>
          <p:nvPr/>
        </p:nvSpPr>
        <p:spPr>
          <a:xfrm>
            <a:off x="5056094" y="22803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7E60C88-F08E-9B28-15CD-E4386CB8492B}"/>
              </a:ext>
            </a:extLst>
          </p:cNvPr>
          <p:cNvSpPr/>
          <p:nvPr/>
        </p:nvSpPr>
        <p:spPr>
          <a:xfrm>
            <a:off x="5011271" y="2301404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951C9110-E030-8CD5-3AD2-1EF911444EE4}"/>
              </a:ext>
            </a:extLst>
          </p:cNvPr>
          <p:cNvSpPr/>
          <p:nvPr/>
        </p:nvSpPr>
        <p:spPr>
          <a:xfrm>
            <a:off x="708212" y="2211757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093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CACE5-E475-7BE5-E2AD-266C76634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D1AC17-2548-3993-BE9D-714407411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4027E85-91A1-5099-0DC1-2B48AE189DD7}"/>
              </a:ext>
            </a:extLst>
          </p:cNvPr>
          <p:cNvSpPr txBox="1"/>
          <p:nvPr/>
        </p:nvSpPr>
        <p:spPr>
          <a:xfrm>
            <a:off x="233082" y="5161179"/>
            <a:ext cx="682214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 et vous dis que j’ai tiré un gros oiseau. Quelle est la probabilité que ce soit le héron?</a:t>
            </a:r>
          </a:p>
          <a:p>
            <a:r>
              <a:rPr lang="fr-FR" b="1" dirty="0">
                <a:latin typeface="Abadi ExtraLight" panose="020B0204020104020204" pitchFamily="34" charset="0"/>
              </a:rPr>
              <a:t>1/4</a:t>
            </a:r>
            <a:r>
              <a:rPr lang="fr-FR" dirty="0">
                <a:latin typeface="Abadi ExtraLight" panose="020B0204020104020204" pitchFamily="34" charset="0"/>
              </a:rPr>
              <a:t> </a:t>
            </a:r>
          </a:p>
          <a:p>
            <a:endParaRPr lang="fr-FR" b="1" dirty="0">
              <a:latin typeface="Abadi ExtraLight" panose="020B0204020104020204" pitchFamily="34" charset="0"/>
            </a:endParaRPr>
          </a:p>
          <a:p>
            <a:r>
              <a:rPr lang="fr-FR" sz="2000" b="1" dirty="0">
                <a:latin typeface="Abadi ExtraLight" panose="020B0204020104020204" pitchFamily="34" charset="0"/>
              </a:rPr>
              <a:t>En ajoutant une information, j’ai changé mon estimation. </a:t>
            </a: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FF754830-B37B-9CFA-0B24-C68A6663E6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42AA6B7E-D00E-5646-FF19-316AFF1728BA}"/>
              </a:ext>
            </a:extLst>
          </p:cNvPr>
          <p:cNvSpPr/>
          <p:nvPr/>
        </p:nvSpPr>
        <p:spPr>
          <a:xfrm>
            <a:off x="726141" y="21010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1547521F-10DE-456B-C642-8F0345F58892}"/>
              </a:ext>
            </a:extLst>
          </p:cNvPr>
          <p:cNvSpPr/>
          <p:nvPr/>
        </p:nvSpPr>
        <p:spPr>
          <a:xfrm>
            <a:off x="5056094" y="22803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E203ACD9-F10C-F93D-798C-34EF4278694C}"/>
              </a:ext>
            </a:extLst>
          </p:cNvPr>
          <p:cNvSpPr/>
          <p:nvPr/>
        </p:nvSpPr>
        <p:spPr>
          <a:xfrm>
            <a:off x="5011271" y="2301404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B7E819F0-2EF5-FB9F-0B0D-4669EBEF4435}"/>
              </a:ext>
            </a:extLst>
          </p:cNvPr>
          <p:cNvSpPr/>
          <p:nvPr/>
        </p:nvSpPr>
        <p:spPr>
          <a:xfrm>
            <a:off x="708212" y="2211757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AD9CB42-FD61-92EA-0FD7-6CF8421EB71B}"/>
              </a:ext>
            </a:extLst>
          </p:cNvPr>
          <p:cNvSpPr txBox="1"/>
          <p:nvPr/>
        </p:nvSpPr>
        <p:spPr>
          <a:xfrm>
            <a:off x="233082" y="4593200"/>
            <a:ext cx="6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Je tire une carte dans ce jeu. Quelle est la probabilité d’avoir tiré le héron?</a:t>
            </a:r>
          </a:p>
          <a:p>
            <a:r>
              <a:rPr lang="fr-FR" b="1" dirty="0">
                <a:latin typeface="Abadi ExtraLight" panose="020B0204020104020204" pitchFamily="34" charset="0"/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179606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0F51F-AFBE-5CA4-AB50-EA4B5CA86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B27573-330F-923D-7F72-02ED541B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C60455-58EF-0765-742D-D6D10611A50C}"/>
              </a:ext>
            </a:extLst>
          </p:cNvPr>
          <p:cNvSpPr txBox="1"/>
          <p:nvPr/>
        </p:nvSpPr>
        <p:spPr>
          <a:xfrm>
            <a:off x="0" y="5128559"/>
            <a:ext cx="9260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P(héron | gros oiseau) = </a:t>
            </a:r>
            <a:r>
              <a:rPr lang="fr-FR" b="1" dirty="0">
                <a:latin typeface="Abadi ExtraLight" panose="020B0204020104020204" pitchFamily="34" charset="0"/>
              </a:rPr>
              <a:t>1/4</a:t>
            </a:r>
            <a:r>
              <a:rPr lang="fr-FR" dirty="0">
                <a:latin typeface="Abadi ExtraLight" panose="020B0204020104020204" pitchFamily="34" charset="0"/>
              </a:rPr>
              <a:t> </a:t>
            </a:r>
            <a:r>
              <a:rPr lang="fr-FR" i="1" dirty="0">
                <a:solidFill>
                  <a:srgbClr val="C00000"/>
                </a:solidFill>
                <a:latin typeface="Abadi ExtraLight" panose="020B0204020104020204" pitchFamily="34" charset="0"/>
              </a:rPr>
              <a:t>probabilité conditionnelle </a:t>
            </a:r>
            <a:r>
              <a:rPr lang="fr-FR" i="1" dirty="0">
                <a:latin typeface="Abadi ExtraLight" panose="020B0204020104020204" pitchFamily="34" charset="0"/>
              </a:rPr>
              <a:t>du héron sachant que j’ai tiré un gros oiseau</a:t>
            </a:r>
            <a:endParaRPr lang="fr-FR" dirty="0">
              <a:latin typeface="Abadi ExtraLight" panose="020B0204020104020204" pitchFamily="34" charset="0"/>
            </a:endParaRPr>
          </a:p>
        </p:txBody>
      </p:sp>
      <p:pic>
        <p:nvPicPr>
          <p:cNvPr id="8" name="Image 7" descr="Une image contenant perroquet, bec, oiseau&#10;&#10;Le contenu généré par l’IA peut être incorrect.">
            <a:extLst>
              <a:ext uri="{FF2B5EF4-FFF2-40B4-BE49-F238E27FC236}">
                <a16:creationId xmlns:a16="http://schemas.microsoft.com/office/drawing/2014/main" id="{3CC8E0C8-5655-5F86-8842-0FF9CED1E5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26" t="8493" r="4020" b="12581"/>
          <a:stretch>
            <a:fillRect/>
          </a:stretch>
        </p:blipFill>
        <p:spPr>
          <a:xfrm>
            <a:off x="233082" y="210103"/>
            <a:ext cx="5742492" cy="4182603"/>
          </a:xfrm>
          <a:prstGeom prst="rect">
            <a:avLst/>
          </a:prstGeom>
        </p:spPr>
      </p:pic>
      <p:sp>
        <p:nvSpPr>
          <p:cNvPr id="9" name="Flèche : bas 8">
            <a:extLst>
              <a:ext uri="{FF2B5EF4-FFF2-40B4-BE49-F238E27FC236}">
                <a16:creationId xmlns:a16="http://schemas.microsoft.com/office/drawing/2014/main" id="{61EC8C47-1CA7-E20A-ED58-0AEC172017F8}"/>
              </a:ext>
            </a:extLst>
          </p:cNvPr>
          <p:cNvSpPr/>
          <p:nvPr/>
        </p:nvSpPr>
        <p:spPr>
          <a:xfrm>
            <a:off x="726141" y="21010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èche : bas 9">
            <a:extLst>
              <a:ext uri="{FF2B5EF4-FFF2-40B4-BE49-F238E27FC236}">
                <a16:creationId xmlns:a16="http://schemas.microsoft.com/office/drawing/2014/main" id="{190BCF43-E20B-10E5-07B0-2D58DE6F03E6}"/>
              </a:ext>
            </a:extLst>
          </p:cNvPr>
          <p:cNvSpPr/>
          <p:nvPr/>
        </p:nvSpPr>
        <p:spPr>
          <a:xfrm>
            <a:off x="5056094" y="228033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FCA0BE1D-1E23-5EAE-4D63-8E3F3A89F511}"/>
              </a:ext>
            </a:extLst>
          </p:cNvPr>
          <p:cNvSpPr/>
          <p:nvPr/>
        </p:nvSpPr>
        <p:spPr>
          <a:xfrm>
            <a:off x="5011271" y="2301404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FB04E9D3-2D79-CEB7-FA45-822D4FD67294}"/>
              </a:ext>
            </a:extLst>
          </p:cNvPr>
          <p:cNvSpPr/>
          <p:nvPr/>
        </p:nvSpPr>
        <p:spPr>
          <a:xfrm>
            <a:off x="708212" y="2211757"/>
            <a:ext cx="251012" cy="381568"/>
          </a:xfrm>
          <a:prstGeom prst="downArrow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C34B5D4-6FBB-DD11-3C5C-50D9ABE8DA0A}"/>
              </a:ext>
            </a:extLst>
          </p:cNvPr>
          <p:cNvSpPr txBox="1"/>
          <p:nvPr/>
        </p:nvSpPr>
        <p:spPr>
          <a:xfrm>
            <a:off x="0" y="4505310"/>
            <a:ext cx="682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badi ExtraLight" panose="020B0204020104020204" pitchFamily="34" charset="0"/>
              </a:rPr>
              <a:t>P(héron)= </a:t>
            </a:r>
            <a:r>
              <a:rPr lang="fr-FR" b="1" dirty="0">
                <a:latin typeface="Abadi ExtraLight" panose="020B0204020104020204" pitchFamily="34" charset="0"/>
              </a:rPr>
              <a:t>1/8 </a:t>
            </a:r>
            <a:r>
              <a:rPr lang="fr-FR" i="1" dirty="0">
                <a:solidFill>
                  <a:srgbClr val="C00000"/>
                </a:solidFill>
                <a:latin typeface="Abadi ExtraLight" panose="020B0204020104020204" pitchFamily="34" charset="0"/>
              </a:rPr>
              <a:t>probabilité marginale </a:t>
            </a:r>
            <a:r>
              <a:rPr lang="fr-FR" i="1" dirty="0">
                <a:latin typeface="Abadi ExtraLight" panose="020B0204020104020204" pitchFamily="34" charset="0"/>
              </a:rPr>
              <a:t>du héron</a:t>
            </a:r>
          </a:p>
          <a:p>
            <a:r>
              <a:rPr lang="fr-FR" dirty="0">
                <a:latin typeface="Abadi ExtraLight" panose="020B0204020104020204" pitchFamily="34" charset="0"/>
              </a:rPr>
              <a:t>P(gros oiseau)= </a:t>
            </a:r>
            <a:r>
              <a:rPr lang="fr-FR" b="1" dirty="0">
                <a:latin typeface="Abadi ExtraLight" panose="020B0204020104020204" pitchFamily="34" charset="0"/>
              </a:rPr>
              <a:t>1/2 </a:t>
            </a:r>
            <a:r>
              <a:rPr lang="fr-FR" i="1" dirty="0">
                <a:solidFill>
                  <a:srgbClr val="C00000"/>
                </a:solidFill>
                <a:latin typeface="Abadi ExtraLight" panose="020B0204020104020204" pitchFamily="34" charset="0"/>
              </a:rPr>
              <a:t>probabilité marginale </a:t>
            </a:r>
            <a:r>
              <a:rPr lang="fr-FR" i="1" dirty="0">
                <a:latin typeface="Abadi ExtraLight" panose="020B0204020104020204" pitchFamily="34" charset="0"/>
              </a:rPr>
              <a:t>des gros oiseaux</a:t>
            </a:r>
          </a:p>
        </p:txBody>
      </p:sp>
    </p:spTree>
    <p:extLst>
      <p:ext uri="{BB962C8B-B14F-4D97-AF65-F5344CB8AC3E}">
        <p14:creationId xmlns:p14="http://schemas.microsoft.com/office/powerpoint/2010/main" val="193582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5BCDC-BF3F-4202-AFDA-67224D54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54DEF4-5F18-4C1A-2D4D-7F94C6C0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21F46D7-8E3D-3C44-BBAD-DBDEDDC7A9A6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L’idée de la méthode bayésienne</a:t>
            </a:r>
          </a:p>
        </p:txBody>
      </p:sp>
    </p:spTree>
    <p:extLst>
      <p:ext uri="{BB962C8B-B14F-4D97-AF65-F5344CB8AC3E}">
        <p14:creationId xmlns:p14="http://schemas.microsoft.com/office/powerpoint/2010/main" val="1890313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19BF7-7525-4B38-0F41-B97192085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6563A37-22BB-280B-890A-1150237F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7CE422-5F10-B168-9C28-26B85A2CFC89}"/>
              </a:ext>
            </a:extLst>
          </p:cNvPr>
          <p:cNvSpPr txBox="1"/>
          <p:nvPr/>
        </p:nvSpPr>
        <p:spPr>
          <a:xfrm>
            <a:off x="277907" y="1074419"/>
            <a:ext cx="4043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J’ai observé ces critères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Écorce lisse </a:t>
            </a:r>
          </a:p>
          <a:p>
            <a:pPr marL="285750" indent="-285750">
              <a:buFontTx/>
              <a:buChar char="-"/>
            </a:pPr>
            <a:r>
              <a:rPr lang="fr-FR" dirty="0"/>
              <a:t>Feuilles simples, lisses</a:t>
            </a:r>
          </a:p>
          <a:p>
            <a:pPr marL="285750" indent="-285750">
              <a:buFontTx/>
              <a:buChar char="-"/>
            </a:pPr>
            <a:r>
              <a:rPr lang="fr-FR" dirty="0"/>
              <a:t>Branches perpendiculaires au tronc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  <p:pic>
        <p:nvPicPr>
          <p:cNvPr id="8" name="Image 7" descr="Une image contenant plante, plein air, arbre, trompe&#10;&#10;Le contenu généré par l’IA peut être incorrect.">
            <a:extLst>
              <a:ext uri="{FF2B5EF4-FFF2-40B4-BE49-F238E27FC236}">
                <a16:creationId xmlns:a16="http://schemas.microsoft.com/office/drawing/2014/main" id="{E4B8BC43-B210-1897-E8BB-0D233E1F9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798" y="321190"/>
            <a:ext cx="2606303" cy="1696491"/>
          </a:xfrm>
          <a:prstGeom prst="rect">
            <a:avLst/>
          </a:prstGeom>
        </p:spPr>
      </p:pic>
      <p:pic>
        <p:nvPicPr>
          <p:cNvPr id="10" name="Image 9" descr="Une image contenant texte, arbre, plante, livre&#10;&#10;Le contenu généré par l’IA peut être incorrect.">
            <a:extLst>
              <a:ext uri="{FF2B5EF4-FFF2-40B4-BE49-F238E27FC236}">
                <a16:creationId xmlns:a16="http://schemas.microsoft.com/office/drawing/2014/main" id="{E0A1BB21-35B0-4A01-6B11-1C89A2A45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726" y="2382435"/>
            <a:ext cx="2512624" cy="333384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A6D0D2D4-9EA7-EF8A-3766-53EDBEC98703}"/>
              </a:ext>
            </a:extLst>
          </p:cNvPr>
          <p:cNvSpPr txBox="1"/>
          <p:nvPr/>
        </p:nvSpPr>
        <p:spPr>
          <a:xfrm>
            <a:off x="277907" y="3310692"/>
            <a:ext cx="4043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Je pense que c’est un hêtre</a:t>
            </a:r>
          </a:p>
          <a:p>
            <a:r>
              <a:rPr lang="fr-FR" dirty="0"/>
              <a:t>Je connais les chances qu’un hêtre présente une écorce lisse, des feuilles simples et lisses, des branches perpendiculaires au tronc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71ECE81-5542-3FD7-42F7-02A1C9847C9E}"/>
              </a:ext>
            </a:extLst>
          </p:cNvPr>
          <p:cNvSpPr txBox="1"/>
          <p:nvPr/>
        </p:nvSpPr>
        <p:spPr>
          <a:xfrm>
            <a:off x="277907" y="136524"/>
            <a:ext cx="404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Problème : un arbre à identifier 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02780C9F-B6C6-FEB1-50EB-73BC08C7D090}"/>
              </a:ext>
            </a:extLst>
          </p:cNvPr>
          <p:cNvSpPr/>
          <p:nvPr/>
        </p:nvSpPr>
        <p:spPr>
          <a:xfrm>
            <a:off x="1730188" y="532751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08B380B6-E279-A0E9-47C2-0A321EBFCC71}"/>
              </a:ext>
            </a:extLst>
          </p:cNvPr>
          <p:cNvSpPr/>
          <p:nvPr/>
        </p:nvSpPr>
        <p:spPr>
          <a:xfrm>
            <a:off x="1730187" y="2572209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04F7EC97-4A1A-1BCF-03C0-4F9777D4D6F8}"/>
              </a:ext>
            </a:extLst>
          </p:cNvPr>
          <p:cNvSpPr/>
          <p:nvPr/>
        </p:nvSpPr>
        <p:spPr>
          <a:xfrm>
            <a:off x="1730186" y="4941197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70411F1-9265-C5B7-DA08-EA929A9EA0F8}"/>
              </a:ext>
            </a:extLst>
          </p:cNvPr>
          <p:cNvSpPr txBox="1"/>
          <p:nvPr/>
        </p:nvSpPr>
        <p:spPr>
          <a:xfrm>
            <a:off x="183774" y="5678918"/>
            <a:ext cx="4043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Vu ce que j’ai observé et ce que je sais sur les hêtres, quelles sont mes chances d’avoir raison en disant que cet arbre est un hêtre?</a:t>
            </a:r>
          </a:p>
        </p:txBody>
      </p:sp>
    </p:spTree>
    <p:extLst>
      <p:ext uri="{BB962C8B-B14F-4D97-AF65-F5344CB8AC3E}">
        <p14:creationId xmlns:p14="http://schemas.microsoft.com/office/powerpoint/2010/main" val="4085415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58E8-0AAD-B130-CFE0-F7805701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8F3CCC-FF66-4D63-EA4D-A49B02A7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D646C6-44A0-AA3B-85E3-E8AFD5959FAB}"/>
              </a:ext>
            </a:extLst>
          </p:cNvPr>
          <p:cNvSpPr txBox="1"/>
          <p:nvPr/>
        </p:nvSpPr>
        <p:spPr>
          <a:xfrm>
            <a:off x="277907" y="1074419"/>
            <a:ext cx="4043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J’ai observé ces critères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Écorce lisse </a:t>
            </a:r>
          </a:p>
          <a:p>
            <a:pPr marL="285750" indent="-285750">
              <a:buFontTx/>
              <a:buChar char="-"/>
            </a:pPr>
            <a:r>
              <a:rPr lang="fr-FR" dirty="0"/>
              <a:t>Feuilles simples, lisses</a:t>
            </a:r>
          </a:p>
          <a:p>
            <a:pPr marL="285750" indent="-285750">
              <a:buFontTx/>
              <a:buChar char="-"/>
            </a:pPr>
            <a:r>
              <a:rPr lang="fr-FR" dirty="0"/>
              <a:t>Branches perpendiculaires au tronc</a:t>
            </a:r>
          </a:p>
          <a:p>
            <a:pPr marL="285750" indent="-285750">
              <a:buFontTx/>
              <a:buChar char="-"/>
            </a:pPr>
            <a:r>
              <a:rPr lang="fr-FR" dirty="0"/>
              <a:t>…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79E953-330B-3ADF-B15B-18681FE93092}"/>
              </a:ext>
            </a:extLst>
          </p:cNvPr>
          <p:cNvSpPr txBox="1"/>
          <p:nvPr/>
        </p:nvSpPr>
        <p:spPr>
          <a:xfrm>
            <a:off x="277907" y="3310692"/>
            <a:ext cx="40430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Je pense que c’est un hêtre</a:t>
            </a:r>
          </a:p>
          <a:p>
            <a:r>
              <a:rPr lang="fr-FR" dirty="0"/>
              <a:t>Je connais les chances qu’un hêtre présente une écorce lisse, des feuilles simples et lisses, des branches perpendiculaires au tronc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4C0A6F8-DE1D-F55E-04FC-587E8CF0E4BC}"/>
              </a:ext>
            </a:extLst>
          </p:cNvPr>
          <p:cNvSpPr txBox="1"/>
          <p:nvPr/>
        </p:nvSpPr>
        <p:spPr>
          <a:xfrm>
            <a:off x="277907" y="136524"/>
            <a:ext cx="404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Problème : un arbre à identifier 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7FFEE85F-F388-6302-1A35-2CE06D5A894E}"/>
              </a:ext>
            </a:extLst>
          </p:cNvPr>
          <p:cNvSpPr/>
          <p:nvPr/>
        </p:nvSpPr>
        <p:spPr>
          <a:xfrm>
            <a:off x="1730188" y="532751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A6710DC3-35D4-446B-C045-4303C2F2ABA7}"/>
              </a:ext>
            </a:extLst>
          </p:cNvPr>
          <p:cNvSpPr/>
          <p:nvPr/>
        </p:nvSpPr>
        <p:spPr>
          <a:xfrm>
            <a:off x="1730187" y="2572209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A2C886DF-6E2A-7B7F-C825-08D170F18019}"/>
              </a:ext>
            </a:extLst>
          </p:cNvPr>
          <p:cNvSpPr/>
          <p:nvPr/>
        </p:nvSpPr>
        <p:spPr>
          <a:xfrm>
            <a:off x="1730186" y="4941197"/>
            <a:ext cx="950259" cy="605768"/>
          </a:xfrm>
          <a:prstGeom prst="down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9EA8641-3BAE-3EA0-D9B9-838E05B9BC5A}"/>
              </a:ext>
            </a:extLst>
          </p:cNvPr>
          <p:cNvSpPr txBox="1"/>
          <p:nvPr/>
        </p:nvSpPr>
        <p:spPr>
          <a:xfrm>
            <a:off x="183774" y="5678918"/>
            <a:ext cx="40430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Vu ce que j’ai observé et ce que je sais sur les hêtres, quelles sont mes chances d’avoir raison en disant que cet arbre est un hêtre?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3CE78CF-894D-E9FB-BEF0-D9066BC2B4AA}"/>
              </a:ext>
            </a:extLst>
          </p:cNvPr>
          <p:cNvSpPr txBox="1"/>
          <p:nvPr/>
        </p:nvSpPr>
        <p:spPr>
          <a:xfrm>
            <a:off x="4823011" y="3587691"/>
            <a:ext cx="4043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P(critères | hêtre)</a:t>
            </a:r>
          </a:p>
          <a:p>
            <a:r>
              <a:rPr lang="fr-FR" dirty="0"/>
              <a:t>Probabilité conditionnelle qu’un hêtre porte ces critères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5F7661-0258-61D5-E423-82DBDD295F21}"/>
              </a:ext>
            </a:extLst>
          </p:cNvPr>
          <p:cNvSpPr txBox="1"/>
          <p:nvPr/>
        </p:nvSpPr>
        <p:spPr>
          <a:xfrm>
            <a:off x="4823011" y="5678918"/>
            <a:ext cx="4043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P(hêtre | critères)</a:t>
            </a:r>
          </a:p>
          <a:p>
            <a:r>
              <a:rPr lang="fr-FR" dirty="0">
                <a:solidFill>
                  <a:srgbClr val="C00000"/>
                </a:solidFill>
              </a:rPr>
              <a:t>Probabilité conditionnelle que mes critères indiquent que j’ai observé un hêtre</a:t>
            </a:r>
          </a:p>
        </p:txBody>
      </p:sp>
    </p:spTree>
    <p:extLst>
      <p:ext uri="{BB962C8B-B14F-4D97-AF65-F5344CB8AC3E}">
        <p14:creationId xmlns:p14="http://schemas.microsoft.com/office/powerpoint/2010/main" val="3066798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A851-20EB-07F5-AB34-D536DDFB8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4EA740-42F2-6643-6DF7-1D7AA9096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AE9F3AD3-B1B0-620D-FB1E-9B9DAF4AA637}"/>
                  </a:ext>
                </a:extLst>
              </p:cNvPr>
              <p:cNvSpPr txBox="1"/>
              <p:nvPr/>
            </p:nvSpPr>
            <p:spPr>
              <a:xfrm>
                <a:off x="1785774" y="2825011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AE9F3AD3-B1B0-620D-FB1E-9B9DAF4AA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774" y="2825011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789EDBD9-4EBA-A30F-1466-73E8DC1DBF57}"/>
              </a:ext>
            </a:extLst>
          </p:cNvPr>
          <p:cNvSpPr txBox="1"/>
          <p:nvPr/>
        </p:nvSpPr>
        <p:spPr>
          <a:xfrm>
            <a:off x="4778189" y="1657600"/>
            <a:ext cx="4043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P(critères | hêtre)</a:t>
            </a:r>
          </a:p>
          <a:p>
            <a:r>
              <a:rPr lang="fr-FR" dirty="0"/>
              <a:t>Probabilité conditionnelle qu’un hêtre porte ces critères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7B9F7C6-F794-F229-E98E-33B19FE26920}"/>
              </a:ext>
            </a:extLst>
          </p:cNvPr>
          <p:cNvSpPr txBox="1"/>
          <p:nvPr/>
        </p:nvSpPr>
        <p:spPr>
          <a:xfrm>
            <a:off x="233083" y="1657600"/>
            <a:ext cx="40430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C00000"/>
                </a:solidFill>
              </a:rPr>
              <a:t>P(hêtre | critères)</a:t>
            </a:r>
          </a:p>
          <a:p>
            <a:r>
              <a:rPr lang="fr-FR" dirty="0">
                <a:solidFill>
                  <a:srgbClr val="C00000"/>
                </a:solidFill>
              </a:rPr>
              <a:t>Probabilité conditionnelle que mes critères indiquent que j’ai observé un hêtre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D327E644-CCD4-4D19-1E29-0CEA9592EC94}"/>
              </a:ext>
            </a:extLst>
          </p:cNvPr>
          <p:cNvSpPr txBox="1"/>
          <p:nvPr/>
        </p:nvSpPr>
        <p:spPr>
          <a:xfrm>
            <a:off x="2994212" y="401185"/>
            <a:ext cx="2563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Quel est le lien entre : 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17CF23B7-8AC8-B027-880C-0B19A79E1ED9}"/>
              </a:ext>
            </a:extLst>
          </p:cNvPr>
          <p:cNvCxnSpPr>
            <a:stCxn id="19" idx="2"/>
          </p:cNvCxnSpPr>
          <p:nvPr/>
        </p:nvCxnSpPr>
        <p:spPr>
          <a:xfrm flipH="1">
            <a:off x="1730188" y="770517"/>
            <a:ext cx="2545977" cy="753483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8B0D9CD8-2FE4-E3BD-712D-1C03DE02E5E2}"/>
              </a:ext>
            </a:extLst>
          </p:cNvPr>
          <p:cNvCxnSpPr>
            <a:cxnSpLocks/>
            <a:stCxn id="19" idx="2"/>
            <a:endCxn id="10" idx="0"/>
          </p:cNvCxnSpPr>
          <p:nvPr/>
        </p:nvCxnSpPr>
        <p:spPr>
          <a:xfrm>
            <a:off x="4276165" y="770517"/>
            <a:ext cx="2523565" cy="887083"/>
          </a:xfrm>
          <a:prstGeom prst="straightConnector1">
            <a:avLst/>
          </a:prstGeom>
          <a:ln>
            <a:solidFill>
              <a:schemeClr val="tx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62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CCBA-D7F0-B0F7-8A0D-4B12C8A2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73BD8B-DBC9-1A3C-5BA9-7207BFFB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B9FD386-17EE-4C83-A44A-8CCAB65BF790}"/>
                  </a:ext>
                </a:extLst>
              </p:cNvPr>
              <p:cNvSpPr txBox="1"/>
              <p:nvPr/>
            </p:nvSpPr>
            <p:spPr>
              <a:xfrm>
                <a:off x="268941" y="1595579"/>
                <a:ext cx="6304033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donn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donn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donn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7B9FD386-17EE-4C83-A44A-8CCAB65BF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41" y="1595579"/>
                <a:ext cx="6304033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ZoneTexte 18">
            <a:extLst>
              <a:ext uri="{FF2B5EF4-FFF2-40B4-BE49-F238E27FC236}">
                <a16:creationId xmlns:a16="http://schemas.microsoft.com/office/drawing/2014/main" id="{3C994F9A-4DF3-2BFC-22F6-F08929F9B400}"/>
              </a:ext>
            </a:extLst>
          </p:cNvPr>
          <p:cNvSpPr txBox="1"/>
          <p:nvPr/>
        </p:nvSpPr>
        <p:spPr>
          <a:xfrm>
            <a:off x="2187389" y="387282"/>
            <a:ext cx="397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On généralise : le théorème de Bayes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BBBAE5B-37E6-4544-5088-EEA22EE9C77A}"/>
              </a:ext>
            </a:extLst>
          </p:cNvPr>
          <p:cNvSpPr txBox="1"/>
          <p:nvPr/>
        </p:nvSpPr>
        <p:spPr>
          <a:xfrm>
            <a:off x="268941" y="3244334"/>
            <a:ext cx="80144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P(données | hypothèse): </a:t>
            </a:r>
            <a:r>
              <a:rPr lang="fr-FR" dirty="0"/>
              <a:t>vraisemblance</a:t>
            </a:r>
          </a:p>
          <a:p>
            <a:r>
              <a:rPr lang="fr-FR" b="1" dirty="0"/>
              <a:t>P(hypothèse): </a:t>
            </a:r>
            <a:r>
              <a:rPr lang="fr-FR" dirty="0" err="1"/>
              <a:t>prior</a:t>
            </a:r>
            <a:endParaRPr lang="fr-FR" dirty="0"/>
          </a:p>
          <a:p>
            <a:r>
              <a:rPr lang="fr-FR" b="1" dirty="0"/>
              <a:t>P(données): </a:t>
            </a:r>
            <a:r>
              <a:rPr lang="fr-FR" dirty="0"/>
              <a:t>vraisemblance inverse ou probabilité moyenne</a:t>
            </a:r>
          </a:p>
          <a:p>
            <a:r>
              <a:rPr lang="fr-FR" b="1" dirty="0"/>
              <a:t>P(</a:t>
            </a:r>
            <a:r>
              <a:rPr lang="fr-FR" b="1" dirty="0" err="1"/>
              <a:t>hypothèse|données</a:t>
            </a:r>
            <a:r>
              <a:rPr lang="fr-FR" b="1" dirty="0"/>
              <a:t>): </a:t>
            </a:r>
            <a:r>
              <a:rPr lang="fr-FR" dirty="0" err="1"/>
              <a:t>posterior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= On cherche à quel point une hypothèse est plausible à partir de données que nous avons collectées et de ce que nous savons d’avance sur l’hypothèse.</a:t>
            </a:r>
          </a:p>
        </p:txBody>
      </p:sp>
      <p:pic>
        <p:nvPicPr>
          <p:cNvPr id="2" name="Picture 2" descr="Image associée">
            <a:extLst>
              <a:ext uri="{FF2B5EF4-FFF2-40B4-BE49-F238E27FC236}">
                <a16:creationId xmlns:a16="http://schemas.microsoft.com/office/drawing/2014/main" id="{D3A7F7F4-BCD6-B8EB-A2DE-38B3A07DF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5373" y="571948"/>
            <a:ext cx="2418627" cy="2490532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040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D346-3F75-CB95-8645-CEF35D74D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251244-1B32-6B48-88F8-EAAB0ACB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16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90419E-D8F8-C58F-E7A3-459FFBD7B740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790419E-D8F8-C58F-E7A3-459FFBD7B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D2F4E298-943C-7055-0328-D6F74A1E8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EF9D6C87-0A9C-9105-A581-02C6E1A904BA}"/>
              </a:ext>
            </a:extLst>
          </p:cNvPr>
          <p:cNvSpPr txBox="1"/>
          <p:nvPr/>
        </p:nvSpPr>
        <p:spPr>
          <a:xfrm>
            <a:off x="152401" y="2698651"/>
            <a:ext cx="586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P(hêtre): </a:t>
            </a:r>
            <a:r>
              <a:rPr lang="fr-FR" dirty="0"/>
              <a:t>le </a:t>
            </a:r>
            <a:r>
              <a:rPr lang="fr-FR" dirty="0" err="1"/>
              <a:t>prior</a:t>
            </a:r>
            <a:r>
              <a:rPr lang="fr-FR" dirty="0"/>
              <a:t> = la probabilité d’observer un hêtre.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FA407ED-945B-C3F4-DCA4-97CE93F1D12B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P(critères): </a:t>
            </a:r>
            <a:r>
              <a:rPr lang="fr-FR" dirty="0"/>
              <a:t>Probabilité moyenne d’observer ces critères 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7354633-AF06-4A66-9779-7A8698A6888B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</a:t>
            </a:r>
            <a:r>
              <a:rPr lang="fr-FR" b="1" dirty="0" err="1"/>
              <a:t>critères|hêtre</a:t>
            </a:r>
            <a:r>
              <a:rPr lang="fr-FR" b="1" dirty="0"/>
              <a:t>): </a:t>
            </a:r>
            <a:r>
              <a:rPr lang="fr-FR" dirty="0"/>
              <a:t>la vraisemblance = la probabilité que si j’observe un hêtre, je relève les critères observés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CC2DF47-8220-DA78-D42D-53D8A8E93358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</a:t>
            </a:r>
            <a:r>
              <a:rPr lang="fr-FR" b="1" dirty="0" err="1"/>
              <a:t>hêtre|critères</a:t>
            </a:r>
            <a:r>
              <a:rPr lang="fr-FR" b="1" dirty="0"/>
              <a:t>): </a:t>
            </a:r>
            <a:r>
              <a:rPr lang="fr-FR" dirty="0"/>
              <a:t>le </a:t>
            </a:r>
            <a:r>
              <a:rPr lang="fr-FR" dirty="0" err="1"/>
              <a:t>posterior</a:t>
            </a:r>
            <a:r>
              <a:rPr lang="fr-FR" dirty="0"/>
              <a:t> = ce que je veux savoir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43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FF874-40B2-C50E-9462-726B3A410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1E79D1-9356-0992-EB9F-F3863EB6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17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7977417-8A2C-9834-2413-9A944882E369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7977417-8A2C-9834-2413-9A944882E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DDDFC2B2-D70F-1131-83AE-8BF1CF0C4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9A2BDB0F-7ECA-665D-E068-F6D0651DDF23}"/>
              </a:ext>
            </a:extLst>
          </p:cNvPr>
          <p:cNvSpPr txBox="1"/>
          <p:nvPr/>
        </p:nvSpPr>
        <p:spPr>
          <a:xfrm>
            <a:off x="152401" y="2698651"/>
            <a:ext cx="5862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P(hêtre): </a:t>
            </a:r>
            <a:r>
              <a:rPr lang="fr-FR" dirty="0"/>
              <a:t>le </a:t>
            </a:r>
            <a:r>
              <a:rPr lang="fr-FR" dirty="0" err="1"/>
              <a:t>prior</a:t>
            </a:r>
            <a:r>
              <a:rPr lang="fr-FR" dirty="0"/>
              <a:t> = la probabilité d’observer un hêtre.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5D6DEA7-77F0-BC44-B19A-D5C1C0C885E5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P(critères): </a:t>
            </a:r>
            <a:r>
              <a:rPr lang="fr-FR" dirty="0"/>
              <a:t>Probabilité moyenne d’observer ces critères 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B543C80-5DF3-68F1-F31E-A3B3305D068D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</a:t>
            </a:r>
            <a:r>
              <a:rPr lang="fr-FR" b="1" dirty="0" err="1"/>
              <a:t>critères|hêtre</a:t>
            </a:r>
            <a:r>
              <a:rPr lang="fr-FR" b="1" dirty="0"/>
              <a:t>): </a:t>
            </a:r>
            <a:r>
              <a:rPr lang="fr-FR" dirty="0"/>
              <a:t>la vraisemblance = la probabilité que si j’observe un hêtre, je relève les critères observés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081AE7E-58F8-C03B-4B12-70DD2A5C53EA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P(</a:t>
            </a:r>
            <a:r>
              <a:rPr lang="fr-FR" b="1" dirty="0" err="1"/>
              <a:t>hêtre|critères</a:t>
            </a:r>
            <a:r>
              <a:rPr lang="fr-FR" b="1" dirty="0"/>
              <a:t>): </a:t>
            </a:r>
            <a:r>
              <a:rPr lang="fr-FR" dirty="0"/>
              <a:t>le </a:t>
            </a:r>
            <a:r>
              <a:rPr lang="fr-FR" dirty="0" err="1"/>
              <a:t>posterior</a:t>
            </a:r>
            <a:r>
              <a:rPr lang="fr-FR" dirty="0"/>
              <a:t> = ce que je veux savoir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8456A39-59D2-58CB-8DDE-D08A663F6DEC}"/>
              </a:ext>
            </a:extLst>
          </p:cNvPr>
          <p:cNvSpPr txBox="1"/>
          <p:nvPr/>
        </p:nvSpPr>
        <p:spPr>
          <a:xfrm>
            <a:off x="340660" y="4987217"/>
            <a:ext cx="5486400" cy="147732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fr-FR" b="1" dirty="0"/>
              <a:t>Contrairement au </a:t>
            </a:r>
            <a:r>
              <a:rPr lang="fr-FR" b="1" dirty="0" err="1"/>
              <a:t>fréquentiste</a:t>
            </a:r>
            <a:r>
              <a:rPr lang="fr-FR" b="1" dirty="0"/>
              <a:t>, on considère que les paramètres ne sont pas fixes, ils suivent des lois de probabilité. C’est assez intuitif : tous les hêtres n’ont pas exactement les mêmes caractéristiques ou la même probabilité de présence.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85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F830-0BFA-189B-BC80-C1422F2F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EE5A56-C047-D703-3987-2E054145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18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A5E9EDC-0556-3D81-F195-E92A81B8D7AE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A5E9EDC-0556-3D81-F195-E92A81B8D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083C76BF-10DA-09A0-24E6-02A63B8198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ABA5F11A-5DDE-8C6E-6D0F-707D75B03207}"/>
              </a:ext>
            </a:extLst>
          </p:cNvPr>
          <p:cNvSpPr txBox="1"/>
          <p:nvPr/>
        </p:nvSpPr>
        <p:spPr>
          <a:xfrm>
            <a:off x="152401" y="2698651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P(hêtre):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la probabilité d’observer un hêtre. Je l’obtiens par un atlas, ma connaissance de la forêt,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PlantNet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0C183E8-8C9E-6C80-29AD-7DB46439FC37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P(critères):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Probabilité moyenne d’observer ces critères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EC86205-29FF-4469-6200-565FFB6ED52C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P(</a:t>
            </a:r>
            <a:r>
              <a:rPr lang="fr-FR" b="1" dirty="0" err="1"/>
              <a:t>critères|hêtre</a:t>
            </a:r>
            <a:r>
              <a:rPr lang="fr-FR" b="1" dirty="0"/>
              <a:t>): </a:t>
            </a:r>
            <a:r>
              <a:rPr lang="fr-FR" dirty="0"/>
              <a:t>la vraisemblance = la probabilité que si j’observe un hêtre, je relève les critères observés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425DD99-660C-C434-D9D4-5B3B810787F7}"/>
              </a:ext>
            </a:extLst>
          </p:cNvPr>
          <p:cNvSpPr txBox="1"/>
          <p:nvPr/>
        </p:nvSpPr>
        <p:spPr>
          <a:xfrm>
            <a:off x="423138" y="5448882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Comme en </a:t>
            </a:r>
            <a:r>
              <a:rPr lang="fr-FR" dirty="0" err="1"/>
              <a:t>fréquentiste</a:t>
            </a:r>
            <a:r>
              <a:rPr lang="fr-FR" dirty="0"/>
              <a:t>. On y revient un peu plus tard.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CB260EE-8841-5593-5333-22D8874FCA5B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hêtre|critères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posterior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ce que je veux savoir</a:t>
            </a:r>
          </a:p>
        </p:txBody>
      </p:sp>
    </p:spTree>
    <p:extLst>
      <p:ext uri="{BB962C8B-B14F-4D97-AF65-F5344CB8AC3E}">
        <p14:creationId xmlns:p14="http://schemas.microsoft.com/office/powerpoint/2010/main" val="2721129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80336-8706-FB9D-7F11-2D19405EC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FE0440-7B27-D9E2-1D3A-2A44C60A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19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FB2C155-6998-7938-0B44-9D0E42961221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FB2C155-6998-7938-0B44-9D0E42961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7A8A37BE-2C33-DECC-F34A-725C39DD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466E9BD-D06B-1F3A-4E5A-7316A4FEF171}"/>
              </a:ext>
            </a:extLst>
          </p:cNvPr>
          <p:cNvSpPr txBox="1"/>
          <p:nvPr/>
        </p:nvSpPr>
        <p:spPr>
          <a:xfrm>
            <a:off x="152401" y="2698651"/>
            <a:ext cx="586291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P(hêtre): </a:t>
            </a:r>
            <a:r>
              <a:rPr lang="fr-FR" dirty="0"/>
              <a:t>le </a:t>
            </a:r>
            <a:r>
              <a:rPr lang="fr-FR" dirty="0" err="1"/>
              <a:t>prior</a:t>
            </a:r>
            <a:r>
              <a:rPr lang="fr-FR" dirty="0"/>
              <a:t> = la probabilité d’observer un hêtre. Je l’obtiens par un atlas, ma connaissance de la forêt, </a:t>
            </a:r>
            <a:r>
              <a:rPr lang="fr-FR" dirty="0" err="1"/>
              <a:t>PlantNet</a:t>
            </a:r>
            <a:r>
              <a:rPr lang="fr-FR" dirty="0"/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370EEC7-3FBF-76E4-70EE-82A30B294CFF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P(critères):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Probabilité moyenne d’observer ces critères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084D4D-F090-1577-71E6-EFE5CDD7D4E1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critères|hêtre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la vraisemblance = la probabilité que si j’observe un hêtre, je relève les critères observés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8452F7A-0C79-290D-ED5C-281E01F0556F}"/>
              </a:ext>
            </a:extLst>
          </p:cNvPr>
          <p:cNvSpPr txBox="1"/>
          <p:nvPr/>
        </p:nvSpPr>
        <p:spPr>
          <a:xfrm>
            <a:off x="627518" y="5359748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Je l’obtiens par un atlas, ma connaissance de la forêt, </a:t>
            </a:r>
            <a:r>
              <a:rPr lang="fr-FR" dirty="0" err="1"/>
              <a:t>PlantNet</a:t>
            </a:r>
            <a:r>
              <a:rPr lang="fr-FR" dirty="0"/>
              <a:t>…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1C30DF2-5FC7-6E4B-466B-7C5B3F02D89F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hêtre|critères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posterior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ce que je veux savoir</a:t>
            </a:r>
          </a:p>
        </p:txBody>
      </p:sp>
    </p:spTree>
    <p:extLst>
      <p:ext uri="{BB962C8B-B14F-4D97-AF65-F5344CB8AC3E}">
        <p14:creationId xmlns:p14="http://schemas.microsoft.com/office/powerpoint/2010/main" val="4082080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0F35-BB5B-2B5C-9A9B-FC54893B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28F473-AEE4-8C60-B3A1-45F814FBD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20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C0507B8-3BA9-16E4-0B64-572239358FC5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C0507B8-3BA9-16E4-0B64-572239358F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5D63F2AB-2499-BEAF-9F7D-65343A1122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2A43C420-B644-4EA2-050C-8D1B1A49FAC9}"/>
              </a:ext>
            </a:extLst>
          </p:cNvPr>
          <p:cNvSpPr txBox="1"/>
          <p:nvPr/>
        </p:nvSpPr>
        <p:spPr>
          <a:xfrm>
            <a:off x="152401" y="2698651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P(hêtre):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la probabilité d’observer un hêtre. Je l’obtiens par un atlas, ma connaissance de la forêt,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PlantNet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7EFBB2-1007-4FAA-F87D-0F17B4013235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P(critères): </a:t>
            </a:r>
            <a:r>
              <a:rPr lang="fr-FR" dirty="0"/>
              <a:t>Probabilité moyenne d’observer ces critères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6E97256-A003-F68D-4FEB-AD71E2D65FCD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critères|hêtre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la vraisemblance = la probabilité que si j’observe un hêtre, je relève les critères observés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8EAA32-B8D8-8CD3-B98D-0EF84AB2E7C2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hêtre|critères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posterior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ce que je veux savoir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9D5BFC7-4E10-289C-6281-67CC2D4124AE}"/>
              </a:ext>
            </a:extLst>
          </p:cNvPr>
          <p:cNvSpPr txBox="1"/>
          <p:nvPr/>
        </p:nvSpPr>
        <p:spPr>
          <a:xfrm>
            <a:off x="340660" y="4911513"/>
            <a:ext cx="548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Elle permet de normaliser la distribution a posteriori pour qu’elle intègre à 1. C’est une intégrale dont le nombre de dimensions = le nombre de paramètres. </a:t>
            </a:r>
            <a:endParaRPr lang="fr-F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0825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BFBBE-9190-34A5-ED9C-757F9963C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BF88B9-0039-0CDD-E202-C5F4728D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FDC4641-87E5-A407-9C59-05C5B0D0E4EE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FDC4641-87E5-A407-9C59-05C5B0D0E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5D795A80-3B90-606B-B5CF-E6CC004B82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393C37A8-4433-292C-8384-B9F1C90818DC}"/>
              </a:ext>
            </a:extLst>
          </p:cNvPr>
          <p:cNvSpPr txBox="1"/>
          <p:nvPr/>
        </p:nvSpPr>
        <p:spPr>
          <a:xfrm>
            <a:off x="152401" y="2698651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P(hêtre):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la probabilité d’observer un hêtre. Je l’obtiens par un atlas, ma connaissance de la forêt,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PlantNet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59F4A6-C235-4BC6-29B9-B468B73D5DB0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P(critères): </a:t>
            </a:r>
            <a:r>
              <a:rPr lang="fr-FR" dirty="0"/>
              <a:t>Probabilité moyenne d’observer ces critères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5693A9-0F85-386D-9746-DCD53A14EFE3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critères|hêtre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la vraisemblance = la probabilité que si j’observe un hêtre, je relève les critères observés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BE156DB-A716-9FB0-B505-024CBFDE2D68}"/>
              </a:ext>
            </a:extLst>
          </p:cNvPr>
          <p:cNvSpPr txBox="1"/>
          <p:nvPr/>
        </p:nvSpPr>
        <p:spPr>
          <a:xfrm>
            <a:off x="340660" y="4911513"/>
            <a:ext cx="5486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Elle permet de normaliser la distribution a posteriori pour qu’elle intègre à 1. C’est une intégrale dont le nombre de dimensions = le nombre de paramètres. Ici, c’est simple, il n’y en a qu’un. Mais dès qu’il y en a 3 (par exemple une régression avec un terme d’interaction), ça devient difficile ou impossible.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1290ED3-182E-3D62-0269-0FE1FCB6AC06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hêtre|critères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posterior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ce que je veux savoir</a:t>
            </a:r>
          </a:p>
        </p:txBody>
      </p:sp>
    </p:spTree>
    <p:extLst>
      <p:ext uri="{BB962C8B-B14F-4D97-AF65-F5344CB8AC3E}">
        <p14:creationId xmlns:p14="http://schemas.microsoft.com/office/powerpoint/2010/main" val="335404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897C0-113F-BAE6-1F2E-18268258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11F226-8D3D-F028-9505-D6DC385C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B19F62F-C86E-E1F8-7480-E61964D736AD}"/>
                  </a:ext>
                </a:extLst>
              </p:cNvPr>
              <p:cNvSpPr txBox="1"/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crit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è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res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crit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è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ê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tre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crit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res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7B19F62F-C86E-E1F8-7480-E61964D7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38" y="655553"/>
                <a:ext cx="4672176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5" descr="Une image contenant peinture, plein air, nature, arbre&#10;&#10;Le contenu généré par l’IA peut être incorrect.">
            <a:extLst>
              <a:ext uri="{FF2B5EF4-FFF2-40B4-BE49-F238E27FC236}">
                <a16:creationId xmlns:a16="http://schemas.microsoft.com/office/drawing/2014/main" id="{D64CDD2B-4A18-A80F-0C4D-66A00CD1FC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r="48950"/>
          <a:stretch>
            <a:fillRect/>
          </a:stretch>
        </p:blipFill>
        <p:spPr>
          <a:xfrm>
            <a:off x="6212517" y="0"/>
            <a:ext cx="3021132" cy="685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D9619121-F41D-A1AA-7843-DEFD9F27F873}"/>
              </a:ext>
            </a:extLst>
          </p:cNvPr>
          <p:cNvSpPr txBox="1"/>
          <p:nvPr/>
        </p:nvSpPr>
        <p:spPr>
          <a:xfrm>
            <a:off x="152401" y="2698651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P(hêtre):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la probabilité d’observer un hêtre. Je l’obtiens par un atlas, ma connaissance de la forêt,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PlantNet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4AE39EA-4BFF-27FA-EAAB-F02C971AD951}"/>
              </a:ext>
            </a:extLst>
          </p:cNvPr>
          <p:cNvSpPr txBox="1"/>
          <p:nvPr/>
        </p:nvSpPr>
        <p:spPr>
          <a:xfrm>
            <a:off x="167516" y="3513019"/>
            <a:ext cx="5486400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P(critères): </a:t>
            </a:r>
            <a:r>
              <a:rPr lang="fr-FR" dirty="0"/>
              <a:t>Probabilité moyenne d’observer ces critères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C3C8BED-89C2-29E6-5170-A67EAFFAF85D}"/>
              </a:ext>
            </a:extLst>
          </p:cNvPr>
          <p:cNvSpPr txBox="1"/>
          <p:nvPr/>
        </p:nvSpPr>
        <p:spPr>
          <a:xfrm>
            <a:off x="152401" y="1897844"/>
            <a:ext cx="5862918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critères|hêtre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la vraisemblance = la probabilité que si j’observe un hêtre, je relève les critères observés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CB5F5C2-E496-B5DF-477B-ED6AC61A79DE}"/>
              </a:ext>
            </a:extLst>
          </p:cNvPr>
          <p:cNvSpPr txBox="1"/>
          <p:nvPr/>
        </p:nvSpPr>
        <p:spPr>
          <a:xfrm>
            <a:off x="340660" y="4848758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Elle permet de normaliser la distribution a posteriori pour qu’elle intègre à 1. C’est une intégrale dont le nombre de dimensions = le nombre de paramètres. Ici, c’est simple, il n’y en a qu’un. Mais dès qu’il y en a 3 (par exemple une régression avec un terme d’interaction), ça devient difficile ou impossible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b="1" dirty="0">
                <a:sym typeface="Wingdings" panose="05000000000000000000" pitchFamily="2" charset="2"/>
              </a:rPr>
              <a:t>il faut des algorithmes coûteux en puissance de calcul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06F65FC-EE52-40F5-A72A-1CDF55A389B1}"/>
              </a:ext>
            </a:extLst>
          </p:cNvPr>
          <p:cNvSpPr txBox="1"/>
          <p:nvPr/>
        </p:nvSpPr>
        <p:spPr>
          <a:xfrm>
            <a:off x="188284" y="4212266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P(</a:t>
            </a:r>
            <a:r>
              <a:rPr lang="fr-FR" b="1" dirty="0" err="1">
                <a:solidFill>
                  <a:schemeClr val="bg2">
                    <a:lumMod val="50000"/>
                  </a:schemeClr>
                </a:solidFill>
              </a:rPr>
              <a:t>hêtre|critères</a:t>
            </a:r>
            <a:r>
              <a:rPr lang="fr-FR" b="1" dirty="0">
                <a:solidFill>
                  <a:schemeClr val="bg2">
                    <a:lumMod val="50000"/>
                  </a:schemeClr>
                </a:solidFill>
              </a:rPr>
              <a:t>): 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le </a:t>
            </a:r>
            <a:r>
              <a:rPr lang="fr-FR" dirty="0" err="1">
                <a:solidFill>
                  <a:schemeClr val="bg2">
                    <a:lumMod val="50000"/>
                  </a:schemeClr>
                </a:solidFill>
              </a:rPr>
              <a:t>posterior</a:t>
            </a:r>
            <a:r>
              <a:rPr lang="fr-FR" dirty="0">
                <a:solidFill>
                  <a:schemeClr val="bg2">
                    <a:lumMod val="50000"/>
                  </a:schemeClr>
                </a:solidFill>
              </a:rPr>
              <a:t> = ce que je veux savoir</a:t>
            </a:r>
          </a:p>
        </p:txBody>
      </p:sp>
    </p:spTree>
    <p:extLst>
      <p:ext uri="{BB962C8B-B14F-4D97-AF65-F5344CB8AC3E}">
        <p14:creationId xmlns:p14="http://schemas.microsoft.com/office/powerpoint/2010/main" val="2376662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13D7C3-2A8D-49B4-880E-F1EB98D76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C6BEAB-431C-E2DB-AF88-FEF8B7CDC631}"/>
              </a:ext>
            </a:extLst>
          </p:cNvPr>
          <p:cNvSpPr/>
          <p:nvPr/>
        </p:nvSpPr>
        <p:spPr>
          <a:xfrm>
            <a:off x="438712" y="2985238"/>
            <a:ext cx="1739153" cy="7261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Connaissance préalable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5A569-9977-9B5A-2CF0-840753FCE057}"/>
              </a:ext>
            </a:extLst>
          </p:cNvPr>
          <p:cNvSpPr/>
          <p:nvPr/>
        </p:nvSpPr>
        <p:spPr>
          <a:xfrm>
            <a:off x="438712" y="2015626"/>
            <a:ext cx="1739153" cy="649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Hypothèse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47316-1D94-EDBD-9044-D59F534167DB}"/>
              </a:ext>
            </a:extLst>
          </p:cNvPr>
          <p:cNvSpPr/>
          <p:nvPr/>
        </p:nvSpPr>
        <p:spPr>
          <a:xfrm>
            <a:off x="3536018" y="3513036"/>
            <a:ext cx="1806388" cy="867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Vraisemblance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D2EA1-F7AB-F89A-9819-C15B6568797B}"/>
              </a:ext>
            </a:extLst>
          </p:cNvPr>
          <p:cNvSpPr/>
          <p:nvPr/>
        </p:nvSpPr>
        <p:spPr>
          <a:xfrm>
            <a:off x="6627721" y="3513035"/>
            <a:ext cx="1968874" cy="8673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Inférence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D5E480EB-EF4D-25EE-185B-D8BA7301DF8C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177865" y="3348309"/>
            <a:ext cx="1358153" cy="5983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0073ABC3-6E1B-5E16-F20C-652B6303E884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1308289" y="2665567"/>
            <a:ext cx="0" cy="3196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8B6E904-FEEC-4ED4-3CE8-43B1AB7F29CD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5342406" y="3946703"/>
            <a:ext cx="128531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DD2D166-B758-EF75-EF0E-399355DCA86E}"/>
                  </a:ext>
                </a:extLst>
              </p:cNvPr>
              <p:cNvSpPr txBox="1"/>
              <p:nvPr/>
            </p:nvSpPr>
            <p:spPr>
              <a:xfrm>
                <a:off x="1419983" y="1210724"/>
                <a:ext cx="6304033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donn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é</m:t>
                      </m:r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es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donn</m:t>
                              </m:r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é</m:t>
                              </m:r>
                              <m:r>
                                <m:rPr>
                                  <m:sty m:val="p"/>
                                </m:rP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es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hypoth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è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se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donn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é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es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5" name="ZoneTexte 14">
                <a:extLst>
                  <a:ext uri="{FF2B5EF4-FFF2-40B4-BE49-F238E27FC236}">
                    <a16:creationId xmlns:a16="http://schemas.microsoft.com/office/drawing/2014/main" id="{3DD2D166-B758-EF75-EF0E-399355DCA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983" y="1210724"/>
                <a:ext cx="6304033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ZoneTexte 15">
            <a:extLst>
              <a:ext uri="{FF2B5EF4-FFF2-40B4-BE49-F238E27FC236}">
                <a16:creationId xmlns:a16="http://schemas.microsoft.com/office/drawing/2014/main" id="{79D8BB53-FCF0-6BDF-3949-8F97B3EA84C7}"/>
              </a:ext>
            </a:extLst>
          </p:cNvPr>
          <p:cNvSpPr txBox="1"/>
          <p:nvPr/>
        </p:nvSpPr>
        <p:spPr>
          <a:xfrm>
            <a:off x="849865" y="138809"/>
            <a:ext cx="7444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Le théorème de Bayes explicite la démarche d’inférence hypothético-déductive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C7805BD-A2F6-04DB-2403-ABA6E088D44E}"/>
              </a:ext>
            </a:extLst>
          </p:cNvPr>
          <p:cNvSpPr txBox="1"/>
          <p:nvPr/>
        </p:nvSpPr>
        <p:spPr>
          <a:xfrm>
            <a:off x="2703422" y="3278174"/>
            <a:ext cx="7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prior</a:t>
            </a:r>
            <a:endParaRPr lang="fr-FR" i="1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FF1A051-8021-52EC-61C4-AFA6B995CE7D}"/>
              </a:ext>
            </a:extLst>
          </p:cNvPr>
          <p:cNvSpPr txBox="1"/>
          <p:nvPr/>
        </p:nvSpPr>
        <p:spPr>
          <a:xfrm>
            <a:off x="5444940" y="3647506"/>
            <a:ext cx="9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 err="1"/>
              <a:t>posterior</a:t>
            </a:r>
            <a:endParaRPr lang="fr-FR" i="1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C39353B-2D77-12FF-63DC-37E20B47A2CF}"/>
              </a:ext>
            </a:extLst>
          </p:cNvPr>
          <p:cNvSpPr txBox="1"/>
          <p:nvPr/>
        </p:nvSpPr>
        <p:spPr>
          <a:xfrm>
            <a:off x="882742" y="4802317"/>
            <a:ext cx="737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Par rapport au </a:t>
            </a:r>
            <a:r>
              <a:rPr lang="fr-FR" b="1" dirty="0" err="1"/>
              <a:t>fréquentiste</a:t>
            </a:r>
            <a:r>
              <a:rPr lang="fr-FR" b="1" dirty="0"/>
              <a:t> : </a:t>
            </a:r>
          </a:p>
          <a:p>
            <a:pPr algn="ctr"/>
            <a:endParaRPr lang="fr-FR" b="1" dirty="0"/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Paramètres non fixes, suivent une distribution inconnue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Introduction de la connaissance préalable sur l’hypothèse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b="1" dirty="0"/>
              <a:t>Logique de « mise à jour » des connaissances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60BA62-83FC-919A-D675-198E85CCA027}"/>
              </a:ext>
            </a:extLst>
          </p:cNvPr>
          <p:cNvSpPr/>
          <p:nvPr/>
        </p:nvSpPr>
        <p:spPr>
          <a:xfrm>
            <a:off x="3569635" y="2015626"/>
            <a:ext cx="1739153" cy="649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Données</a:t>
            </a: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476466E-4CA3-6374-1581-DA9EA8DADFB0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>
            <a:off x="2177865" y="2340597"/>
            <a:ext cx="13917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D56561A1-0370-F1B7-731B-ADA92D0F02A8}"/>
              </a:ext>
            </a:extLst>
          </p:cNvPr>
          <p:cNvCxnSpPr>
            <a:cxnSpLocks/>
            <a:stCxn id="23" idx="2"/>
            <a:endCxn id="7" idx="0"/>
          </p:cNvCxnSpPr>
          <p:nvPr/>
        </p:nvCxnSpPr>
        <p:spPr>
          <a:xfrm>
            <a:off x="4439212" y="2665567"/>
            <a:ext cx="0" cy="8474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74803B2B-044D-3944-DB1E-A3DB576168E0}"/>
              </a:ext>
            </a:extLst>
          </p:cNvPr>
          <p:cNvSpPr txBox="1"/>
          <p:nvPr/>
        </p:nvSpPr>
        <p:spPr>
          <a:xfrm>
            <a:off x="2437280" y="1999840"/>
            <a:ext cx="1098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sampling</a:t>
            </a:r>
          </a:p>
        </p:txBody>
      </p:sp>
    </p:spTree>
    <p:extLst>
      <p:ext uri="{BB962C8B-B14F-4D97-AF65-F5344CB8AC3E}">
        <p14:creationId xmlns:p14="http://schemas.microsoft.com/office/powerpoint/2010/main" val="43491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68ED9-4424-04B8-08E8-85683414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29A563-91BB-52B2-78C9-AA3EF25E1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74E8428-2C38-C193-CE5C-63F5D2C99EAA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L’inférence bayésienne</a:t>
            </a:r>
          </a:p>
        </p:txBody>
      </p:sp>
    </p:spTree>
    <p:extLst>
      <p:ext uri="{BB962C8B-B14F-4D97-AF65-F5344CB8AC3E}">
        <p14:creationId xmlns:p14="http://schemas.microsoft.com/office/powerpoint/2010/main" val="3103106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E56A-0377-B0CD-BEE8-8FA5E273A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D6DF44-F906-BDBB-FB35-B49091006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EE6BECD-6276-A830-7AFE-90B423063154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L’inférence MCM</a:t>
            </a:r>
          </a:p>
        </p:txBody>
      </p:sp>
      <p:pic>
        <p:nvPicPr>
          <p:cNvPr id="3" name="Image 2" descr="Une image contenant neige, polaire, extérieur, mammifère&#10;&#10;Description générée automatiquement">
            <a:extLst>
              <a:ext uri="{FF2B5EF4-FFF2-40B4-BE49-F238E27FC236}">
                <a16:creationId xmlns:a16="http://schemas.microsoft.com/office/drawing/2014/main" id="{4F8BCC5D-6E4D-C82B-1FD9-31194CAE0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2" r="43224"/>
          <a:stretch>
            <a:fillRect/>
          </a:stretch>
        </p:blipFill>
        <p:spPr>
          <a:xfrm>
            <a:off x="5199529" y="-1"/>
            <a:ext cx="3944471" cy="687268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8E97AF-3D29-FAF4-FBFA-34A3328BDFAC}"/>
              </a:ext>
            </a:extLst>
          </p:cNvPr>
          <p:cNvSpPr txBox="1"/>
          <p:nvPr/>
        </p:nvSpPr>
        <p:spPr>
          <a:xfrm>
            <a:off x="206189" y="1084729"/>
            <a:ext cx="42313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cherche à connaître la survie hivernale des ours polaires.</a:t>
            </a:r>
          </a:p>
          <a:p>
            <a:endParaRPr lang="fr-FR" dirty="0"/>
          </a:p>
          <a:p>
            <a:r>
              <a:rPr lang="fr-FR" dirty="0"/>
              <a:t>n = 60 individus suivis</a:t>
            </a:r>
          </a:p>
          <a:p>
            <a:r>
              <a:rPr lang="fr-FR" dirty="0"/>
              <a:t>y = 19 survivent à l’hiver</a:t>
            </a:r>
          </a:p>
          <a:p>
            <a:endParaRPr lang="fr-FR" dirty="0"/>
          </a:p>
          <a:p>
            <a:r>
              <a:rPr lang="fr-FR" dirty="0"/>
              <a:t>p(survie) = 19/60 = 0,32</a:t>
            </a:r>
          </a:p>
          <a:p>
            <a:endParaRPr lang="fr-FR" dirty="0"/>
          </a:p>
          <a:p>
            <a:r>
              <a:rPr lang="fr-FR" dirty="0"/>
              <a:t>C’est une estimation raisonnable de la survie hivernale si les individus sont indépendants et ont tous la même probabilité de survie.</a:t>
            </a:r>
          </a:p>
          <a:p>
            <a:endParaRPr lang="fr-FR" dirty="0"/>
          </a:p>
          <a:p>
            <a:r>
              <a:rPr lang="fr-FR" dirty="0"/>
              <a:t>On peut la modéliser avec une loi binomiale dont on estime la probabilité de survie θ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CA642-E1E9-89C9-FD4F-85B30E6E6578}"/>
                  </a:ext>
                </a:extLst>
              </p:cNvPr>
              <p:cNvSpPr txBox="1"/>
              <p:nvPr/>
            </p:nvSpPr>
            <p:spPr>
              <a:xfrm>
                <a:off x="1419957" y="5341532"/>
                <a:ext cx="13680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𝐵𝑖𝑛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fr-FR" dirty="0"/>
                        <m:t>θ</m:t>
                      </m:r>
                      <m:r>
                        <m:rPr>
                          <m:nor/>
                        </m:rPr>
                        <a:rPr lang="fr-FR" b="0" i="0" dirty="0" smtClean="0"/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746CA642-E1E9-89C9-FD4F-85B30E6E6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957" y="5341532"/>
                <a:ext cx="1368067" cy="276999"/>
              </a:xfrm>
              <a:prstGeom prst="rect">
                <a:avLst/>
              </a:prstGeom>
              <a:blipFill>
                <a:blip r:embed="rId3"/>
                <a:stretch>
                  <a:fillRect l="-3571" t="-2174" r="-5357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778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71A0-06E0-E9CF-E5E4-C382900C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E4DC43-ED72-9D2F-C051-27590697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0CB775-C15F-819A-07EA-9853A396B25F}"/>
              </a:ext>
            </a:extLst>
          </p:cNvPr>
          <p:cNvSpPr txBox="1"/>
          <p:nvPr/>
        </p:nvSpPr>
        <p:spPr>
          <a:xfrm>
            <a:off x="251013" y="984583"/>
            <a:ext cx="4823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 priori : </a:t>
            </a:r>
            <a:r>
              <a:rPr lang="fr-FR" dirty="0"/>
              <a:t>on sait que θ est une variable continue comprise entre 0 et 1</a:t>
            </a:r>
          </a:p>
          <a:p>
            <a:endParaRPr lang="fr-FR" dirty="0"/>
          </a:p>
          <a:p>
            <a:r>
              <a:rPr lang="fr-FR" dirty="0">
                <a:sym typeface="Wingdings" panose="05000000000000000000" pitchFamily="2" charset="2"/>
              </a:rPr>
              <a:t> Une distribution naturelle pour </a:t>
            </a:r>
            <a:r>
              <a:rPr lang="fr-FR" dirty="0"/>
              <a:t>θ est la loi beta</a:t>
            </a:r>
            <a:r>
              <a:rPr lang="fr-FR" dirty="0">
                <a:sym typeface="Wingdings" panose="05000000000000000000" pitchFamily="2" charset="2"/>
              </a:rPr>
              <a:t>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1AF04D-D688-9516-1AA5-DE4716598241}"/>
                  </a:ext>
                </a:extLst>
              </p:cNvPr>
              <p:cNvSpPr txBox="1"/>
              <p:nvPr/>
            </p:nvSpPr>
            <p:spPr>
              <a:xfrm>
                <a:off x="537883" y="3687196"/>
                <a:ext cx="2458429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19)=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(19)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BB1AF04D-D688-9516-1AA5-DE4716598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3" y="3687196"/>
                <a:ext cx="2458429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e 18">
            <a:extLst>
              <a:ext uri="{FF2B5EF4-FFF2-40B4-BE49-F238E27FC236}">
                <a16:creationId xmlns:a16="http://schemas.microsoft.com/office/drawing/2014/main" id="{D244C3EC-6951-B07A-02F8-C0F3854E7AB6}"/>
              </a:ext>
            </a:extLst>
          </p:cNvPr>
          <p:cNvGrpSpPr/>
          <p:nvPr/>
        </p:nvGrpSpPr>
        <p:grpSpPr>
          <a:xfrm>
            <a:off x="3155577" y="3687196"/>
            <a:ext cx="1783976" cy="369332"/>
            <a:chOff x="3155577" y="3687196"/>
            <a:chExt cx="1783976" cy="369332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71BFCC1-7286-DEAA-8BDB-3451D9BE92DC}"/>
                </a:ext>
              </a:extLst>
            </p:cNvPr>
            <p:cNvSpPr txBox="1"/>
            <p:nvPr/>
          </p:nvSpPr>
          <p:spPr>
            <a:xfrm>
              <a:off x="4025153" y="3687196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loi beta</a:t>
              </a:r>
            </a:p>
          </p:txBody>
        </p: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BC137240-4284-A298-C33C-CD005CF017D3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3155577" y="3871862"/>
              <a:ext cx="86957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01B09B1-F531-6F03-531C-8C8AF3439457}"/>
              </a:ext>
            </a:extLst>
          </p:cNvPr>
          <p:cNvGrpSpPr/>
          <p:nvPr/>
        </p:nvGrpSpPr>
        <p:grpSpPr>
          <a:xfrm>
            <a:off x="788897" y="4445603"/>
            <a:ext cx="3379691" cy="1186738"/>
            <a:chOff x="788897" y="4445603"/>
            <a:chExt cx="3379691" cy="1186738"/>
          </a:xfrm>
        </p:grpSpPr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C2B1552B-5875-52E4-412C-E31717DC68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6001" y="4445603"/>
              <a:ext cx="0" cy="520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F75D7A40-75B5-0CC2-490D-7CFD73CAF5DE}"/>
                    </a:ext>
                  </a:extLst>
                </p:cNvPr>
                <p:cNvSpPr txBox="1"/>
                <p:nvPr/>
              </p:nvSpPr>
              <p:spPr>
                <a:xfrm>
                  <a:off x="788897" y="4943178"/>
                  <a:ext cx="3379691" cy="6891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/>
                    <a:t>Probabilité moyenne des données</a:t>
                  </a:r>
                </a:p>
                <a:p>
                  <a:r>
                    <a:rPr lang="fr-FR" dirty="0"/>
                    <a:t>= </a:t>
                  </a:r>
                  <a14:m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(19|</m:t>
                          </m:r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)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) 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d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m:rPr>
                              <m:nor/>
                            </m:rPr>
                            <a:rPr lang="fr-FR" b="0" i="0" dirty="0" smtClean="0"/>
                            <m:t>)</m:t>
                          </m:r>
                        </m:e>
                      </m:nary>
                    </m:oMath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F75D7A40-75B5-0CC2-490D-7CFD73CAF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897" y="4943178"/>
                  <a:ext cx="3379691" cy="689163"/>
                </a:xfrm>
                <a:prstGeom prst="rect">
                  <a:avLst/>
                </a:prstGeom>
                <a:blipFill>
                  <a:blip r:embed="rId3"/>
                  <a:stretch>
                    <a:fillRect l="-5766" t="-39823" b="-11504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8" name="Image 27" descr="Une image contenant diagramme, Tracé, ligne, texte&#10;&#10;Le contenu généré par l’IA peut être incorrect.">
            <a:extLst>
              <a:ext uri="{FF2B5EF4-FFF2-40B4-BE49-F238E27FC236}">
                <a16:creationId xmlns:a16="http://schemas.microsoft.com/office/drawing/2014/main" id="{19BCEC4C-A8D8-25D8-C16B-47DB2247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229" y="2839109"/>
            <a:ext cx="3379683" cy="3006204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46A55CF1-CF14-E78C-9144-F3159D6E2F9E}"/>
              </a:ext>
            </a:extLst>
          </p:cNvPr>
          <p:cNvGrpSpPr/>
          <p:nvPr/>
        </p:nvGrpSpPr>
        <p:grpSpPr>
          <a:xfrm>
            <a:off x="726145" y="2397404"/>
            <a:ext cx="3101788" cy="1181989"/>
            <a:chOff x="726145" y="2397404"/>
            <a:chExt cx="3101788" cy="1181989"/>
          </a:xfrm>
        </p:grpSpPr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283372E0-6A5B-CBC6-7861-5DC70A835DE5}"/>
                </a:ext>
              </a:extLst>
            </p:cNvPr>
            <p:cNvSpPr txBox="1"/>
            <p:nvPr/>
          </p:nvSpPr>
          <p:spPr>
            <a:xfrm>
              <a:off x="726145" y="2397404"/>
              <a:ext cx="31017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vraisemblance d’une binomiale avec n = 60</a:t>
              </a:r>
            </a:p>
          </p:txBody>
        </p:sp>
        <p:cxnSp>
          <p:nvCxnSpPr>
            <p:cNvPr id="29" name="Connecteur droit avec flèche 28">
              <a:extLst>
                <a:ext uri="{FF2B5EF4-FFF2-40B4-BE49-F238E27FC236}">
                  <a16:creationId xmlns:a16="http://schemas.microsoft.com/office/drawing/2014/main" id="{43F0E0BC-EA06-E846-87AC-618C189E293E}"/>
                </a:ext>
              </a:extLst>
            </p:cNvPr>
            <p:cNvCxnSpPr>
              <a:cxnSpLocks/>
              <a:stCxn id="17" idx="2"/>
            </p:cNvCxnSpPr>
            <p:nvPr/>
          </p:nvCxnSpPr>
          <p:spPr>
            <a:xfrm>
              <a:off x="2277039" y="3043735"/>
              <a:ext cx="0" cy="53565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801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00171-4E88-C5D5-CE76-9FFE5A6B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910BDC-AEA3-4BFD-2697-6E36E3D4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974BFAE-ACF0-7B7E-0DD7-E6ABC99176EC}"/>
              </a:ext>
            </a:extLst>
          </p:cNvPr>
          <p:cNvSpPr txBox="1"/>
          <p:nvPr/>
        </p:nvSpPr>
        <p:spPr>
          <a:xfrm>
            <a:off x="277907" y="862480"/>
            <a:ext cx="48230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plusieurs paramètres, p.ex. si on estime la survie comme un GLM binomial, on estime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Intercept </a:t>
            </a:r>
            <a:r>
              <a:rPr lang="el-GR" dirty="0"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α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Pente </a:t>
            </a:r>
            <a:r>
              <a:rPr lang="el-GR" dirty="0"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β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Écart-type </a:t>
            </a:r>
            <a:r>
              <a:rPr lang="el-GR" dirty="0"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σ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1BC5E55-A12B-1BCA-C513-18D7DFC1941B}"/>
                  </a:ext>
                </a:extLst>
              </p:cNvPr>
              <p:cNvSpPr txBox="1"/>
              <p:nvPr/>
            </p:nvSpPr>
            <p:spPr>
              <a:xfrm>
                <a:off x="537883" y="3687196"/>
                <a:ext cx="2458429" cy="5866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endChr m:val="|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</m:e>
                      </m:d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19)= 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d>
                            <m:dPr>
                              <m:endChr m:val="|"/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fr-FR" dirty="0"/>
                            <m:t>θ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(19)</m:t>
                          </m:r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1BC5E55-A12B-1BCA-C513-18D7DFC19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883" y="3687196"/>
                <a:ext cx="2458429" cy="5866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e 19">
            <a:extLst>
              <a:ext uri="{FF2B5EF4-FFF2-40B4-BE49-F238E27FC236}">
                <a16:creationId xmlns:a16="http://schemas.microsoft.com/office/drawing/2014/main" id="{88D02388-7058-D23F-6C85-E81F6D4EAE40}"/>
              </a:ext>
            </a:extLst>
          </p:cNvPr>
          <p:cNvGrpSpPr/>
          <p:nvPr/>
        </p:nvGrpSpPr>
        <p:grpSpPr>
          <a:xfrm>
            <a:off x="394450" y="4396090"/>
            <a:ext cx="4177550" cy="1542861"/>
            <a:chOff x="788897" y="4445603"/>
            <a:chExt cx="3379691" cy="1542861"/>
          </a:xfrm>
        </p:grpSpPr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54247AF1-ADDD-3A71-8D7F-66D7448FB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86001" y="4445603"/>
              <a:ext cx="0" cy="52084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A5030873-3877-7A9E-F60B-65C3FC4C01B2}"/>
                    </a:ext>
                  </a:extLst>
                </p:cNvPr>
                <p:cNvSpPr txBox="1"/>
                <p:nvPr/>
              </p:nvSpPr>
              <p:spPr>
                <a:xfrm>
                  <a:off x="788897" y="4943178"/>
                  <a:ext cx="3379691" cy="10452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/>
                    <a:t>Probabilité moyenne des données</a:t>
                  </a:r>
                </a:p>
                <a:p>
                  <a:r>
                    <a:rPr lang="fr-FR" dirty="0"/>
                    <a:t>= </a:t>
                  </a:r>
                  <a14:m>
                    <m:oMath xmlns:m="http://schemas.openxmlformats.org/officeDocument/2006/math">
                      <m:nary>
                        <m:naryPr>
                          <m:chr m:val="∭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(19|</m:t>
                          </m:r>
                          <m:r>
                            <m:rPr>
                              <m:sty m:val="p"/>
                            </m:rPr>
                            <a:rPr lang="el-G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el-G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𝛽𝜎</m:t>
                          </m:r>
                          <m:r>
                            <m:rPr>
                              <m:nor/>
                            </m:rPr>
                            <a:rPr lang="fr-FR" dirty="0"/>
                            <m:t>)</m:t>
                          </m:r>
                          <m:r>
                            <m:rPr>
                              <m:nor/>
                            </m:rPr>
                            <a:rPr lang="fr-FR" dirty="0"/>
                            <m:t>p</m:t>
                          </m:r>
                          <m:r>
                            <m:rPr>
                              <m:nor/>
                            </m:rPr>
                            <a:rPr lang="fr-FR" dirty="0"/>
                            <m:t>(</m:t>
                          </m:r>
                          <m:r>
                            <m:rPr>
                              <m:sty m:val="p"/>
                            </m:rP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𝛽𝜎</m:t>
                          </m:r>
                          <m:r>
                            <m:rPr>
                              <m:nor/>
                            </m:rPr>
                            <a:rPr lang="fr-FR" dirty="0"/>
                            <m:t>) </m:t>
                          </m:r>
                          <m:r>
                            <m:rPr>
                              <m:nor/>
                            </m:rPr>
                            <a:rPr lang="fr-FR" dirty="0"/>
                            <m:t>d</m:t>
                          </m:r>
                          <m:r>
                            <m:rPr>
                              <m:nor/>
                            </m:rPr>
                            <a:rPr lang="fr-FR" dirty="0"/>
                            <m:t>(</m:t>
                          </m:r>
                          <m:r>
                            <m:rPr>
                              <m:sty m:val="p"/>
                            </m:rP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α</m:t>
                          </m:r>
                          <m:r>
                            <m:rPr>
                              <m:nor/>
                            </m:rPr>
                            <a:rPr lang="fr-FR" dirty="0"/>
                            <m:t>)</m:t>
                          </m:r>
                          <m:r>
                            <m:rPr>
                              <m:nor/>
                            </m:rPr>
                            <a:rPr lang="fr-FR" dirty="0"/>
                            <m:t>d</m:t>
                          </m:r>
                          <m:r>
                            <m:rPr>
                              <m:nor/>
                            </m:rPr>
                            <a:rPr lang="fr-FR" dirty="0"/>
                            <m:t>(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fr-FR" dirty="0"/>
                            <m:t>)</m:t>
                          </m:r>
                          <m:r>
                            <m:rPr>
                              <m:nor/>
                            </m:rPr>
                            <a:rPr lang="fr-FR" dirty="0"/>
                            <m:t>d</m:t>
                          </m:r>
                          <m:r>
                            <m:rPr>
                              <m:nor/>
                            </m:rPr>
                            <a:rPr lang="fr-FR" dirty="0"/>
                            <m:t>(</m:t>
                          </m:r>
                          <m:r>
                            <a:rPr lang="el-GR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fr-FR" dirty="0"/>
                            <m:t>)</m:t>
                          </m:r>
                        </m:e>
                      </m:nary>
                    </m:oMath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id="{A5030873-3877-7A9E-F60B-65C3FC4C01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897" y="4943178"/>
                  <a:ext cx="3379691" cy="1045286"/>
                </a:xfrm>
                <a:prstGeom prst="rect">
                  <a:avLst/>
                </a:prstGeom>
                <a:blipFill>
                  <a:blip r:embed="rId3"/>
                  <a:stretch>
                    <a:fillRect l="-4818" t="-18713" b="-49708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E908582C-B8D0-F073-32BE-D208C7290AE9}"/>
              </a:ext>
            </a:extLst>
          </p:cNvPr>
          <p:cNvSpPr txBox="1"/>
          <p:nvPr/>
        </p:nvSpPr>
        <p:spPr>
          <a:xfrm>
            <a:off x="4613018" y="489366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latin typeface="Aptos Light" panose="020B00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Le dénominateur du théorème de Bayes devient rapidement impossible à calculer</a:t>
            </a:r>
          </a:p>
          <a:p>
            <a:endParaRPr lang="fr-FR" b="1" dirty="0">
              <a:latin typeface="Aptos Light" panose="020B00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latin typeface="Aptos Light" panose="020B00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Solution : approche par simulations</a:t>
            </a:r>
            <a:endParaRPr lang="fr-FR" b="1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69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65A65-8D9B-2A91-1CE7-8B54E6566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765A5CB-2C18-76B5-15F9-1E252668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87F005-0BAA-B881-6F87-DF5AB487229C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F1647E9-AA70-16D5-7CFA-46C1F854FC33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AEB8F3-A086-365E-85D3-2BF63BAAC517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F9E2AB08-255C-76F4-DFEA-8FF9DB5F568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D3260D29-00C0-49F7-EDD0-FF800F213D44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5BDD68C-0D02-8D47-8B5A-D723ECA3D0F6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EC4156E4-91C4-BFD8-4D16-C2541D4A929A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A6CFCFA-BB27-4378-08EC-6B0E588D8A10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</p:spTree>
    <p:extLst>
      <p:ext uri="{BB962C8B-B14F-4D97-AF65-F5344CB8AC3E}">
        <p14:creationId xmlns:p14="http://schemas.microsoft.com/office/powerpoint/2010/main" val="38753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6316-F638-F104-792D-24CD565F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24C08F-D7FB-B38D-2D56-2AF8A2A5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8DD408-8599-80DE-2FCA-962F2329EE0F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3B99DF8-88DE-0994-35ED-C37B769751C5}"/>
                  </a:ext>
                </a:extLst>
              </p:cNvPr>
              <p:cNvSpPr txBox="1"/>
              <p:nvPr/>
            </p:nvSpPr>
            <p:spPr>
              <a:xfrm>
                <a:off x="2312894" y="2626013"/>
                <a:ext cx="56477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endParaRPr lang="fr-FR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C3B99DF8-88DE-0994-35ED-C37B76975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894" y="2626013"/>
                <a:ext cx="5647764" cy="646331"/>
              </a:xfrm>
              <a:prstGeom prst="rect">
                <a:avLst/>
              </a:prstGeom>
              <a:blipFill>
                <a:blip r:embed="rId2"/>
                <a:stretch>
                  <a:fillRect l="-863" t="-47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108AE1A-0518-2FD4-315A-8410563D2A70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90D9F3C-BEFF-A0FB-26FE-CE9AA6701DD9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CD9C64-5784-7105-BF42-60724751361B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27CD9C64-5784-7105-BF42-607247513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09E82B7C-AC4E-7BC0-C7A5-89193FB78826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C4CBD5A-94F4-7B93-A518-B1A33BA6BCB8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B7CFAB2-1288-B843-13A4-2F66FF660E95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E68AAB5-4A50-272B-3FDB-710FDB2FCE72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4F809D46-6765-1A1D-FD29-A3E5C751B4B1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25">
            <a:extLst>
              <a:ext uri="{FF2B5EF4-FFF2-40B4-BE49-F238E27FC236}">
                <a16:creationId xmlns:a16="http://schemas.microsoft.com/office/drawing/2014/main" id="{ECDC75D6-0BC4-5823-6D13-BEC2994A2D9E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C0F0B27C-732A-DB25-F42D-A9841A1C910D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9EEC144A-4F67-282B-6862-B35DCA223F64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C41916E-2093-EC36-2D56-89665FF3E80A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</p:spTree>
    <p:extLst>
      <p:ext uri="{BB962C8B-B14F-4D97-AF65-F5344CB8AC3E}">
        <p14:creationId xmlns:p14="http://schemas.microsoft.com/office/powerpoint/2010/main" val="50631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A8F9-5B8E-51BA-0857-68A749350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B9BD3B-E738-D4FE-5EBE-A16D3AEE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C579C7-5ACF-5F3B-E9B1-9F5DFA6816FE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E560C3F8-EE4D-16D9-B860-0F9175A049E8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97129A7-B918-B81D-6FAA-219899B7BE94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145DB2AE-FD04-97FF-34AE-F186E325D5E6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145DB2AE-FD04-97FF-34AE-F186E325D5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E66F36B0-840B-8E59-15D6-2BBD2748F8C6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07A0742-AFD0-7CE9-DF65-48B9D152DEAD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18FC432-94E1-C6A8-11D1-6CD7060F6C15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0955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  <a:endParaRPr lang="fr-FR" dirty="0">
                  <a:ea typeface="ADLaM Display" panose="020F0502020204030204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18FC432-94E1-C6A8-11D1-6CD7060F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095558" cy="646331"/>
              </a:xfrm>
              <a:prstGeom prst="rect">
                <a:avLst/>
              </a:prstGeom>
              <a:blipFill>
                <a:blip r:embed="rId3"/>
                <a:stretch>
                  <a:fillRect l="-773" t="-4717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E04CC936-15FB-1A0B-AF9D-E89F60D8C5F3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08CA77D-2726-3792-4231-A9A45912C73F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DF439C9C-A3D5-7DB5-45C8-5095A81A4D2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41BCC1BE-0F21-687E-FC06-655C73703ACC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E262F2C2-C887-AC27-0BC3-86B778D19F43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59600E51-2C28-D100-2ABE-94C1CBAFFA0B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1102CAF-2768-B402-F47B-36AB0544D35D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E789F09-2D42-A7EB-9911-DAEB1E5EA170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39297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640CC-EB30-DC5B-9E73-B1811AE10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E1BF0B-C8C4-1E62-4461-B31ADC2D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A0F791-7641-3741-915F-A49A5EE2D132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F6A0028-E7ED-C173-D6C4-EDC40AF0F326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52F2736-DC48-D162-E3A3-98AF112E11C7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D8A53EE-FDF4-985F-BAD1-C9682E5FF241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D8A53EE-FDF4-985F-BAD1-C9682E5FF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05C2A095-1258-654B-F3D7-299AA892ABA9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43CD573-2C5C-632E-385C-998BC64F17F7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FDE718D-1F39-4774-64AF-A8F75BB383FE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57068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3 – On calcule le ratio des vraisemblances : </a:t>
                </a:r>
                <a:r>
                  <a:rPr lang="fr-FR" b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 = (0,5|données)/(0,7|données)</a:t>
                </a:r>
              </a:p>
              <a:p>
                <a:r>
                  <a:rPr lang="fr-FR" i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Pour ça, on applique le théorème de Bayes (le dénominateur s’annule)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FDE718D-1F39-4774-64AF-A8F75BB3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570688" cy="1200329"/>
              </a:xfrm>
              <a:prstGeom prst="rect">
                <a:avLst/>
              </a:prstGeom>
              <a:blipFill>
                <a:blip r:embed="rId3"/>
                <a:stretch>
                  <a:fillRect l="-725" t="-2538" b="-71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4CCB02B2-E2CF-933A-8B3A-E1D913ED32F8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6D7D3D4-88D3-AB9C-65CA-2B3C14E5D7D1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ECDB4CE-06C0-D5FF-97DA-CD3A82F78373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793CF39B-C994-6D77-9773-7C191D219C14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4DE4F0D6-BA17-4DE8-EFDF-7317B80CB92C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4AACCD56-FB98-21D3-F866-11F9C59059CC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53849382-4165-8499-0FAD-39204554C318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1C4B68C9-C912-5ACB-A8C6-CB6CEEF34F5B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2505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32B5-09FA-D4C7-C8E3-A70BE2B1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D4F03B-D544-DC36-40A7-C859C642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616FF9-FC19-F768-8321-382CFD5120A0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32B6EF7-9DDA-0DD0-1145-03E12226D192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1B163D62-2FF0-F122-9BA0-2B911641BA13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86ADB751-92F9-90B5-3C69-42CE155D27F9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86ADB751-92F9-90B5-3C69-42CE155D2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A16EE2A5-D4C8-F21A-D18E-DEE399B04A8E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BAB72D46-A1E6-5AD1-8F2A-1D7AB2C5A39F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304FC30-294E-0360-5112-B2BA1351671E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57068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3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calcule le ratio des vraisemblances : </a:t>
                </a:r>
                <a:r>
                  <a:rPr lang="fr-FR" b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 = (0,5|données)/(0,7|données)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4</a:t>
                </a:r>
                <a:r>
                  <a:rPr lang="fr-FR" dirty="0"/>
                  <a:t> – 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Si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 &gt;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), on accepte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avec une probabilité 1 – R</a:t>
                </a:r>
              </a:p>
              <a:p>
                <a:r>
                  <a:rPr lang="fr-FR" i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Où R est un critère d’acceptation. </a:t>
                </a:r>
              </a:p>
              <a:p>
                <a:r>
                  <a:rPr lang="fr-FR" i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Si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i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est rejetée, on revient à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i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. Sinon, on continue.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2304FC30-294E-0360-5112-B2BA13516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570688" cy="1754326"/>
              </a:xfrm>
              <a:prstGeom prst="rect">
                <a:avLst/>
              </a:prstGeom>
              <a:blipFill>
                <a:blip r:embed="rId3"/>
                <a:stretch>
                  <a:fillRect l="-725" t="-1736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13541D5F-BAFF-A4F5-4CC2-6A82B068CFAA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DAD5C3A-3964-6C63-E654-CA6B774464E7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028B321-3F91-82EA-3CB9-A749063FA379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BE2CFE72-2D76-E931-F32E-A326DF63578A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40C5557-AC1A-BBFC-C597-F6955486F7D0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A5314263-51E2-F367-3355-6597C30BDA28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210ADEF-0A72-4A87-8AB6-A329880DC5B5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CDE347B-B828-C46F-DA4E-A0AED407DF44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1014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5AD66-B778-55D5-514C-A471EE360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AACA95-4DAD-FB82-927E-227041061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412BCEE-41FE-5EB5-3E34-208131E22FA0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5158772-8119-6460-52E1-EA8575ADB141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972B563-39DD-5C03-6741-E4856879342E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FA46103-88DD-5068-D54A-A0ABBD3E7B48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BFA46103-88DD-5068-D54A-A0ABBD3E7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CD1635C5-5AF1-6B01-F405-85F37C43C986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8317907A-4595-0F8E-B890-A91C56F4DAED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E5EC6260-6CB6-C380-7BBA-F7AFE4FC653F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57068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3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calcule le ratio des vraisemblances : </a:t>
                </a:r>
                <a:r>
                  <a:rPr lang="fr-FR" b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 = (0,5|données)/(0,7|données)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4</a:t>
                </a:r>
                <a:r>
                  <a:rPr lang="fr-FR" dirty="0"/>
                  <a:t> – 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Si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 &gt;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), on accepte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avec une probabilité 1 – R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5 – Si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passe le critère d’acceptation, on l’accepte et on recommence à l’étape 1 avec cette nouvelle valeur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E5EC6260-6CB6-C380-7BBA-F7AFE4FC6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570688" cy="1754326"/>
              </a:xfrm>
              <a:prstGeom prst="rect">
                <a:avLst/>
              </a:prstGeom>
              <a:blipFill>
                <a:blip r:embed="rId3"/>
                <a:stretch>
                  <a:fillRect l="-725" t="-1736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616C3130-4966-1254-2A4B-2AFC6C77DC58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E8CB9FE-0378-D2B9-77E9-C554EB36FCCC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3DDDC7C-91ED-16BC-74ED-E2C0A5579910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57B1DD74-5498-2F81-E16E-F0590BF39229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F647689-8908-3120-56EA-77A9E5A1B0C3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E70E7C46-F108-3575-F123-EC15B6DA8BC9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6D9225A-AAA0-BF37-394A-B54AA17352C4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3910A88-59E5-7E94-B070-11EA7E7FAF36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7CBA5ADE-FE2E-B1CB-2457-5B09A155BF4C}"/>
              </a:ext>
            </a:extLst>
          </p:cNvPr>
          <p:cNvSpPr/>
          <p:nvPr/>
        </p:nvSpPr>
        <p:spPr>
          <a:xfrm>
            <a:off x="1331262" y="58829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91A428F-F58F-FA7C-E30A-8D9F62E29B03}"/>
              </a:ext>
            </a:extLst>
          </p:cNvPr>
          <p:cNvSpPr/>
          <p:nvPr/>
        </p:nvSpPr>
        <p:spPr>
          <a:xfrm>
            <a:off x="1600203" y="613401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40764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BEB-CCA9-75B0-2CA7-46CDEB2F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96E631-79CA-43E6-D03A-94450EE6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338430-61A2-7950-FC2E-897BE9EC82CD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682E1EC-00D6-BA4B-385E-B61A5F2CE4E6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A84F0FF-92C1-C02E-C55E-4368C523F952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8BFF677-0732-9B7B-9E4E-9A2BA2486383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38BFF677-0732-9B7B-9E4E-9A2BA2486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EEB81D07-289B-ABAA-6F95-4106E462F536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B524B7B-B1D3-F3EF-622F-101A2B26946B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BF03355-5B76-0917-3DC8-9190B4494161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57068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3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calcule le ratio des vraisemblances : </a:t>
                </a:r>
                <a:r>
                  <a:rPr lang="fr-FR" b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 = (0,5|données)/(0,7|données)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4</a:t>
                </a:r>
                <a:r>
                  <a:rPr lang="fr-FR" dirty="0"/>
                  <a:t> – 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Si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 &gt;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), on accepte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avec une probabilité 1 – R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5 – Si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passe le critère d’acceptation, on l’accepte et on recommence à l’étape 1 avec cette nouvelle valeur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&gt; On crée ainsi une chaîne de valeurs a posteriori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BF03355-5B76-0917-3DC8-9190B4494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570688" cy="2031325"/>
              </a:xfrm>
              <a:prstGeom prst="rect">
                <a:avLst/>
              </a:prstGeom>
              <a:blipFill>
                <a:blip r:embed="rId3"/>
                <a:stretch>
                  <a:fillRect l="-725" t="-1502" b="-39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50CD9EEB-81B0-DE19-4FD4-24A56F4CC4AF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AEF925F-5DC7-5990-290A-07558DCDB0F7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481693C8-5825-698C-3DE3-01DDBE022A67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AEB0CF71-8F72-6563-E801-544794481EDB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FCF4A83-BEC6-E5E5-A1E1-08928DBB0BC7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F578B976-DA83-66E1-9A81-30E937600A58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7816618-5573-1553-F11B-E77BE4DF617A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0B5DA07-7689-8008-0B49-3D5A1D6CFB1E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64359E45-C59A-67FF-B509-938CC82B8561}"/>
              </a:ext>
            </a:extLst>
          </p:cNvPr>
          <p:cNvSpPr/>
          <p:nvPr/>
        </p:nvSpPr>
        <p:spPr>
          <a:xfrm>
            <a:off x="1331262" y="58829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AFCEC9C-04EF-E2AD-9FBB-07582D6D9B28}"/>
              </a:ext>
            </a:extLst>
          </p:cNvPr>
          <p:cNvSpPr/>
          <p:nvPr/>
        </p:nvSpPr>
        <p:spPr>
          <a:xfrm>
            <a:off x="1600203" y="613401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BFE6C15-B2E8-5930-890B-E340909811CE}"/>
              </a:ext>
            </a:extLst>
          </p:cNvPr>
          <p:cNvSpPr/>
          <p:nvPr/>
        </p:nvSpPr>
        <p:spPr>
          <a:xfrm>
            <a:off x="1815356" y="572163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19BAF8A-7E38-681A-D489-7B1BE0068EB3}"/>
              </a:ext>
            </a:extLst>
          </p:cNvPr>
          <p:cNvSpPr/>
          <p:nvPr/>
        </p:nvSpPr>
        <p:spPr>
          <a:xfrm>
            <a:off x="2057403" y="538097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BFB6D9C-3F21-E2AD-ECF9-AFE626754B4D}"/>
              </a:ext>
            </a:extLst>
          </p:cNvPr>
          <p:cNvSpPr/>
          <p:nvPr/>
        </p:nvSpPr>
        <p:spPr>
          <a:xfrm>
            <a:off x="2209803" y="562302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1C4FF77-271A-8389-B397-16F11C34E23D}"/>
              </a:ext>
            </a:extLst>
          </p:cNvPr>
          <p:cNvSpPr/>
          <p:nvPr/>
        </p:nvSpPr>
        <p:spPr>
          <a:xfrm>
            <a:off x="2541498" y="5237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655DCF8-BDC9-541E-F235-DA5319FB6331}"/>
              </a:ext>
            </a:extLst>
          </p:cNvPr>
          <p:cNvSpPr/>
          <p:nvPr/>
        </p:nvSpPr>
        <p:spPr>
          <a:xfrm>
            <a:off x="2729758" y="54795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79BD6FC-336A-2B8B-98C2-96C8FEBCACE7}"/>
              </a:ext>
            </a:extLst>
          </p:cNvPr>
          <p:cNvSpPr/>
          <p:nvPr/>
        </p:nvSpPr>
        <p:spPr>
          <a:xfrm>
            <a:off x="2971805" y="522857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ED6665B8-C29D-EB84-AFD3-9D81DEA724FF}"/>
              </a:ext>
            </a:extLst>
          </p:cNvPr>
          <p:cNvSpPr/>
          <p:nvPr/>
        </p:nvSpPr>
        <p:spPr>
          <a:xfrm>
            <a:off x="3124205" y="555130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5948FCB-98EA-F431-EDAE-B2C48B6BA54E}"/>
              </a:ext>
            </a:extLst>
          </p:cNvPr>
          <p:cNvSpPr/>
          <p:nvPr/>
        </p:nvSpPr>
        <p:spPr>
          <a:xfrm>
            <a:off x="3393146" y="52106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7B3B6D1-57F7-982F-B636-3528E45AC6C4}"/>
              </a:ext>
            </a:extLst>
          </p:cNvPr>
          <p:cNvSpPr/>
          <p:nvPr/>
        </p:nvSpPr>
        <p:spPr>
          <a:xfrm>
            <a:off x="3545546" y="55333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0A80AA48-4D50-5323-4DE2-3BA0E284E46B}"/>
              </a:ext>
            </a:extLst>
          </p:cNvPr>
          <p:cNvSpPr/>
          <p:nvPr/>
        </p:nvSpPr>
        <p:spPr>
          <a:xfrm>
            <a:off x="3769664" y="534511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C11062C-DAB5-BC2A-4717-BFF70729694A}"/>
              </a:ext>
            </a:extLst>
          </p:cNvPr>
          <p:cNvSpPr/>
          <p:nvPr/>
        </p:nvSpPr>
        <p:spPr>
          <a:xfrm>
            <a:off x="4128253" y="53899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1F5BC5D-4A29-04B9-E588-4FE1FB2C22EE}"/>
              </a:ext>
            </a:extLst>
          </p:cNvPr>
          <p:cNvSpPr/>
          <p:nvPr/>
        </p:nvSpPr>
        <p:spPr>
          <a:xfrm>
            <a:off x="4459948" y="52644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D4FDF14-1D43-267A-FEA7-F560840672E9}"/>
              </a:ext>
            </a:extLst>
          </p:cNvPr>
          <p:cNvSpPr/>
          <p:nvPr/>
        </p:nvSpPr>
        <p:spPr>
          <a:xfrm>
            <a:off x="4782677" y="53989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3DE69689-481C-C74F-D92F-8703E51FC132}"/>
              </a:ext>
            </a:extLst>
          </p:cNvPr>
          <p:cNvSpPr/>
          <p:nvPr/>
        </p:nvSpPr>
        <p:spPr>
          <a:xfrm>
            <a:off x="5114370" y="527339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4632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0BC0-CCE8-2DFE-510A-179D89F2A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F7AB6-14DB-8184-DE5A-44785D5BC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628F2ED-03E0-147E-2C7E-ADBCC9198991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49542B4-038A-C43E-8066-62265E59675A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CF5917FE-6CE0-4BA7-B84A-0FAC06A273EC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3F9A955-F6AC-28EC-4DEF-3873B8F29452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3F9A955-F6AC-28EC-4DEF-3873B8F29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303CE565-F1F8-7764-3327-A862B52A385D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51DFBDD-9589-6F28-9CA2-4048B5E187A1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8C2286D-434E-3871-9153-8F47EC0D3D98}"/>
                  </a:ext>
                </a:extLst>
              </p:cNvPr>
              <p:cNvSpPr txBox="1"/>
              <p:nvPr/>
            </p:nvSpPr>
            <p:spPr>
              <a:xfrm>
                <a:off x="865100" y="2626013"/>
                <a:ext cx="757068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/>
                  <a:t>1 - On tire une valeur de départ arbitraire : p.ex.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0,5</a:t>
                </a:r>
                <a:endParaRPr lang="fr-FR" b="1" dirty="0">
                  <a:latin typeface="Arial" panose="020B0604020202020204" pitchFamily="34" charset="0"/>
                  <a:ea typeface="ADLaM Display" panose="020F0502020204030204" pitchFamily="2" charset="0"/>
                  <a:cs typeface="Arial" panose="020B0604020202020204" pitchFamily="34" charset="0"/>
                </a:endParaRP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2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ajoute une petite valeur à partir d’une loi normale : p.ex.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fr-FR" b="1" dirty="0"/>
                  <a:t>0,7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3 </a:t>
                </a:r>
                <a:r>
                  <a:rPr lang="fr-FR" dirty="0"/>
                  <a:t>-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On calcule le ratio des vraisemblances : </a:t>
                </a:r>
                <a:r>
                  <a:rPr lang="fr-FR" b="1" dirty="0">
                    <a:ea typeface="ADLaM Display" panose="020F0502020204030204" pitchFamily="2" charset="0"/>
                    <a:cs typeface="Arial" panose="020B0604020202020204" pitchFamily="34" charset="0"/>
                  </a:rPr>
                  <a:t>p = (0,5|données)/(0,7|données)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4</a:t>
                </a:r>
                <a:r>
                  <a:rPr lang="fr-FR" dirty="0"/>
                  <a:t> – </a:t>
                </a:r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Si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 &gt; L(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), on accepte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avec une probabilité 1 – R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5 – Si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 passe le critère d’acceptation, on l’accepte et on recommence à l’étape 1 avec cette nouvelle valeur</a:t>
                </a:r>
              </a:p>
              <a:p>
                <a:r>
                  <a:rPr lang="fr-FR" dirty="0">
                    <a:ea typeface="ADLaM Display" panose="020F0502020204030204" pitchFamily="2" charset="0"/>
                    <a:cs typeface="Arial" panose="020B0604020202020204" pitchFamily="34" charset="0"/>
                  </a:rPr>
                  <a:t>&gt; On crée ainsi une chaîne de valeurs a posteriori</a:t>
                </a: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8C2286D-434E-3871-9153-8F47EC0D3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100" y="2626013"/>
                <a:ext cx="7570688" cy="2031325"/>
              </a:xfrm>
              <a:prstGeom prst="rect">
                <a:avLst/>
              </a:prstGeom>
              <a:blipFill>
                <a:blip r:embed="rId3"/>
                <a:stretch>
                  <a:fillRect l="-725" t="-1502" b="-39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ZoneTexte 10">
            <a:extLst>
              <a:ext uri="{FF2B5EF4-FFF2-40B4-BE49-F238E27FC236}">
                <a16:creationId xmlns:a16="http://schemas.microsoft.com/office/drawing/2014/main" id="{63B12EB7-A65D-F5F8-1951-F467A9A04454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B9AA0A1-11E3-F8DC-BC33-1C7E805755CC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F17FDDB-23A3-664C-5B07-1DEA6F57DEA2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6F4E13F5-3018-2F45-EEBB-0E0853130051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7344A69-70C0-2C50-3BBA-B01D8ED3CB75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D7CD2C7-40EB-113C-C027-29C0B298CD92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E25C1FF-323E-C087-E730-BB5C9D071950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16EA54B-5F3E-8D60-8276-6135451B0C81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28D54707-682D-4652-DE9C-20EC80F01E60}"/>
              </a:ext>
            </a:extLst>
          </p:cNvPr>
          <p:cNvSpPr/>
          <p:nvPr/>
        </p:nvSpPr>
        <p:spPr>
          <a:xfrm>
            <a:off x="1331262" y="58829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C82A662-A876-A95B-3CBD-29529A7E1794}"/>
              </a:ext>
            </a:extLst>
          </p:cNvPr>
          <p:cNvSpPr/>
          <p:nvPr/>
        </p:nvSpPr>
        <p:spPr>
          <a:xfrm>
            <a:off x="1600203" y="613401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6B3597A-33A5-EFDA-39BD-F31DBD2548A5}"/>
              </a:ext>
            </a:extLst>
          </p:cNvPr>
          <p:cNvSpPr/>
          <p:nvPr/>
        </p:nvSpPr>
        <p:spPr>
          <a:xfrm>
            <a:off x="1815356" y="572163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DD56219-C188-AC89-895E-B6512C952E45}"/>
              </a:ext>
            </a:extLst>
          </p:cNvPr>
          <p:cNvSpPr/>
          <p:nvPr/>
        </p:nvSpPr>
        <p:spPr>
          <a:xfrm>
            <a:off x="2057403" y="538097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E82830A-6A61-1B20-DD76-4238322AFB0B}"/>
              </a:ext>
            </a:extLst>
          </p:cNvPr>
          <p:cNvSpPr/>
          <p:nvPr/>
        </p:nvSpPr>
        <p:spPr>
          <a:xfrm>
            <a:off x="2209803" y="562302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6AD67B0E-74A5-6A41-3A65-CB21F9E626EE}"/>
              </a:ext>
            </a:extLst>
          </p:cNvPr>
          <p:cNvSpPr/>
          <p:nvPr/>
        </p:nvSpPr>
        <p:spPr>
          <a:xfrm>
            <a:off x="2541498" y="5237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67A81CF7-659E-763A-6752-30BE1332B2E3}"/>
              </a:ext>
            </a:extLst>
          </p:cNvPr>
          <p:cNvSpPr/>
          <p:nvPr/>
        </p:nvSpPr>
        <p:spPr>
          <a:xfrm>
            <a:off x="2729758" y="54795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283F8D9-D1BC-5041-8A45-70118956C9AB}"/>
              </a:ext>
            </a:extLst>
          </p:cNvPr>
          <p:cNvSpPr/>
          <p:nvPr/>
        </p:nvSpPr>
        <p:spPr>
          <a:xfrm>
            <a:off x="2971805" y="522857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7CA1E44-ABAB-3C61-E181-029D7E16D205}"/>
              </a:ext>
            </a:extLst>
          </p:cNvPr>
          <p:cNvSpPr/>
          <p:nvPr/>
        </p:nvSpPr>
        <p:spPr>
          <a:xfrm>
            <a:off x="3124205" y="555130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8818D86-0EFF-1C73-0E8F-84C2AA5B8CBF}"/>
              </a:ext>
            </a:extLst>
          </p:cNvPr>
          <p:cNvSpPr/>
          <p:nvPr/>
        </p:nvSpPr>
        <p:spPr>
          <a:xfrm>
            <a:off x="3393146" y="52106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C50ED1BE-2F48-D5FC-7308-2FDE95F36AEA}"/>
              </a:ext>
            </a:extLst>
          </p:cNvPr>
          <p:cNvSpPr/>
          <p:nvPr/>
        </p:nvSpPr>
        <p:spPr>
          <a:xfrm>
            <a:off x="3545546" y="55333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A62970F-0022-E7F9-5C67-5926396DD511}"/>
              </a:ext>
            </a:extLst>
          </p:cNvPr>
          <p:cNvSpPr/>
          <p:nvPr/>
        </p:nvSpPr>
        <p:spPr>
          <a:xfrm>
            <a:off x="3769664" y="534511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6BD07206-2E5B-CCB9-995E-91303F865DF1}"/>
              </a:ext>
            </a:extLst>
          </p:cNvPr>
          <p:cNvSpPr/>
          <p:nvPr/>
        </p:nvSpPr>
        <p:spPr>
          <a:xfrm>
            <a:off x="4128253" y="53899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C0A32C39-42FB-771A-154A-8E6FE6B4740B}"/>
              </a:ext>
            </a:extLst>
          </p:cNvPr>
          <p:cNvSpPr/>
          <p:nvPr/>
        </p:nvSpPr>
        <p:spPr>
          <a:xfrm>
            <a:off x="4459948" y="52644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F83627AF-BF11-E5C2-CBBD-637325BC0EB3}"/>
              </a:ext>
            </a:extLst>
          </p:cNvPr>
          <p:cNvSpPr/>
          <p:nvPr/>
        </p:nvSpPr>
        <p:spPr>
          <a:xfrm>
            <a:off x="4782677" y="53989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678549E-A7EB-B216-28F4-B4652BF7CDAC}"/>
              </a:ext>
            </a:extLst>
          </p:cNvPr>
          <p:cNvSpPr/>
          <p:nvPr/>
        </p:nvSpPr>
        <p:spPr>
          <a:xfrm>
            <a:off x="5114370" y="527339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378EF77D-01F8-3D20-4D9E-BB89D5E362C3}"/>
              </a:ext>
            </a:extLst>
          </p:cNvPr>
          <p:cNvSpPr txBox="1"/>
          <p:nvPr/>
        </p:nvSpPr>
        <p:spPr>
          <a:xfrm>
            <a:off x="5298141" y="4695992"/>
            <a:ext cx="350071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Algorithme de Metropolis - Hastings</a:t>
            </a:r>
            <a:endParaRPr lang="fr-FR" b="1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5478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7102C-4F39-2776-4989-6B630EFF0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331550-891C-E2BD-2D4B-68284C97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1080F8-ABBE-4C95-29D1-C97DF8D1DC44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18ACB060-9DAA-8B3B-0F3E-7B179E42E1DA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E990563-1985-B644-65A4-CA3F8C0598C3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14C7CC6-0628-8E56-2EE4-6F96C4ACB7BA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914C7CC6-0628-8E56-2EE4-6F96C4ACB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0AA16B3E-3850-995F-4448-A7AC5B56FF9D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4DAE6DC-0C4D-5229-CD26-80401B7E6058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E12486C-C30F-9462-08C7-97A00EA74989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29B492BE-3AA3-FCD3-C741-E56513FA14F9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F43753F1-8BBC-EDBA-634B-8FBDCC9C9DF1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4333CC3A-124F-5D54-C62D-B626BC6D2BE4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76213B69-67D7-0335-06ED-87FDE11959C3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216069F0-48A7-6F5B-1BBC-B7591252BD4E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4B347A5-4C4C-6085-5B61-1C6B7B9206C3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74E0F29A-69D7-4142-3D43-2BF0B822D1F5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FC9FCD72-4092-863E-2CAB-D3B34090E3FA}"/>
              </a:ext>
            </a:extLst>
          </p:cNvPr>
          <p:cNvSpPr/>
          <p:nvPr/>
        </p:nvSpPr>
        <p:spPr>
          <a:xfrm>
            <a:off x="1331262" y="58829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B8CD81F-B898-80EA-099C-9DE404BD01B0}"/>
              </a:ext>
            </a:extLst>
          </p:cNvPr>
          <p:cNvSpPr/>
          <p:nvPr/>
        </p:nvSpPr>
        <p:spPr>
          <a:xfrm>
            <a:off x="1600203" y="613401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2F35FBE-7F15-A264-0C49-ABE14687B910}"/>
              </a:ext>
            </a:extLst>
          </p:cNvPr>
          <p:cNvSpPr/>
          <p:nvPr/>
        </p:nvSpPr>
        <p:spPr>
          <a:xfrm>
            <a:off x="1815356" y="572163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740C05A-3E1D-EFE2-BEFE-2BA2EA05EEE2}"/>
              </a:ext>
            </a:extLst>
          </p:cNvPr>
          <p:cNvSpPr/>
          <p:nvPr/>
        </p:nvSpPr>
        <p:spPr>
          <a:xfrm>
            <a:off x="2057403" y="538097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AE17E817-BCD5-055F-FF1C-E5AF61E005C5}"/>
              </a:ext>
            </a:extLst>
          </p:cNvPr>
          <p:cNvSpPr/>
          <p:nvPr/>
        </p:nvSpPr>
        <p:spPr>
          <a:xfrm>
            <a:off x="2209803" y="562302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FF5DEB1-E882-E7D6-D2FF-C35EA7CBC312}"/>
              </a:ext>
            </a:extLst>
          </p:cNvPr>
          <p:cNvSpPr/>
          <p:nvPr/>
        </p:nvSpPr>
        <p:spPr>
          <a:xfrm>
            <a:off x="2541498" y="5237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07C1F76-3264-83D2-474D-D00E037941E4}"/>
              </a:ext>
            </a:extLst>
          </p:cNvPr>
          <p:cNvSpPr/>
          <p:nvPr/>
        </p:nvSpPr>
        <p:spPr>
          <a:xfrm>
            <a:off x="2729758" y="54795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B91E06B-080F-22AE-A344-BE80EAFB34F3}"/>
              </a:ext>
            </a:extLst>
          </p:cNvPr>
          <p:cNvSpPr/>
          <p:nvPr/>
        </p:nvSpPr>
        <p:spPr>
          <a:xfrm>
            <a:off x="2971805" y="522857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4324B53-E96A-9A7A-7F24-171E5E9DD17C}"/>
              </a:ext>
            </a:extLst>
          </p:cNvPr>
          <p:cNvSpPr/>
          <p:nvPr/>
        </p:nvSpPr>
        <p:spPr>
          <a:xfrm>
            <a:off x="3124205" y="555130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7E8770CE-0645-D916-262A-20060C26C06A}"/>
              </a:ext>
            </a:extLst>
          </p:cNvPr>
          <p:cNvSpPr/>
          <p:nvPr/>
        </p:nvSpPr>
        <p:spPr>
          <a:xfrm>
            <a:off x="3393146" y="52106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270D872-B649-57D7-69F6-EA8E3ED4B340}"/>
              </a:ext>
            </a:extLst>
          </p:cNvPr>
          <p:cNvSpPr/>
          <p:nvPr/>
        </p:nvSpPr>
        <p:spPr>
          <a:xfrm>
            <a:off x="3545546" y="55333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E6A3345C-F70A-925A-76E3-D466B53B26B5}"/>
              </a:ext>
            </a:extLst>
          </p:cNvPr>
          <p:cNvSpPr/>
          <p:nvPr/>
        </p:nvSpPr>
        <p:spPr>
          <a:xfrm>
            <a:off x="3769664" y="534511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155A0A60-85B3-6782-807A-5DAC93F7FC34}"/>
              </a:ext>
            </a:extLst>
          </p:cNvPr>
          <p:cNvSpPr/>
          <p:nvPr/>
        </p:nvSpPr>
        <p:spPr>
          <a:xfrm>
            <a:off x="4128253" y="53899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B1B872F7-C4B5-509B-E7A0-A2E567099743}"/>
              </a:ext>
            </a:extLst>
          </p:cNvPr>
          <p:cNvSpPr/>
          <p:nvPr/>
        </p:nvSpPr>
        <p:spPr>
          <a:xfrm>
            <a:off x="4459948" y="52644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CCE736F-EB60-042D-9CE5-AE56E602F2B3}"/>
              </a:ext>
            </a:extLst>
          </p:cNvPr>
          <p:cNvSpPr/>
          <p:nvPr/>
        </p:nvSpPr>
        <p:spPr>
          <a:xfrm>
            <a:off x="4782677" y="53989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AD68B537-F87A-F6F3-9084-14D0FF7F62E1}"/>
              </a:ext>
            </a:extLst>
          </p:cNvPr>
          <p:cNvSpPr/>
          <p:nvPr/>
        </p:nvSpPr>
        <p:spPr>
          <a:xfrm>
            <a:off x="5114370" y="527339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266AFE3-E8B8-B6A8-AB22-CCD973A9C740}"/>
              </a:ext>
            </a:extLst>
          </p:cNvPr>
          <p:cNvCxnSpPr/>
          <p:nvPr/>
        </p:nvCxnSpPr>
        <p:spPr>
          <a:xfrm>
            <a:off x="914400" y="4329953"/>
            <a:ext cx="285526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D5464804-B688-6423-DB8C-3FD546724B1E}"/>
              </a:ext>
            </a:extLst>
          </p:cNvPr>
          <p:cNvSpPr txBox="1"/>
          <p:nvPr/>
        </p:nvSpPr>
        <p:spPr>
          <a:xfrm>
            <a:off x="1089215" y="4037923"/>
            <a:ext cx="2528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Burn – in : les itérations fluctuent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68A70B81-FDD2-456B-D1F1-1B0AA5F6DFA6}"/>
              </a:ext>
            </a:extLst>
          </p:cNvPr>
          <p:cNvCxnSpPr>
            <a:cxnSpLocks/>
          </p:cNvCxnSpPr>
          <p:nvPr/>
        </p:nvCxnSpPr>
        <p:spPr>
          <a:xfrm>
            <a:off x="3823664" y="4329953"/>
            <a:ext cx="14744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A5E19303-DB92-4A2B-DA3B-3F74F4CC6C3C}"/>
              </a:ext>
            </a:extLst>
          </p:cNvPr>
          <p:cNvSpPr txBox="1"/>
          <p:nvPr/>
        </p:nvSpPr>
        <p:spPr>
          <a:xfrm>
            <a:off x="3827936" y="4028989"/>
            <a:ext cx="150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Chaîne de Markov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AFBD5E2E-F036-FB47-AE58-90F1EBBDE1C2}"/>
              </a:ext>
            </a:extLst>
          </p:cNvPr>
          <p:cNvSpPr txBox="1"/>
          <p:nvPr/>
        </p:nvSpPr>
        <p:spPr>
          <a:xfrm>
            <a:off x="5671297" y="3745535"/>
            <a:ext cx="32665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On atteint la </a:t>
            </a:r>
            <a:r>
              <a:rPr lang="fr-FR" b="1" dirty="0"/>
              <a:t>chaine de Markov </a:t>
            </a:r>
            <a:r>
              <a:rPr lang="fr-FR" dirty="0"/>
              <a:t>lorsque l’itération n ne dépend plus que de l’itération n – 1 (fluctuations stochastiques autour d’une moyenne)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1525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85756-1FC1-D735-C08F-D9A54D1E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5EDB86-BD87-393C-9C82-42F61272F5DC}"/>
              </a:ext>
            </a:extLst>
          </p:cNvPr>
          <p:cNvSpPr/>
          <p:nvPr/>
        </p:nvSpPr>
        <p:spPr>
          <a:xfrm>
            <a:off x="3761546" y="5089525"/>
            <a:ext cx="1572454" cy="53349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6C5B11-FFB2-3796-1D57-6280B98B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FB3746-A9EA-8A58-F992-763A5AF6B45E}"/>
              </a:ext>
            </a:extLst>
          </p:cNvPr>
          <p:cNvSpPr txBox="1"/>
          <p:nvPr/>
        </p:nvSpPr>
        <p:spPr>
          <a:xfrm>
            <a:off x="277907" y="862480"/>
            <a:ext cx="5647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Approche classique : Monte Carlo Markov Chain (MCMC)</a:t>
            </a: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fr-FR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739CB16-54FB-EB4A-3DC0-3559E2B8693A}"/>
              </a:ext>
            </a:extLst>
          </p:cNvPr>
          <p:cNvCxnSpPr/>
          <p:nvPr/>
        </p:nvCxnSpPr>
        <p:spPr>
          <a:xfrm flipV="1">
            <a:off x="914400" y="5089525"/>
            <a:ext cx="0" cy="16319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818F7A93-96BC-744D-368F-C3C7426384DD}"/>
              </a:ext>
            </a:extLst>
          </p:cNvPr>
          <p:cNvCxnSpPr>
            <a:cxnSpLocks/>
          </p:cNvCxnSpPr>
          <p:nvPr/>
        </p:nvCxnSpPr>
        <p:spPr>
          <a:xfrm>
            <a:off x="914400" y="6721476"/>
            <a:ext cx="597049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ABD0EDD-FB53-D66C-75B4-C78A7A79D87E}"/>
                  </a:ext>
                </a:extLst>
              </p:cNvPr>
              <p:cNvSpPr txBox="1"/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0" name="ZoneTexte 19">
                <a:extLst>
                  <a:ext uri="{FF2B5EF4-FFF2-40B4-BE49-F238E27FC236}">
                    <a16:creationId xmlns:a16="http://schemas.microsoft.com/office/drawing/2014/main" id="{AABD0EDD-FB53-D66C-75B4-C78A7A79D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4722297"/>
                <a:ext cx="44823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>
            <a:extLst>
              <a:ext uri="{FF2B5EF4-FFF2-40B4-BE49-F238E27FC236}">
                <a16:creationId xmlns:a16="http://schemas.microsoft.com/office/drawing/2014/main" id="{CADF4D5E-3435-1F14-DFE0-038EF3303EBC}"/>
              </a:ext>
            </a:extLst>
          </p:cNvPr>
          <p:cNvSpPr txBox="1"/>
          <p:nvPr/>
        </p:nvSpPr>
        <p:spPr>
          <a:xfrm>
            <a:off x="6857999" y="6550223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itérations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AC81058-96A7-4E50-3C9B-B099554934F0}"/>
              </a:ext>
            </a:extLst>
          </p:cNvPr>
          <p:cNvSpPr/>
          <p:nvPr/>
        </p:nvSpPr>
        <p:spPr>
          <a:xfrm>
            <a:off x="865100" y="5891966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D34E13-A579-8A40-BC8C-B65F3E91FE57}"/>
              </a:ext>
            </a:extLst>
          </p:cNvPr>
          <p:cNvSpPr txBox="1"/>
          <p:nvPr/>
        </p:nvSpPr>
        <p:spPr>
          <a:xfrm>
            <a:off x="277907" y="1647310"/>
            <a:ext cx="14253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distribution a priori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1A1FA4B-E5AA-198B-C8B3-D80B7978D362}"/>
              </a:ext>
            </a:extLst>
          </p:cNvPr>
          <p:cNvSpPr txBox="1"/>
          <p:nvPr/>
        </p:nvSpPr>
        <p:spPr>
          <a:xfrm>
            <a:off x="2922495" y="1508811"/>
            <a:ext cx="240254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Markov Chain : </a:t>
            </a:r>
            <a:r>
              <a:rPr lang="fr-FR" dirty="0"/>
              <a:t>chaînes stationnaires de valeurs de paramètres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67F28A4A-4DE9-F83A-F443-9AE4D4F77E77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1703294" y="1970476"/>
            <a:ext cx="12192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9355ABFE-C97F-B560-CC1C-B8E3C89A2C77}"/>
              </a:ext>
            </a:extLst>
          </p:cNvPr>
          <p:cNvSpPr txBox="1"/>
          <p:nvPr/>
        </p:nvSpPr>
        <p:spPr>
          <a:xfrm>
            <a:off x="1819836" y="1678087"/>
            <a:ext cx="986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algorithme</a:t>
            </a: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DAA66149-8ED1-0D22-A983-CFD2969F9D43}"/>
              </a:ext>
            </a:extLst>
          </p:cNvPr>
          <p:cNvCxnSpPr>
            <a:cxnSpLocks/>
          </p:cNvCxnSpPr>
          <p:nvPr/>
        </p:nvCxnSpPr>
        <p:spPr>
          <a:xfrm>
            <a:off x="5325035" y="2010797"/>
            <a:ext cx="141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FB54EC88-1E41-0D11-F99C-5E0B0C803380}"/>
              </a:ext>
            </a:extLst>
          </p:cNvPr>
          <p:cNvSpPr txBox="1"/>
          <p:nvPr/>
        </p:nvSpPr>
        <p:spPr>
          <a:xfrm>
            <a:off x="6741460" y="1536284"/>
            <a:ext cx="2057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Monte Carlo : </a:t>
            </a:r>
            <a:r>
              <a:rPr lang="fr-FR" dirty="0"/>
              <a:t>distribution a posteriori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9A05D55-1E68-AF52-558C-07831C936DF3}"/>
              </a:ext>
            </a:extLst>
          </p:cNvPr>
          <p:cNvSpPr txBox="1"/>
          <p:nvPr/>
        </p:nvSpPr>
        <p:spPr>
          <a:xfrm>
            <a:off x="5441577" y="1703020"/>
            <a:ext cx="118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/>
              <a:t>approximation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E562204-1CE8-A6ED-AAC8-85A92AC8A386}"/>
              </a:ext>
            </a:extLst>
          </p:cNvPr>
          <p:cNvSpPr/>
          <p:nvPr/>
        </p:nvSpPr>
        <p:spPr>
          <a:xfrm>
            <a:off x="1089215" y="567681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817A028A-805E-E671-9652-1749A6D5BA2D}"/>
              </a:ext>
            </a:extLst>
          </p:cNvPr>
          <p:cNvSpPr/>
          <p:nvPr/>
        </p:nvSpPr>
        <p:spPr>
          <a:xfrm>
            <a:off x="1331262" y="5882998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D6ED148-A71B-80BB-AABF-CD501AF2501E}"/>
              </a:ext>
            </a:extLst>
          </p:cNvPr>
          <p:cNvSpPr/>
          <p:nvPr/>
        </p:nvSpPr>
        <p:spPr>
          <a:xfrm>
            <a:off x="1600203" y="613401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F9FDC9ED-F35C-8488-D316-9A3A6DD77E13}"/>
              </a:ext>
            </a:extLst>
          </p:cNvPr>
          <p:cNvSpPr/>
          <p:nvPr/>
        </p:nvSpPr>
        <p:spPr>
          <a:xfrm>
            <a:off x="1815356" y="572163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83475C4-A4D0-9523-36EF-239AA7231027}"/>
              </a:ext>
            </a:extLst>
          </p:cNvPr>
          <p:cNvSpPr/>
          <p:nvPr/>
        </p:nvSpPr>
        <p:spPr>
          <a:xfrm>
            <a:off x="2057403" y="538097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D2CEF7DF-6012-100C-E764-ACDC47D5ABEB}"/>
              </a:ext>
            </a:extLst>
          </p:cNvPr>
          <p:cNvSpPr/>
          <p:nvPr/>
        </p:nvSpPr>
        <p:spPr>
          <a:xfrm>
            <a:off x="2209803" y="562302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80BC13D-601A-15B5-8E3C-416D9B90E69C}"/>
              </a:ext>
            </a:extLst>
          </p:cNvPr>
          <p:cNvSpPr/>
          <p:nvPr/>
        </p:nvSpPr>
        <p:spPr>
          <a:xfrm>
            <a:off x="2541498" y="5237542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3769103-E37A-5C22-A617-714C5524BCB4}"/>
              </a:ext>
            </a:extLst>
          </p:cNvPr>
          <p:cNvSpPr/>
          <p:nvPr/>
        </p:nvSpPr>
        <p:spPr>
          <a:xfrm>
            <a:off x="2729758" y="5479589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E9E083C-205C-CEF5-1CDA-CDFA28BEC1AB}"/>
              </a:ext>
            </a:extLst>
          </p:cNvPr>
          <p:cNvSpPr/>
          <p:nvPr/>
        </p:nvSpPr>
        <p:spPr>
          <a:xfrm>
            <a:off x="2971805" y="5228575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2B455F17-4947-5103-0D4D-B816786DE748}"/>
              </a:ext>
            </a:extLst>
          </p:cNvPr>
          <p:cNvSpPr/>
          <p:nvPr/>
        </p:nvSpPr>
        <p:spPr>
          <a:xfrm>
            <a:off x="3124205" y="555130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442A8DA-40BC-6F66-6496-26585B784E84}"/>
              </a:ext>
            </a:extLst>
          </p:cNvPr>
          <p:cNvSpPr/>
          <p:nvPr/>
        </p:nvSpPr>
        <p:spPr>
          <a:xfrm>
            <a:off x="3393146" y="521064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89DCF917-9821-20B6-9D6C-DBC41055E0B0}"/>
              </a:ext>
            </a:extLst>
          </p:cNvPr>
          <p:cNvSpPr/>
          <p:nvPr/>
        </p:nvSpPr>
        <p:spPr>
          <a:xfrm>
            <a:off x="3545546" y="553337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4F924E69-4519-9DB2-1B73-A0B3201F1A05}"/>
              </a:ext>
            </a:extLst>
          </p:cNvPr>
          <p:cNvSpPr/>
          <p:nvPr/>
        </p:nvSpPr>
        <p:spPr>
          <a:xfrm>
            <a:off x="3769664" y="5345114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0884201-6FAC-E22D-EB2A-34D28B533366}"/>
              </a:ext>
            </a:extLst>
          </p:cNvPr>
          <p:cNvSpPr/>
          <p:nvPr/>
        </p:nvSpPr>
        <p:spPr>
          <a:xfrm>
            <a:off x="4128253" y="5389937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D66DEE36-FC8C-AA93-3D27-2ED4327DF8A2}"/>
              </a:ext>
            </a:extLst>
          </p:cNvPr>
          <p:cNvSpPr/>
          <p:nvPr/>
        </p:nvSpPr>
        <p:spPr>
          <a:xfrm>
            <a:off x="4459948" y="526443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0972EFF1-315F-229F-824C-445F242E6D0D}"/>
              </a:ext>
            </a:extLst>
          </p:cNvPr>
          <p:cNvSpPr/>
          <p:nvPr/>
        </p:nvSpPr>
        <p:spPr>
          <a:xfrm>
            <a:off x="4782677" y="539890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79B94D61-9013-B184-8EA1-74BBC496360C}"/>
              </a:ext>
            </a:extLst>
          </p:cNvPr>
          <p:cNvSpPr/>
          <p:nvPr/>
        </p:nvSpPr>
        <p:spPr>
          <a:xfrm>
            <a:off x="5114370" y="5273391"/>
            <a:ext cx="108000" cy="108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C2352928-D4CD-8E6D-3540-C06637C3B6D1}"/>
              </a:ext>
            </a:extLst>
          </p:cNvPr>
          <p:cNvCxnSpPr/>
          <p:nvPr/>
        </p:nvCxnSpPr>
        <p:spPr>
          <a:xfrm>
            <a:off x="914400" y="4329953"/>
            <a:ext cx="2855264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18EBB4B0-EF2C-1265-5AA3-3ABA072B11D8}"/>
              </a:ext>
            </a:extLst>
          </p:cNvPr>
          <p:cNvSpPr txBox="1"/>
          <p:nvPr/>
        </p:nvSpPr>
        <p:spPr>
          <a:xfrm>
            <a:off x="1089215" y="4037923"/>
            <a:ext cx="2528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Burn – in : les itérations fluctuent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4FE3A2E9-9B40-A8CD-7BBB-AEC4D66F4831}"/>
              </a:ext>
            </a:extLst>
          </p:cNvPr>
          <p:cNvCxnSpPr>
            <a:cxnSpLocks/>
          </p:cNvCxnSpPr>
          <p:nvPr/>
        </p:nvCxnSpPr>
        <p:spPr>
          <a:xfrm>
            <a:off x="3823664" y="4329953"/>
            <a:ext cx="1474477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ZoneTexte 40">
            <a:extLst>
              <a:ext uri="{FF2B5EF4-FFF2-40B4-BE49-F238E27FC236}">
                <a16:creationId xmlns:a16="http://schemas.microsoft.com/office/drawing/2014/main" id="{1EF1C64B-A5AB-A46D-00F8-8B5A473AFDF1}"/>
              </a:ext>
            </a:extLst>
          </p:cNvPr>
          <p:cNvSpPr txBox="1"/>
          <p:nvPr/>
        </p:nvSpPr>
        <p:spPr>
          <a:xfrm>
            <a:off x="3827936" y="4028989"/>
            <a:ext cx="15060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Chaîne de Markov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BAC65B4-8E56-AE76-2EE3-53473312F006}"/>
              </a:ext>
            </a:extLst>
          </p:cNvPr>
          <p:cNvSpPr txBox="1"/>
          <p:nvPr/>
        </p:nvSpPr>
        <p:spPr>
          <a:xfrm>
            <a:off x="5671297" y="3745535"/>
            <a:ext cx="326651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/>
              <a:t>La méthode de </a:t>
            </a:r>
            <a:r>
              <a:rPr lang="fr-FR" b="1" dirty="0"/>
              <a:t>Monte Carlo</a:t>
            </a:r>
            <a:r>
              <a:rPr lang="fr-FR" dirty="0"/>
              <a:t> permet d’approximer la distribution a posteriori des paramètres à partir des valeurs de la chaîne de Markov</a:t>
            </a:r>
            <a:endParaRPr lang="fr-FR" b="1" dirty="0"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474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85C66-7918-7840-8D2C-55871E65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E8C1AAA-5367-7354-7454-5ADBC6DF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ECA99F2-E85E-EED1-D7D3-C4375EB8D3CF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Un GLM en bayésien</a:t>
            </a:r>
          </a:p>
        </p:txBody>
      </p:sp>
    </p:spTree>
    <p:extLst>
      <p:ext uri="{BB962C8B-B14F-4D97-AF65-F5344CB8AC3E}">
        <p14:creationId xmlns:p14="http://schemas.microsoft.com/office/powerpoint/2010/main" val="1794878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552D797-6535-8E96-BED0-28B898249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39</a:t>
            </a:fld>
            <a:endParaRPr lang="fr-FR"/>
          </a:p>
        </p:txBody>
      </p:sp>
      <p:pic>
        <p:nvPicPr>
          <p:cNvPr id="6" name="Image 5" descr="Une image contenant plante, arbre, plein air, forêt&#10;&#10;Le contenu généré par l’IA peut être incorrect.">
            <a:extLst>
              <a:ext uri="{FF2B5EF4-FFF2-40B4-BE49-F238E27FC236}">
                <a16:creationId xmlns:a16="http://schemas.microsoft.com/office/drawing/2014/main" id="{98393E94-0028-0F17-8526-E6D955005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30" r="21932"/>
          <a:stretch>
            <a:fillRect/>
          </a:stretch>
        </p:blipFill>
        <p:spPr>
          <a:xfrm>
            <a:off x="5468471" y="0"/>
            <a:ext cx="3675529" cy="693868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B58D5BD-055E-9854-8129-CF38A6E062B8}"/>
              </a:ext>
            </a:extLst>
          </p:cNvPr>
          <p:cNvSpPr txBox="1"/>
          <p:nvPr/>
        </p:nvSpPr>
        <p:spPr>
          <a:xfrm>
            <a:off x="519953" y="215153"/>
            <a:ext cx="4150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Un cas pratique : la pression d’herbivorie est-elle diluée dans des peuplements complexes?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91AB7E1-17DE-B02A-E57E-717B441AD83E}"/>
              </a:ext>
            </a:extLst>
          </p:cNvPr>
          <p:cNvSpPr txBox="1"/>
          <p:nvPr/>
        </p:nvSpPr>
        <p:spPr>
          <a:xfrm>
            <a:off x="797859" y="1667436"/>
            <a:ext cx="4150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Hypothèse : </a:t>
            </a:r>
            <a:r>
              <a:rPr lang="fr-FR" sz="1600" dirty="0"/>
              <a:t>les grands herbivores sont d’autant moins sélectifs que la diversité des ressources est élevée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76AF516-576B-6E59-89CF-A9C8E70F98D9}"/>
              </a:ext>
            </a:extLst>
          </p:cNvPr>
          <p:cNvSpPr txBox="1"/>
          <p:nvPr/>
        </p:nvSpPr>
        <p:spPr>
          <a:xfrm>
            <a:off x="797859" y="2626659"/>
            <a:ext cx="4150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/>
              <a:t>Prédiction : </a:t>
            </a:r>
            <a:r>
              <a:rPr lang="fr-FR" sz="1600" dirty="0"/>
              <a:t>la pression d’herbivorie sur le hêtre est plus faible en présence d’une grande diversité de plantes accompagnatrices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E10B5E-E6DD-2306-9AD3-DDE6035D89A6}"/>
              </a:ext>
            </a:extLst>
          </p:cNvPr>
          <p:cNvSpPr/>
          <p:nvPr/>
        </p:nvSpPr>
        <p:spPr>
          <a:xfrm>
            <a:off x="398929" y="3703723"/>
            <a:ext cx="1739153" cy="649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Niche trophique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C79A8A-22B5-AC1A-23EC-C40C0D3BF1F4}"/>
              </a:ext>
            </a:extLst>
          </p:cNvPr>
          <p:cNvSpPr/>
          <p:nvPr/>
        </p:nvSpPr>
        <p:spPr>
          <a:xfrm>
            <a:off x="398929" y="5825655"/>
            <a:ext cx="1739153" cy="649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Herbivorie (Hêtre)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F54C89-A430-8919-9EFA-9A04517EE7DE}"/>
              </a:ext>
            </a:extLst>
          </p:cNvPr>
          <p:cNvSpPr/>
          <p:nvPr/>
        </p:nvSpPr>
        <p:spPr>
          <a:xfrm>
            <a:off x="2873188" y="3703723"/>
            <a:ext cx="1739153" cy="649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Diversité des ressources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4ADF5EF9-2709-BA73-45A9-EA3299EAE811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1268506" y="4353664"/>
            <a:ext cx="0" cy="1471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5E09BC79-2593-2B37-7395-8BD43B6DA10E}"/>
              </a:ext>
            </a:extLst>
          </p:cNvPr>
          <p:cNvCxnSpPr>
            <a:cxnSpLocks/>
            <a:stCxn id="25" idx="2"/>
            <a:endCxn id="24" idx="0"/>
          </p:cNvCxnSpPr>
          <p:nvPr/>
        </p:nvCxnSpPr>
        <p:spPr>
          <a:xfrm flipH="1">
            <a:off x="1268506" y="4353664"/>
            <a:ext cx="2474259" cy="14719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613F7F22-E8A6-AA3E-B1A0-F35998A19B73}"/>
              </a:ext>
            </a:extLst>
          </p:cNvPr>
          <p:cNvSpPr txBox="1"/>
          <p:nvPr/>
        </p:nvSpPr>
        <p:spPr>
          <a:xfrm>
            <a:off x="593352" y="4904993"/>
            <a:ext cx="9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/>
              <a:t>+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56F5947-A484-37F7-8994-3C8AA521B538}"/>
              </a:ext>
            </a:extLst>
          </p:cNvPr>
          <p:cNvSpPr txBox="1"/>
          <p:nvPr/>
        </p:nvSpPr>
        <p:spPr>
          <a:xfrm>
            <a:off x="2302810" y="4904993"/>
            <a:ext cx="982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i="1" dirty="0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0401163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7661-BD7A-D832-145D-7B162079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79E0809-3C75-B10A-B8B0-6947925E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40</a:t>
            </a:fld>
            <a:endParaRPr lang="fr-FR"/>
          </a:p>
        </p:txBody>
      </p:sp>
      <p:pic>
        <p:nvPicPr>
          <p:cNvPr id="6" name="Image 5" descr="Une image contenant plante, arbre, plein air, forêt&#10;&#10;Le contenu généré par l’IA peut être incorrect.">
            <a:extLst>
              <a:ext uri="{FF2B5EF4-FFF2-40B4-BE49-F238E27FC236}">
                <a16:creationId xmlns:a16="http://schemas.microsoft.com/office/drawing/2014/main" id="{A7823849-8EDA-65C4-9598-04F04626C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30" r="21932"/>
          <a:stretch>
            <a:fillRect/>
          </a:stretch>
        </p:blipFill>
        <p:spPr>
          <a:xfrm>
            <a:off x="5468471" y="0"/>
            <a:ext cx="3675529" cy="6938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65602AA3-B0BF-E494-66C3-7C55449C0A96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65602AA3-B0BF-E494-66C3-7C55449C0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3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BCA02BE-E4DC-ABF5-7C89-1D32949CAB32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BCA02BE-E4DC-ABF5-7C89-1D32949CA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4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16063573-F7D4-838F-842B-FD75F7A6B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71" y="2668873"/>
            <a:ext cx="4111241" cy="368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156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7F3E-E751-9938-FC34-55E85347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CAE9628-9B33-0804-0511-700F121C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41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E9C102B2-A3DD-18BE-1AD8-7C040C13462B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E9C102B2-A3DD-18BE-1AD8-7C040C134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2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F20BC73-86BE-ADF9-178C-50BE93A91938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6F20BC73-86BE-ADF9-178C-50BE93A91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3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 descr="Une image contenant texte, capture d’écran, diagramme, Rectangle&#10;&#10;Le contenu généré par l’IA peut être incorrect.">
            <a:extLst>
              <a:ext uri="{FF2B5EF4-FFF2-40B4-BE49-F238E27FC236}">
                <a16:creationId xmlns:a16="http://schemas.microsoft.com/office/drawing/2014/main" id="{7F19F7B9-2908-8DF0-3376-6052FCED0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71" y="2668873"/>
            <a:ext cx="4111241" cy="3687478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F370DAD-DC82-972D-C286-9335223AF3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462" y="3429000"/>
            <a:ext cx="4361538" cy="197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0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217D-4B47-212F-6EFE-A8C55B2F0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B4437D-55F8-E62A-FDB0-1784A510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42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650920D0-8CA1-7A4F-4F50-F55140C30438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650920D0-8CA1-7A4F-4F50-F55140C30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2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774F58E-4AC2-E853-387E-D977780361B8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C774F58E-4AC2-E853-387E-D97778036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3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61BC3543-85B5-CD4F-5890-A67760E3FA7F}"/>
              </a:ext>
            </a:extLst>
          </p:cNvPr>
          <p:cNvSpPr txBox="1"/>
          <p:nvPr/>
        </p:nvSpPr>
        <p:spPr>
          <a:xfrm>
            <a:off x="519953" y="2299932"/>
            <a:ext cx="41506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On refait l’inférence sur </a:t>
            </a:r>
            <a:r>
              <a:rPr lang="el-GR" dirty="0">
                <a:latin typeface="+mj-lt"/>
                <a:cs typeface="Arial" panose="020B0604020202020204" pitchFamily="34" charset="0"/>
              </a:rPr>
              <a:t>α</a:t>
            </a:r>
            <a:r>
              <a:rPr lang="fr-FR" dirty="0">
                <a:latin typeface="+mj-lt"/>
                <a:cs typeface="Arial" panose="020B0604020202020204" pitchFamily="34" charset="0"/>
              </a:rPr>
              <a:t> et </a:t>
            </a:r>
            <a:r>
              <a:rPr lang="el-GR" dirty="0">
                <a:latin typeface="+mj-lt"/>
                <a:cs typeface="Arial" panose="020B0604020202020204" pitchFamily="34" charset="0"/>
              </a:rPr>
              <a:t>β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/>
              <a:t>en bayésien</a:t>
            </a:r>
            <a:endParaRPr lang="fr-FR" dirty="0">
              <a:latin typeface="+mj-l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FBE10C-3A67-A5EA-5734-3C6E1742F0AD}"/>
              </a:ext>
            </a:extLst>
          </p:cNvPr>
          <p:cNvSpPr txBox="1"/>
          <p:nvPr/>
        </p:nvSpPr>
        <p:spPr>
          <a:xfrm>
            <a:off x="2307291" y="3116659"/>
            <a:ext cx="41506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 – définir des a priori sur les paramètres</a:t>
            </a:r>
          </a:p>
          <a:p>
            <a:r>
              <a:rPr lang="fr-FR" dirty="0"/>
              <a:t>2 – tracer les chaînes de Markov</a:t>
            </a:r>
          </a:p>
          <a:p>
            <a:r>
              <a:rPr lang="fr-FR" dirty="0"/>
              <a:t>3 – faire l’inférence</a:t>
            </a:r>
          </a:p>
        </p:txBody>
      </p:sp>
    </p:spTree>
    <p:extLst>
      <p:ext uri="{BB962C8B-B14F-4D97-AF65-F5344CB8AC3E}">
        <p14:creationId xmlns:p14="http://schemas.microsoft.com/office/powerpoint/2010/main" val="279321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8B40-B0E0-67D4-B80E-0DCD98F4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1C6AF49-2F72-2251-3C43-5C0E65C5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43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F3FC6C1-3D9F-DA9C-B4AF-2C6982F002C2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4F3FC6C1-3D9F-DA9C-B4AF-2C6982F00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2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E2F4E6-F15F-9977-3BCC-89A8BFAC70F1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59E2F4E6-F15F-9977-3BCC-89A8BFAC7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3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0D6209E8-04B9-5BC3-0E2D-2721E8389259}"/>
              </a:ext>
            </a:extLst>
          </p:cNvPr>
          <p:cNvSpPr txBox="1"/>
          <p:nvPr/>
        </p:nvSpPr>
        <p:spPr>
          <a:xfrm>
            <a:off x="519953" y="2299932"/>
            <a:ext cx="41506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On refait l’inférence sur </a:t>
            </a:r>
            <a:r>
              <a:rPr lang="el-GR" dirty="0">
                <a:latin typeface="+mj-lt"/>
                <a:cs typeface="Arial" panose="020B0604020202020204" pitchFamily="34" charset="0"/>
              </a:rPr>
              <a:t>α</a:t>
            </a:r>
            <a:r>
              <a:rPr lang="fr-FR" dirty="0">
                <a:latin typeface="+mj-lt"/>
                <a:cs typeface="Arial" panose="020B0604020202020204" pitchFamily="34" charset="0"/>
              </a:rPr>
              <a:t> et </a:t>
            </a:r>
            <a:r>
              <a:rPr lang="el-GR" dirty="0">
                <a:latin typeface="+mj-lt"/>
                <a:cs typeface="Arial" panose="020B0604020202020204" pitchFamily="34" charset="0"/>
              </a:rPr>
              <a:t>β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/>
              <a:t>en bayésien</a:t>
            </a:r>
            <a:endParaRPr lang="fr-FR" dirty="0">
              <a:latin typeface="+mj-l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A185B70-6A04-6B7C-68A6-8A0E12378C65}"/>
              </a:ext>
            </a:extLst>
          </p:cNvPr>
          <p:cNvSpPr txBox="1"/>
          <p:nvPr/>
        </p:nvSpPr>
        <p:spPr>
          <a:xfrm>
            <a:off x="4993341" y="2299932"/>
            <a:ext cx="415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 – définir des a priori sur les paramètres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54B5950-7DA7-CA41-FC90-A9FA19D658EE}"/>
              </a:ext>
            </a:extLst>
          </p:cNvPr>
          <p:cNvSpPr txBox="1"/>
          <p:nvPr/>
        </p:nvSpPr>
        <p:spPr>
          <a:xfrm>
            <a:off x="1625973" y="2962687"/>
            <a:ext cx="7275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Pas d’information préalable sur </a:t>
            </a:r>
            <a:r>
              <a:rPr lang="el-GR" dirty="0">
                <a:cs typeface="Arial" panose="020B0604020202020204" pitchFamily="34" charset="0"/>
              </a:rPr>
              <a:t>α</a:t>
            </a:r>
            <a:r>
              <a:rPr lang="fr-FR" dirty="0">
                <a:cs typeface="Arial" panose="020B0604020202020204" pitchFamily="34" charset="0"/>
              </a:rPr>
              <a:t> et </a:t>
            </a:r>
            <a:r>
              <a:rPr lang="el-GR" dirty="0">
                <a:cs typeface="Arial" panose="020B0604020202020204" pitchFamily="34" charset="0"/>
              </a:rPr>
              <a:t>β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</a:t>
            </a:r>
            <a:r>
              <a:rPr lang="fr-FR" b="1" dirty="0" err="1">
                <a:sym typeface="Wingdings" panose="05000000000000000000" pitchFamily="2" charset="2"/>
              </a:rPr>
              <a:t>priors</a:t>
            </a:r>
            <a:r>
              <a:rPr lang="fr-FR" b="1" dirty="0">
                <a:sym typeface="Wingdings" panose="05000000000000000000" pitchFamily="2" charset="2"/>
              </a:rPr>
              <a:t> non informatifs</a:t>
            </a:r>
          </a:p>
          <a:p>
            <a:r>
              <a:rPr lang="fr-FR" i="1" dirty="0">
                <a:sym typeface="Wingdings" panose="05000000000000000000" pitchFamily="2" charset="2"/>
              </a:rPr>
              <a:t>p.ex. lois normales centrées sur 0 et de variance 2</a:t>
            </a:r>
            <a:endParaRPr lang="fr-FR" i="1" dirty="0"/>
          </a:p>
        </p:txBody>
      </p:sp>
      <p:pic>
        <p:nvPicPr>
          <p:cNvPr id="9" name="Image 8" descr="Une image contenant diagramme, capture d’écran, ligne, conception&#10;&#10;Le contenu généré par l’IA peut être incorrect.">
            <a:extLst>
              <a:ext uri="{FF2B5EF4-FFF2-40B4-BE49-F238E27FC236}">
                <a16:creationId xmlns:a16="http://schemas.microsoft.com/office/drawing/2014/main" id="{9E52E992-52C5-FF79-9C4D-4085FAEA8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17840"/>
            <a:ext cx="9144000" cy="29250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FC4F43B-93B9-4E18-235F-22F4A236286E}"/>
              </a:ext>
            </a:extLst>
          </p:cNvPr>
          <p:cNvSpPr/>
          <p:nvPr/>
        </p:nvSpPr>
        <p:spPr>
          <a:xfrm>
            <a:off x="6015316" y="3738282"/>
            <a:ext cx="3092824" cy="2895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323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B398-C034-4E11-A4AC-26DE79A2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7E510C-65FE-5236-03A2-7EFF2FAAD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A78236B-7DCE-7E67-E4AC-0A0415FCC623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A78236B-7DCE-7E67-E4AC-0A0415FCC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2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3A7D0B0-E7E1-7FBD-91BD-1084294BA32A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13A7D0B0-E7E1-7FBD-91BD-1084294BA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3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8B487C71-B359-DA33-D01C-73A30B610248}"/>
              </a:ext>
            </a:extLst>
          </p:cNvPr>
          <p:cNvSpPr txBox="1"/>
          <p:nvPr/>
        </p:nvSpPr>
        <p:spPr>
          <a:xfrm>
            <a:off x="519953" y="2299932"/>
            <a:ext cx="41506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On refait l’inférence sur </a:t>
            </a:r>
            <a:r>
              <a:rPr lang="el-GR" dirty="0">
                <a:latin typeface="+mj-lt"/>
                <a:cs typeface="Arial" panose="020B0604020202020204" pitchFamily="34" charset="0"/>
              </a:rPr>
              <a:t>α</a:t>
            </a:r>
            <a:r>
              <a:rPr lang="fr-FR" dirty="0">
                <a:latin typeface="+mj-lt"/>
                <a:cs typeface="Arial" panose="020B0604020202020204" pitchFamily="34" charset="0"/>
              </a:rPr>
              <a:t> et </a:t>
            </a:r>
            <a:r>
              <a:rPr lang="el-GR" dirty="0">
                <a:latin typeface="+mj-lt"/>
                <a:cs typeface="Arial" panose="020B0604020202020204" pitchFamily="34" charset="0"/>
              </a:rPr>
              <a:t>β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/>
              <a:t>en bayésien</a:t>
            </a:r>
            <a:endParaRPr lang="fr-FR" dirty="0">
              <a:latin typeface="+mj-l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4E47C5C-B8A4-63FC-C389-CCE74C220194}"/>
              </a:ext>
            </a:extLst>
          </p:cNvPr>
          <p:cNvSpPr txBox="1"/>
          <p:nvPr/>
        </p:nvSpPr>
        <p:spPr>
          <a:xfrm>
            <a:off x="4993341" y="2299932"/>
            <a:ext cx="415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 – tracer les chaînes de Markov</a:t>
            </a:r>
          </a:p>
        </p:txBody>
      </p:sp>
      <p:pic>
        <p:nvPicPr>
          <p:cNvPr id="12" name="Image 11" descr="Une image contenant diagramme, Tracé&#10;&#10;Le contenu généré par l’IA peut être incorrect.">
            <a:extLst>
              <a:ext uri="{FF2B5EF4-FFF2-40B4-BE49-F238E27FC236}">
                <a16:creationId xmlns:a16="http://schemas.microsoft.com/office/drawing/2014/main" id="{786C7A93-E1C6-7F78-81E0-9CC4634BB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53" y="2864271"/>
            <a:ext cx="4366620" cy="3883447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095AD97F-1D0B-D83A-D1C0-943B7CCD59C5}"/>
              </a:ext>
            </a:extLst>
          </p:cNvPr>
          <p:cNvSpPr txBox="1"/>
          <p:nvPr/>
        </p:nvSpPr>
        <p:spPr>
          <a:xfrm>
            <a:off x="5127811" y="2962687"/>
            <a:ext cx="37741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Ici, on choisit de bruler 500 itérations et de faire l’inférence sur 2500 itérations</a:t>
            </a:r>
          </a:p>
          <a:p>
            <a:endParaRPr lang="fr-FR" dirty="0"/>
          </a:p>
          <a:p>
            <a:r>
              <a:rPr lang="fr-FR" dirty="0"/>
              <a:t>On lance 3 chaînes pour observer d’éventuels défauts de stabilité (diagnostic de modèle mal spécifié ou de données insuffisantes)</a:t>
            </a:r>
          </a:p>
          <a:p>
            <a:endParaRPr lang="fr-FR" dirty="0"/>
          </a:p>
          <a:p>
            <a:r>
              <a:rPr lang="fr-FR" dirty="0"/>
              <a:t>Le choix du nombre d’itérations dépend de la complexité du modèle</a:t>
            </a:r>
          </a:p>
        </p:txBody>
      </p:sp>
    </p:spTree>
    <p:extLst>
      <p:ext uri="{BB962C8B-B14F-4D97-AF65-F5344CB8AC3E}">
        <p14:creationId xmlns:p14="http://schemas.microsoft.com/office/powerpoint/2010/main" val="41488528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CF546-5659-43EE-4AA3-B3BC66972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EA250D-422E-DE4E-AAE8-1D693EB8B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45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F17651C-721E-9811-0E7B-72499D7EE3A1}"/>
                  </a:ext>
                </a:extLst>
              </p:cNvPr>
              <p:cNvSpPr txBox="1"/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𝐵𝑒𝑟𝑛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FF17651C-721E-9811-0E7B-72499D7EE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344705"/>
                <a:ext cx="1502271" cy="276999"/>
              </a:xfrm>
              <a:prstGeom prst="rect">
                <a:avLst/>
              </a:prstGeom>
              <a:blipFill>
                <a:blip r:embed="rId2"/>
                <a:stretch>
                  <a:fillRect l="-2834" t="-4444" r="-4858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120EAC1-E606-5D1D-8E6B-C34706D66197}"/>
                  </a:ext>
                </a:extLst>
              </p:cNvPr>
              <p:cNvSpPr txBox="1"/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𝑙𝑜𝑔𝑖𝑡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</a:rPr>
                                <m:t>ψ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𝐷𝑖𝑣𝑒𝑟𝑠𝑖𝑡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é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F120EAC1-E606-5D1D-8E6B-C34706D66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65" y="1724378"/>
                <a:ext cx="3374770" cy="276999"/>
              </a:xfrm>
              <a:prstGeom prst="rect">
                <a:avLst/>
              </a:prstGeom>
              <a:blipFill>
                <a:blip r:embed="rId3"/>
                <a:stretch>
                  <a:fillRect l="-542" t="-2222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A5F51935-44EC-FB0C-8711-E8CDF8FE4518}"/>
              </a:ext>
            </a:extLst>
          </p:cNvPr>
          <p:cNvSpPr txBox="1"/>
          <p:nvPr/>
        </p:nvSpPr>
        <p:spPr>
          <a:xfrm>
            <a:off x="519953" y="2299932"/>
            <a:ext cx="415065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+mj-lt"/>
              </a:rPr>
              <a:t>On refait l’inférence sur </a:t>
            </a:r>
            <a:r>
              <a:rPr lang="el-GR" dirty="0">
                <a:latin typeface="+mj-lt"/>
                <a:cs typeface="Arial" panose="020B0604020202020204" pitchFamily="34" charset="0"/>
              </a:rPr>
              <a:t>α</a:t>
            </a:r>
            <a:r>
              <a:rPr lang="fr-FR" dirty="0">
                <a:latin typeface="+mj-lt"/>
                <a:cs typeface="Arial" panose="020B0604020202020204" pitchFamily="34" charset="0"/>
              </a:rPr>
              <a:t> et </a:t>
            </a:r>
            <a:r>
              <a:rPr lang="el-GR" dirty="0">
                <a:latin typeface="+mj-lt"/>
                <a:cs typeface="Arial" panose="020B0604020202020204" pitchFamily="34" charset="0"/>
              </a:rPr>
              <a:t>β</a:t>
            </a:r>
            <a:r>
              <a:rPr lang="fr-FR" dirty="0">
                <a:latin typeface="+mj-lt"/>
                <a:cs typeface="Arial" panose="020B0604020202020204" pitchFamily="34" charset="0"/>
              </a:rPr>
              <a:t> </a:t>
            </a:r>
            <a:r>
              <a:rPr lang="fr-FR" dirty="0"/>
              <a:t>en bayésien</a:t>
            </a:r>
            <a:endParaRPr lang="fr-FR" dirty="0">
              <a:latin typeface="+mj-l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C86BA33-C46C-B881-C1D3-D7D484AF9EEF}"/>
              </a:ext>
            </a:extLst>
          </p:cNvPr>
          <p:cNvSpPr txBox="1"/>
          <p:nvPr/>
        </p:nvSpPr>
        <p:spPr>
          <a:xfrm>
            <a:off x="4993341" y="2299932"/>
            <a:ext cx="4150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3 – faire l’inférence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24EDA64-6D2A-6318-7DF4-8EA9DE560CB5}"/>
              </a:ext>
            </a:extLst>
          </p:cNvPr>
          <p:cNvSpPr txBox="1"/>
          <p:nvPr/>
        </p:nvSpPr>
        <p:spPr>
          <a:xfrm>
            <a:off x="618565" y="2935793"/>
            <a:ext cx="87047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paramètres sont résumés par des indicateurs de leurs distributions : </a:t>
            </a:r>
          </a:p>
          <a:p>
            <a:pPr marL="285750" indent="-285750">
              <a:buFontTx/>
              <a:buChar char="-"/>
            </a:pPr>
            <a:r>
              <a:rPr lang="fr-FR" dirty="0"/>
              <a:t>Quantiles</a:t>
            </a:r>
          </a:p>
          <a:p>
            <a:pPr marL="285750" indent="-285750">
              <a:buFontTx/>
              <a:buChar char="-"/>
            </a:pPr>
            <a:r>
              <a:rPr lang="fr-FR" dirty="0"/>
              <a:t>Moyenne – écart-type</a:t>
            </a:r>
          </a:p>
          <a:p>
            <a:pPr marL="285750" indent="-285750">
              <a:buFontTx/>
              <a:buChar char="-"/>
            </a:pPr>
            <a:r>
              <a:rPr lang="fr-FR" dirty="0"/>
              <a:t>Intervalle de crédibilité : intervalle contenant la valeur voulue avec une certaine probabilité</a:t>
            </a:r>
          </a:p>
          <a:p>
            <a:pPr marL="285750" indent="-285750">
              <a:buFontTx/>
              <a:buChar char="-"/>
            </a:pPr>
            <a:r>
              <a:rPr lang="fr-FR" dirty="0"/>
              <a:t>P-values bayésiennes : p(critère) = p(n itérations | critère) / p(n itérations totales)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96E5B3E-076D-EF84-F93D-B9C002378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38" y="4514401"/>
            <a:ext cx="5934903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46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1CB68-ABB7-1BC9-2D48-61B17F561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CABA34-B602-ABB4-1A33-79A1887E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46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7D7008E-812E-49B1-2889-00FF6810AE7B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L’implémentation avec R</a:t>
            </a:r>
          </a:p>
        </p:txBody>
      </p:sp>
    </p:spTree>
    <p:extLst>
      <p:ext uri="{BB962C8B-B14F-4D97-AF65-F5344CB8AC3E}">
        <p14:creationId xmlns:p14="http://schemas.microsoft.com/office/powerpoint/2010/main" val="1300315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9FE5-AC7B-979B-C903-CAAC4E264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60023EF-2A3B-7DAA-EB7C-0466BE21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47</a:t>
            </a:fld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26128AD-3773-2EE3-4EA7-12447D9DB7DE}"/>
              </a:ext>
            </a:extLst>
          </p:cNvPr>
          <p:cNvSpPr txBox="1"/>
          <p:nvPr/>
        </p:nvSpPr>
        <p:spPr>
          <a:xfrm>
            <a:off x="277907" y="136524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Implémentation sous R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3B9B0D2-02C0-0AA8-E1A3-1C24058C580C}"/>
              </a:ext>
            </a:extLst>
          </p:cNvPr>
          <p:cNvSpPr txBox="1"/>
          <p:nvPr/>
        </p:nvSpPr>
        <p:spPr>
          <a:xfrm>
            <a:off x="797859" y="1416422"/>
            <a:ext cx="134470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JAGS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NIMBLE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STAN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D7125EA-7798-497F-741D-11DC498348A5}"/>
              </a:ext>
            </a:extLst>
          </p:cNvPr>
          <p:cNvSpPr txBox="1"/>
          <p:nvPr/>
        </p:nvSpPr>
        <p:spPr>
          <a:xfrm>
            <a:off x="3594847" y="1416422"/>
            <a:ext cx="134470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rjags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NIMBLE</a:t>
            </a:r>
          </a:p>
          <a:p>
            <a:pPr algn="ctr"/>
            <a:endParaRPr lang="fr-FR" dirty="0"/>
          </a:p>
          <a:p>
            <a:pPr algn="ctr"/>
            <a:r>
              <a:rPr lang="fr-FR" dirty="0" err="1"/>
              <a:t>brms</a:t>
            </a:r>
            <a:endParaRPr lang="fr-FR" dirty="0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5F62D396-D5D6-C02F-5EB7-BC3DC5CEB8D4}"/>
              </a:ext>
            </a:extLst>
          </p:cNvPr>
          <p:cNvCxnSpPr>
            <a:stCxn id="5" idx="3"/>
            <a:endCxn id="2" idx="1"/>
          </p:cNvCxnSpPr>
          <p:nvPr/>
        </p:nvCxnSpPr>
        <p:spPr>
          <a:xfrm>
            <a:off x="2142564" y="2155086"/>
            <a:ext cx="145228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EDCD356-A191-3788-FF0B-6873B7D00787}"/>
              </a:ext>
            </a:extLst>
          </p:cNvPr>
          <p:cNvSpPr txBox="1"/>
          <p:nvPr/>
        </p:nvSpPr>
        <p:spPr>
          <a:xfrm>
            <a:off x="2187389" y="1846729"/>
            <a:ext cx="1631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Interfaçage 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AB2ED1-65B9-C88B-AD04-785C4A218B5B}"/>
              </a:ext>
            </a:extLst>
          </p:cNvPr>
          <p:cNvSpPr txBox="1"/>
          <p:nvPr/>
        </p:nvSpPr>
        <p:spPr>
          <a:xfrm>
            <a:off x="4908178" y="1792058"/>
            <a:ext cx="2106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/>
              <a:t>Outils d’inférence</a:t>
            </a: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B63883B4-E7F7-A97A-A5F1-C3D2554065F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939552" y="2155086"/>
            <a:ext cx="171450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D88722BB-738C-A75C-6148-F923A8F3CB41}"/>
              </a:ext>
            </a:extLst>
          </p:cNvPr>
          <p:cNvSpPr txBox="1"/>
          <p:nvPr/>
        </p:nvSpPr>
        <p:spPr>
          <a:xfrm>
            <a:off x="6654058" y="1416422"/>
            <a:ext cx="134470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coda</a:t>
            </a:r>
          </a:p>
          <a:p>
            <a:pPr algn="ctr"/>
            <a:endParaRPr lang="fr-FR" dirty="0"/>
          </a:p>
          <a:p>
            <a:pPr algn="ctr"/>
            <a:r>
              <a:rPr lang="fr-FR" dirty="0" err="1"/>
              <a:t>bayesplot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 err="1"/>
              <a:t>brms</a:t>
            </a:r>
            <a:endParaRPr lang="fr-FR" dirty="0"/>
          </a:p>
        </p:txBody>
      </p:sp>
      <p:pic>
        <p:nvPicPr>
          <p:cNvPr id="17" name="Image 16" descr="Une image contenant texte, capture d’écran, Police, algèbre&#10;&#10;Le contenu généré par l’IA peut être incorrect.">
            <a:extLst>
              <a:ext uri="{FF2B5EF4-FFF2-40B4-BE49-F238E27FC236}">
                <a16:creationId xmlns:a16="http://schemas.microsoft.com/office/drawing/2014/main" id="{AA5F1562-E33B-7159-57B1-DB7D427D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39" y="3509866"/>
            <a:ext cx="5260277" cy="27353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2F0B429B-AA99-DBE1-38C9-5251DEA76988}"/>
              </a:ext>
            </a:extLst>
          </p:cNvPr>
          <p:cNvSpPr txBox="1"/>
          <p:nvPr/>
        </p:nvSpPr>
        <p:spPr>
          <a:xfrm>
            <a:off x="5776751" y="3424721"/>
            <a:ext cx="33672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111111"/>
                </a:solidFill>
                <a:effectLst/>
                <a:latin typeface="Aptos Light" panose="020B0004020202020204" pitchFamily="34" charset="0"/>
              </a:rPr>
              <a:t>“Stan appears the go-to solution if one wants to learn only one between JAGS, Stan and NIMBLE programs.”</a:t>
            </a:r>
            <a:endParaRPr lang="fr-FR" dirty="0">
              <a:latin typeface="Aptos Light" panose="020B000402020202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A69204B-1CAC-7E27-C05C-97C0ECA8F94E}"/>
              </a:ext>
            </a:extLst>
          </p:cNvPr>
          <p:cNvSpPr txBox="1"/>
          <p:nvPr/>
        </p:nvSpPr>
        <p:spPr>
          <a:xfrm>
            <a:off x="5796805" y="4784587"/>
            <a:ext cx="32306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111111"/>
                </a:solidFill>
                <a:effectLst/>
                <a:latin typeface="Aptos Light" panose="020B0004020202020204" pitchFamily="34" charset="0"/>
              </a:rPr>
              <a:t>“In general, conjugate or semi-conjugate models are very well fitted by JAGS, which is usually faster than Stan and it is able to generate chains with high effective sample size.”</a:t>
            </a:r>
            <a:endParaRPr lang="fr-FR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9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395462-E1F8-A1C1-8229-06437676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48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64BD24D-0707-E558-1521-D48B544F9C67}"/>
              </a:ext>
            </a:extLst>
          </p:cNvPr>
          <p:cNvSpPr txBox="1"/>
          <p:nvPr/>
        </p:nvSpPr>
        <p:spPr>
          <a:xfrm>
            <a:off x="277907" y="136524"/>
            <a:ext cx="5576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Implémentation d’un GLM sous JAGS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94B45A-12D0-74BD-1CF5-E5147B6D4FF8}"/>
              </a:ext>
            </a:extLst>
          </p:cNvPr>
          <p:cNvSpPr txBox="1"/>
          <p:nvPr/>
        </p:nvSpPr>
        <p:spPr>
          <a:xfrm>
            <a:off x="797859" y="1416422"/>
            <a:ext cx="134470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Codage du modèle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309986CA-9809-C486-5898-C856A7376A0D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>
            <a:off x="1470212" y="2062753"/>
            <a:ext cx="1084729" cy="509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C8231E7B-4863-E5E9-E0CF-6F9241CA6969}"/>
              </a:ext>
            </a:extLst>
          </p:cNvPr>
          <p:cNvSpPr txBox="1"/>
          <p:nvPr/>
        </p:nvSpPr>
        <p:spPr>
          <a:xfrm>
            <a:off x="2850777" y="1416422"/>
            <a:ext cx="134470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Préparation des données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77AFDAF-96B2-5008-F683-2085360B7317}"/>
              </a:ext>
            </a:extLst>
          </p:cNvPr>
          <p:cNvSpPr txBox="1"/>
          <p:nvPr/>
        </p:nvSpPr>
        <p:spPr>
          <a:xfrm>
            <a:off x="1882588" y="2571999"/>
            <a:ext cx="13447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JAGS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8380739-79B8-3B6A-35DE-AC1FFBC76A5E}"/>
              </a:ext>
            </a:extLst>
          </p:cNvPr>
          <p:cNvSpPr txBox="1"/>
          <p:nvPr/>
        </p:nvSpPr>
        <p:spPr>
          <a:xfrm>
            <a:off x="3621741" y="2571999"/>
            <a:ext cx="16315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Interfaçage R</a:t>
            </a:r>
          </a:p>
        </p:txBody>
      </p: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BF0FFDDB-AF81-677F-F57F-74DAE3056974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 flipH="1">
            <a:off x="2554941" y="2062753"/>
            <a:ext cx="968189" cy="509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5FA2C2D-157D-153B-5BB0-89EEED4B36D1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3227293" y="2756665"/>
            <a:ext cx="394448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291D834B-CF17-1FB3-194F-5412E615D264}"/>
              </a:ext>
            </a:extLst>
          </p:cNvPr>
          <p:cNvCxnSpPr>
            <a:cxnSpLocks/>
            <a:stCxn id="15" idx="2"/>
            <a:endCxn id="24" idx="0"/>
          </p:cNvCxnSpPr>
          <p:nvPr/>
        </p:nvCxnSpPr>
        <p:spPr>
          <a:xfrm>
            <a:off x="4437530" y="2941331"/>
            <a:ext cx="0" cy="652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A7C3F6BB-A319-5DCF-8757-226256D86441}"/>
              </a:ext>
            </a:extLst>
          </p:cNvPr>
          <p:cNvSpPr txBox="1"/>
          <p:nvPr/>
        </p:nvSpPr>
        <p:spPr>
          <a:xfrm>
            <a:off x="3621741" y="3593504"/>
            <a:ext cx="16315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Vérification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CE8D6A7-8798-D2DE-599B-85ACA46DB50B}"/>
              </a:ext>
            </a:extLst>
          </p:cNvPr>
          <p:cNvCxnSpPr>
            <a:cxnSpLocks/>
          </p:cNvCxnSpPr>
          <p:nvPr/>
        </p:nvCxnSpPr>
        <p:spPr>
          <a:xfrm>
            <a:off x="4437531" y="3962836"/>
            <a:ext cx="0" cy="6521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C2D9C038-42FC-03DA-5514-59980A955947}"/>
              </a:ext>
            </a:extLst>
          </p:cNvPr>
          <p:cNvSpPr txBox="1"/>
          <p:nvPr/>
        </p:nvSpPr>
        <p:spPr>
          <a:xfrm>
            <a:off x="3621741" y="4615009"/>
            <a:ext cx="163157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Inférence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F2D3C7CF-7FF5-4581-C180-9A17EB40599A}"/>
              </a:ext>
            </a:extLst>
          </p:cNvPr>
          <p:cNvSpPr txBox="1"/>
          <p:nvPr/>
        </p:nvSpPr>
        <p:spPr>
          <a:xfrm>
            <a:off x="188257" y="5782074"/>
            <a:ext cx="9834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Ressource:</a:t>
            </a:r>
          </a:p>
          <a:p>
            <a:r>
              <a:rPr lang="fr-FR" dirty="0"/>
              <a:t>https://bookdown.org/kevin_davisross/bayesian-reasoning-and-methods/introduction-to-jags.html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7251D7C-CF36-FCC3-03E1-56645C5FEDEF}"/>
              </a:ext>
            </a:extLst>
          </p:cNvPr>
          <p:cNvSpPr txBox="1"/>
          <p:nvPr/>
        </p:nvSpPr>
        <p:spPr>
          <a:xfrm>
            <a:off x="6257365" y="1093256"/>
            <a:ext cx="2653553" cy="397031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Processus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1/ Télécharger JAGS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2/ Installer les packages R : </a:t>
            </a:r>
            <a:r>
              <a:rPr lang="fr-FR" dirty="0" err="1"/>
              <a:t>rjags</a:t>
            </a:r>
            <a:r>
              <a:rPr lang="fr-FR" dirty="0"/>
              <a:t>, coda, </a:t>
            </a:r>
            <a:r>
              <a:rPr lang="fr-FR" dirty="0" err="1"/>
              <a:t>bayesplot</a:t>
            </a:r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3/ Coder le modèle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4/ Préparer les données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5/ Lancer le modèle via R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6/ Faire l’inférence sous R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358B862-3BB3-63CD-CBDD-63F767E7C2AD}"/>
              </a:ext>
            </a:extLst>
          </p:cNvPr>
          <p:cNvSpPr txBox="1"/>
          <p:nvPr/>
        </p:nvSpPr>
        <p:spPr>
          <a:xfrm>
            <a:off x="188257" y="5438747"/>
            <a:ext cx="9834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Script : </a:t>
            </a:r>
            <a:r>
              <a:rPr lang="fr-FR" dirty="0"/>
              <a:t>ephe-niveau3-mardi.R</a:t>
            </a:r>
          </a:p>
        </p:txBody>
      </p:sp>
    </p:spTree>
    <p:extLst>
      <p:ext uri="{BB962C8B-B14F-4D97-AF65-F5344CB8AC3E}">
        <p14:creationId xmlns:p14="http://schemas.microsoft.com/office/powerpoint/2010/main" val="30641654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45FD-DC81-89B6-AB93-AD68A57D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02CF65-A860-0CE3-4234-1F51F12A9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49</a:t>
            </a:fld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23347F-63B9-B03A-C185-A4FA35D88D1C}"/>
              </a:ext>
            </a:extLst>
          </p:cNvPr>
          <p:cNvSpPr txBox="1"/>
          <p:nvPr/>
        </p:nvSpPr>
        <p:spPr>
          <a:xfrm>
            <a:off x="596153" y="668020"/>
            <a:ext cx="2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Construction du modèle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DD40575-E319-49AA-C5A1-4DDD2E48A0E2}"/>
              </a:ext>
            </a:extLst>
          </p:cNvPr>
          <p:cNvSpPr txBox="1"/>
          <p:nvPr/>
        </p:nvSpPr>
        <p:spPr>
          <a:xfrm>
            <a:off x="596153" y="1214234"/>
            <a:ext cx="36217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 Le modèle lui-même ne dépend pas du mode d’inférence</a:t>
            </a:r>
          </a:p>
          <a:p>
            <a:endParaRPr lang="fr-FR" dirty="0"/>
          </a:p>
          <a:p>
            <a:r>
              <a:rPr lang="fr-FR" dirty="0"/>
              <a:t>* Attention à la </a:t>
            </a:r>
            <a:r>
              <a:rPr lang="fr-FR" dirty="0" err="1"/>
              <a:t>surcomplexification</a:t>
            </a:r>
            <a:endParaRPr lang="fr-FR" dirty="0"/>
          </a:p>
          <a:p>
            <a:endParaRPr lang="fr-FR" dirty="0"/>
          </a:p>
          <a:p>
            <a:r>
              <a:rPr lang="fr-FR" dirty="0"/>
              <a:t>* </a:t>
            </a:r>
            <a:r>
              <a:rPr lang="fr-FR" dirty="0" err="1"/>
              <a:t>Priors</a:t>
            </a:r>
            <a:r>
              <a:rPr lang="fr-FR" dirty="0"/>
              <a:t> : informatifs ou non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C0E75D-208E-E9FB-AD21-F5E2A46ED40C}"/>
              </a:ext>
            </a:extLst>
          </p:cNvPr>
          <p:cNvSpPr txBox="1"/>
          <p:nvPr/>
        </p:nvSpPr>
        <p:spPr>
          <a:xfrm>
            <a:off x="5719483" y="300802"/>
            <a:ext cx="2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Implémentation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9E4EC2-C8DA-321F-D0B1-68A48A9E4FEF}"/>
              </a:ext>
            </a:extLst>
          </p:cNvPr>
          <p:cNvSpPr txBox="1"/>
          <p:nvPr/>
        </p:nvSpPr>
        <p:spPr>
          <a:xfrm>
            <a:off x="268941" y="3924836"/>
            <a:ext cx="2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Vérifications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84D574-BDFC-ACDA-AAB6-7A88876AB919}"/>
              </a:ext>
            </a:extLst>
          </p:cNvPr>
          <p:cNvSpPr txBox="1"/>
          <p:nvPr/>
        </p:nvSpPr>
        <p:spPr>
          <a:xfrm>
            <a:off x="5719482" y="3924836"/>
            <a:ext cx="2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Inférence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BB5C0A3-73DE-8D8C-5CE0-DB1B3493A297}"/>
              </a:ext>
            </a:extLst>
          </p:cNvPr>
          <p:cNvSpPr txBox="1"/>
          <p:nvPr/>
        </p:nvSpPr>
        <p:spPr>
          <a:xfrm>
            <a:off x="5316071" y="846990"/>
            <a:ext cx="362174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 Choix d’algorithme : MCMC – Metropolis Hastings ou autres solutions</a:t>
            </a:r>
          </a:p>
          <a:p>
            <a:endParaRPr lang="fr-FR" dirty="0"/>
          </a:p>
          <a:p>
            <a:r>
              <a:rPr lang="fr-FR" dirty="0"/>
              <a:t>* Méthodes d’échantillonnage type INLA (modèles lourds comme en spatial)</a:t>
            </a:r>
          </a:p>
          <a:p>
            <a:endParaRPr lang="fr-FR" dirty="0"/>
          </a:p>
          <a:p>
            <a:r>
              <a:rPr lang="fr-FR" dirty="0"/>
              <a:t>* Attention aux longueurs de chaînes</a:t>
            </a:r>
          </a:p>
          <a:p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4DEEFD3-8F6B-940D-5398-9D58C777EA10}"/>
              </a:ext>
            </a:extLst>
          </p:cNvPr>
          <p:cNvSpPr txBox="1"/>
          <p:nvPr/>
        </p:nvSpPr>
        <p:spPr>
          <a:xfrm>
            <a:off x="268941" y="4428639"/>
            <a:ext cx="36217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 Convergences des itérations</a:t>
            </a:r>
          </a:p>
          <a:p>
            <a:endParaRPr lang="fr-FR" dirty="0"/>
          </a:p>
          <a:p>
            <a:r>
              <a:rPr lang="fr-FR" dirty="0"/>
              <a:t>* Mixage des chaînes</a:t>
            </a:r>
          </a:p>
          <a:p>
            <a:endParaRPr lang="fr-FR" dirty="0"/>
          </a:p>
          <a:p>
            <a:r>
              <a:rPr lang="fr-FR" dirty="0"/>
              <a:t>* Ajustement : </a:t>
            </a:r>
            <a:r>
              <a:rPr lang="fr-FR" dirty="0" err="1"/>
              <a:t>posterior</a:t>
            </a:r>
            <a:r>
              <a:rPr lang="fr-FR" dirty="0"/>
              <a:t> </a:t>
            </a:r>
            <a:r>
              <a:rPr lang="fr-FR" dirty="0" err="1"/>
              <a:t>predictive</a:t>
            </a:r>
            <a:r>
              <a:rPr lang="fr-FR" dirty="0"/>
              <a:t> check</a:t>
            </a:r>
          </a:p>
          <a:p>
            <a:endParaRPr lang="fr-FR" dirty="0"/>
          </a:p>
          <a:p>
            <a:r>
              <a:rPr lang="fr-FR" dirty="0"/>
              <a:t>* Contrôle habituel des résidus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13FD9FA-2720-1858-13F3-937CC8C196C5}"/>
              </a:ext>
            </a:extLst>
          </p:cNvPr>
          <p:cNvSpPr txBox="1"/>
          <p:nvPr/>
        </p:nvSpPr>
        <p:spPr>
          <a:xfrm>
            <a:off x="5105399" y="4413152"/>
            <a:ext cx="362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* Distributions des paramètres</a:t>
            </a:r>
          </a:p>
          <a:p>
            <a:endParaRPr lang="fr-FR" dirty="0"/>
          </a:p>
          <a:p>
            <a:r>
              <a:rPr lang="fr-FR" dirty="0"/>
              <a:t>* Intervalles de crédibilité</a:t>
            </a:r>
          </a:p>
          <a:p>
            <a:endParaRPr lang="fr-FR" dirty="0"/>
          </a:p>
          <a:p>
            <a:r>
              <a:rPr lang="fr-FR" dirty="0"/>
              <a:t>* </a:t>
            </a:r>
            <a:r>
              <a:rPr lang="fr-FR" dirty="0" err="1"/>
              <a:t>Bayesian</a:t>
            </a:r>
            <a:r>
              <a:rPr lang="fr-FR" dirty="0"/>
              <a:t> p-values</a:t>
            </a:r>
          </a:p>
          <a:p>
            <a:endParaRPr lang="fr-FR" dirty="0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D6346699-ADD4-E7FC-7822-713C560E72C3}"/>
              </a:ext>
            </a:extLst>
          </p:cNvPr>
          <p:cNvCxnSpPr/>
          <p:nvPr/>
        </p:nvCxnSpPr>
        <p:spPr>
          <a:xfrm>
            <a:off x="4285129" y="300802"/>
            <a:ext cx="0" cy="6238111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C48011A-83C0-2C9F-8FD5-0EF81777D20C}"/>
              </a:ext>
            </a:extLst>
          </p:cNvPr>
          <p:cNvCxnSpPr>
            <a:cxnSpLocks/>
          </p:cNvCxnSpPr>
          <p:nvPr/>
        </p:nvCxnSpPr>
        <p:spPr>
          <a:xfrm>
            <a:off x="358588" y="3612776"/>
            <a:ext cx="8435788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202E756C-8196-9E45-ED75-3634CB2844DA}"/>
              </a:ext>
            </a:extLst>
          </p:cNvPr>
          <p:cNvSpPr txBox="1"/>
          <p:nvPr/>
        </p:nvSpPr>
        <p:spPr>
          <a:xfrm>
            <a:off x="152401" y="39192"/>
            <a:ext cx="5020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Résumé - implémentation</a:t>
            </a:r>
          </a:p>
        </p:txBody>
      </p:sp>
    </p:spTree>
    <p:extLst>
      <p:ext uri="{BB962C8B-B14F-4D97-AF65-F5344CB8AC3E}">
        <p14:creationId xmlns:p14="http://schemas.microsoft.com/office/powerpoint/2010/main" val="246248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7C78E-E792-12CB-2EC7-A57BBFEE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9A6AF0-019C-78A8-B88C-0B3948AA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7765D-F622-4BC4-AC55-80A3CC4A834C}" type="slidenum">
              <a:rPr lang="fr-FR" smtClean="0"/>
              <a:pPr/>
              <a:t>50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49174F8-3731-8304-FB9E-96F41C6C3F63}"/>
              </a:ext>
            </a:extLst>
          </p:cNvPr>
          <p:cNvSpPr txBox="1"/>
          <p:nvPr/>
        </p:nvSpPr>
        <p:spPr>
          <a:xfrm>
            <a:off x="421341" y="263664"/>
            <a:ext cx="4150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Intérêts et limites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416884-4409-2F43-6E28-C695D40AE041}"/>
              </a:ext>
            </a:extLst>
          </p:cNvPr>
          <p:cNvSpPr txBox="1"/>
          <p:nvPr/>
        </p:nvSpPr>
        <p:spPr>
          <a:xfrm>
            <a:off x="174811" y="812166"/>
            <a:ext cx="4643718" cy="59093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Simplicité de la méthode d’estimation : 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l’approche par MCMC affranchit d’intégrales complexes</a:t>
            </a:r>
          </a:p>
          <a:p>
            <a:endParaRPr lang="fr-FR" dirty="0"/>
          </a:p>
          <a:p>
            <a:r>
              <a:rPr lang="fr-FR" b="1" dirty="0"/>
              <a:t>&gt;</a:t>
            </a:r>
            <a:r>
              <a:rPr lang="fr-FR" dirty="0"/>
              <a:t> Accès à des modèles plus complexes qu’en </a:t>
            </a:r>
            <a:r>
              <a:rPr lang="fr-FR" dirty="0" err="1"/>
              <a:t>fréquentiste</a:t>
            </a:r>
            <a:endParaRPr lang="fr-FR" dirty="0"/>
          </a:p>
          <a:p>
            <a:endParaRPr lang="fr-FR" dirty="0"/>
          </a:p>
          <a:p>
            <a:r>
              <a:rPr lang="fr-FR" b="1" dirty="0"/>
              <a:t>Inférences intuitives :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Interprétation des paramètres et de leurs incertitudes plus directe qu’en </a:t>
            </a:r>
            <a:r>
              <a:rPr lang="fr-FR" dirty="0" err="1"/>
              <a:t>fréquentiste</a:t>
            </a:r>
            <a:endParaRPr lang="fr-FR" dirty="0"/>
          </a:p>
          <a:p>
            <a:endParaRPr lang="fr-FR" dirty="0"/>
          </a:p>
          <a:p>
            <a:r>
              <a:rPr lang="fr-FR" dirty="0"/>
              <a:t>&gt; Représentations graphiques simplifiées</a:t>
            </a:r>
          </a:p>
          <a:p>
            <a:endParaRPr lang="fr-FR" dirty="0"/>
          </a:p>
          <a:p>
            <a:r>
              <a:rPr lang="fr-FR" b="1" dirty="0"/>
              <a:t>Inclusion d’information a priori : 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Rarement exploitée en écologie</a:t>
            </a:r>
          </a:p>
          <a:p>
            <a:endParaRPr lang="fr-FR" dirty="0"/>
          </a:p>
          <a:p>
            <a:r>
              <a:rPr lang="fr-FR" b="1" dirty="0"/>
              <a:t>&gt;</a:t>
            </a:r>
            <a:r>
              <a:rPr lang="fr-FR" dirty="0"/>
              <a:t> Plus utile dans d’autres disciplines (phylogénies – modèles évolutifs - … 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220CBB-ED36-F641-D92E-07FEDA0E1777}"/>
              </a:ext>
            </a:extLst>
          </p:cNvPr>
          <p:cNvSpPr txBox="1"/>
          <p:nvPr/>
        </p:nvSpPr>
        <p:spPr>
          <a:xfrm>
            <a:off x="4957483" y="812166"/>
            <a:ext cx="3944470" cy="45243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Processus lent : 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Chaînes longues et coûteuses en ressources de calcul</a:t>
            </a:r>
          </a:p>
          <a:p>
            <a:endParaRPr lang="fr-FR" dirty="0"/>
          </a:p>
          <a:p>
            <a:r>
              <a:rPr lang="fr-FR" b="1" dirty="0"/>
              <a:t>Sensibilité au </a:t>
            </a:r>
            <a:r>
              <a:rPr lang="fr-FR" b="1" dirty="0" err="1"/>
              <a:t>prior</a:t>
            </a:r>
            <a:r>
              <a:rPr lang="fr-FR" b="1" dirty="0"/>
              <a:t> :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Attention aux fonctions de lien</a:t>
            </a:r>
          </a:p>
          <a:p>
            <a:endParaRPr lang="fr-FR" dirty="0"/>
          </a:p>
          <a:p>
            <a:r>
              <a:rPr lang="fr-FR" b="1" dirty="0"/>
              <a:t>&gt;</a:t>
            </a:r>
            <a:r>
              <a:rPr lang="fr-FR" dirty="0"/>
              <a:t> Attention aux </a:t>
            </a:r>
            <a:r>
              <a:rPr lang="fr-FR" dirty="0" err="1"/>
              <a:t>priors</a:t>
            </a:r>
            <a:r>
              <a:rPr lang="fr-FR" dirty="0"/>
              <a:t> informatifs</a:t>
            </a:r>
          </a:p>
          <a:p>
            <a:endParaRPr lang="fr-FR" dirty="0"/>
          </a:p>
          <a:p>
            <a:r>
              <a:rPr lang="fr-FR" b="1" dirty="0"/>
              <a:t>Automatisation faible : </a:t>
            </a:r>
          </a:p>
          <a:p>
            <a:endParaRPr lang="fr-FR" b="1" dirty="0"/>
          </a:p>
          <a:p>
            <a:r>
              <a:rPr lang="fr-FR" b="1" dirty="0"/>
              <a:t>&gt; </a:t>
            </a:r>
            <a:r>
              <a:rPr lang="fr-FR" dirty="0"/>
              <a:t>Packages peu intuitifs</a:t>
            </a:r>
          </a:p>
          <a:p>
            <a:endParaRPr lang="fr-FR" dirty="0"/>
          </a:p>
          <a:p>
            <a:r>
              <a:rPr lang="fr-FR" b="1" dirty="0"/>
              <a:t>&gt;</a:t>
            </a:r>
            <a:r>
              <a:rPr lang="fr-FR" dirty="0"/>
              <a:t> Compréhension d’ensemble nécessaire</a:t>
            </a:r>
          </a:p>
        </p:txBody>
      </p:sp>
    </p:spTree>
    <p:extLst>
      <p:ext uri="{BB962C8B-B14F-4D97-AF65-F5344CB8AC3E}">
        <p14:creationId xmlns:p14="http://schemas.microsoft.com/office/powerpoint/2010/main" val="30331511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nalisé 2">
      <a:majorFont>
        <a:latin typeface="Abadi ExtraLight"/>
        <a:ea typeface=""/>
        <a:cs typeface=""/>
      </a:majorFont>
      <a:minorFont>
        <a:latin typeface="Abadi ExtraLight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2153</TotalTime>
  <Words>3209</Words>
  <Application>Microsoft Office PowerPoint</Application>
  <PresentationFormat>Affichage à l'écran (4:3)</PresentationFormat>
  <Paragraphs>464</Paragraphs>
  <Slides>50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9" baseType="lpstr">
      <vt:lpstr>Abadi ExtraLight</vt:lpstr>
      <vt:lpstr>ADLaM Display</vt:lpstr>
      <vt:lpstr>Aptos Light</vt:lpstr>
      <vt:lpstr>Arial</vt:lpstr>
      <vt:lpstr>Calibri</vt:lpstr>
      <vt:lpstr>Cambria Math</vt:lpstr>
      <vt:lpstr>Century Gothic</vt:lpstr>
      <vt:lpstr>Wingdings</vt:lpstr>
      <vt:lpstr>Thème Office</vt:lpstr>
      <vt:lpstr>Introduction  aux modèles de régression  en cadre bayésien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Jean-Yves BARNAGAUD</dc:creator>
  <cp:lastModifiedBy>Jean-Yves Barnagaud</cp:lastModifiedBy>
  <cp:revision>558</cp:revision>
  <dcterms:created xsi:type="dcterms:W3CDTF">2018-03-12T11:02:05Z</dcterms:created>
  <dcterms:modified xsi:type="dcterms:W3CDTF">2026-04-07T15:21:13Z</dcterms:modified>
</cp:coreProperties>
</file>