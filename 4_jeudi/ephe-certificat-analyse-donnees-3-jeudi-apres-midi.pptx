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0" r:id="rId2"/>
    <p:sldId id="323" r:id="rId3"/>
    <p:sldId id="324" r:id="rId4"/>
    <p:sldId id="256" r:id="rId5"/>
    <p:sldId id="325" r:id="rId6"/>
    <p:sldId id="311" r:id="rId7"/>
    <p:sldId id="310" r:id="rId8"/>
    <p:sldId id="309" r:id="rId9"/>
    <p:sldId id="308" r:id="rId10"/>
    <p:sldId id="304" r:id="rId11"/>
    <p:sldId id="303" r:id="rId12"/>
    <p:sldId id="302" r:id="rId13"/>
    <p:sldId id="307" r:id="rId14"/>
    <p:sldId id="312" r:id="rId15"/>
    <p:sldId id="306" r:id="rId16"/>
    <p:sldId id="305" r:id="rId17"/>
    <p:sldId id="321" r:id="rId18"/>
    <p:sldId id="298" r:id="rId19"/>
    <p:sldId id="301" r:id="rId20"/>
    <p:sldId id="313" r:id="rId21"/>
    <p:sldId id="314" r:id="rId22"/>
    <p:sldId id="316" r:id="rId23"/>
    <p:sldId id="315" r:id="rId24"/>
    <p:sldId id="317" r:id="rId25"/>
    <p:sldId id="318" r:id="rId26"/>
    <p:sldId id="319" r:id="rId27"/>
    <p:sldId id="320" r:id="rId28"/>
    <p:sldId id="322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ABCB-B2F6-40D1-BECC-FF6C6EBF13C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A39D-1350-4B3E-9E56-0B276012F0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4339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ABCB-B2F6-40D1-BECC-FF6C6EBF13C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A39D-1350-4B3E-9E56-0B276012F0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7810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ABCB-B2F6-40D1-BECC-FF6C6EBF13C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A39D-1350-4B3E-9E56-0B276012F0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3822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ABCB-B2F6-40D1-BECC-FF6C6EBF13C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A39D-1350-4B3E-9E56-0B276012F0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142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ABCB-B2F6-40D1-BECC-FF6C6EBF13C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A39D-1350-4B3E-9E56-0B276012F0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2103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ABCB-B2F6-40D1-BECC-FF6C6EBF13C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A39D-1350-4B3E-9E56-0B276012F0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456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ABCB-B2F6-40D1-BECC-FF6C6EBF13C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A39D-1350-4B3E-9E56-0B276012F0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9769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ABCB-B2F6-40D1-BECC-FF6C6EBF13C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A39D-1350-4B3E-9E56-0B276012F0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0968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ABCB-B2F6-40D1-BECC-FF6C6EBF13C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A39D-1350-4B3E-9E56-0B276012F0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04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ABCB-B2F6-40D1-BECC-FF6C6EBF13C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A39D-1350-4B3E-9E56-0B276012F0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00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ABCB-B2F6-40D1-BECC-FF6C6EBF13C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A39D-1350-4B3E-9E56-0B276012F0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010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BABCB-B2F6-40D1-BECC-FF6C6EBF13C9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7A39D-1350-4B3E-9E56-0B276012F0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1075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>
            <a:spLocks noGrp="1"/>
          </p:cNvSpPr>
          <p:nvPr>
            <p:ph type="ctrTitle"/>
          </p:nvPr>
        </p:nvSpPr>
        <p:spPr>
          <a:xfrm>
            <a:off x="35107" y="2590800"/>
            <a:ext cx="8387510" cy="1270055"/>
          </a:xfrm>
        </p:spPr>
        <p:txBody>
          <a:bodyPr>
            <a:normAutofit/>
          </a:bodyPr>
          <a:lstStyle/>
          <a:p>
            <a:pPr algn="l"/>
            <a:r>
              <a:rPr lang="fr-FR" sz="3600" dirty="0"/>
              <a:t>Exploration de données par les analyses multivariées : analyses multi-tables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BEDF52F-A1F1-49A7-9D42-807320EF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t>1</a:t>
            </a:fld>
            <a:endParaRPr lang="fr-FR"/>
          </a:p>
        </p:txBody>
      </p:sp>
      <p:pic>
        <p:nvPicPr>
          <p:cNvPr id="3" name="Image 2" descr="Une image contenant texte, habits, eau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6F219FF-A25F-FA04-EF81-5F945C2DAC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3602" y="-103243"/>
            <a:ext cx="9282495" cy="2694043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7DA04A08-376F-A3D0-A3BB-FBA13DC36836}"/>
              </a:ext>
            </a:extLst>
          </p:cNvPr>
          <p:cNvSpPr txBox="1">
            <a:spLocks/>
          </p:cNvSpPr>
          <p:nvPr/>
        </p:nvSpPr>
        <p:spPr>
          <a:xfrm>
            <a:off x="1" y="5284842"/>
            <a:ext cx="9282493" cy="15419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2400" dirty="0">
                <a:latin typeface="Abadi ExtraLight" panose="020B0204020104020204" pitchFamily="34" charset="0"/>
              </a:rPr>
              <a:t>Version 2026</a:t>
            </a:r>
          </a:p>
          <a:p>
            <a:pPr algn="l"/>
            <a:r>
              <a:rPr lang="fr-FR" sz="2400" dirty="0">
                <a:latin typeface="Abadi ExtraLight" panose="020B0204020104020204" pitchFamily="34" charset="0"/>
              </a:rPr>
              <a:t>Jean-Yves Barnagaud – jean-yves.barnagaud@ephe.psl.eu</a:t>
            </a:r>
          </a:p>
        </p:txBody>
      </p:sp>
    </p:spTree>
    <p:extLst>
      <p:ext uri="{BB962C8B-B14F-4D97-AF65-F5344CB8AC3E}">
        <p14:creationId xmlns:p14="http://schemas.microsoft.com/office/powerpoint/2010/main" val="2252006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929C2E4-960C-7876-2E55-4B014ADB6122}"/>
              </a:ext>
            </a:extLst>
          </p:cNvPr>
          <p:cNvSpPr txBox="1"/>
          <p:nvPr/>
        </p:nvSpPr>
        <p:spPr>
          <a:xfrm>
            <a:off x="154082" y="231774"/>
            <a:ext cx="5020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Abadi ExtraLight" panose="020B0204020104020204" pitchFamily="34" charset="0"/>
              </a:rPr>
              <a:t>Objectifs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1794C8E-8329-8340-71DD-F702F4626545}"/>
              </a:ext>
            </a:extLst>
          </p:cNvPr>
          <p:cNvSpPr txBox="1"/>
          <p:nvPr/>
        </p:nvSpPr>
        <p:spPr>
          <a:xfrm>
            <a:off x="76202" y="1792195"/>
            <a:ext cx="930760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fr-FR" sz="2800" dirty="0">
                <a:latin typeface="Abadi ExtraLight" panose="020B0204020104020204" pitchFamily="34" charset="0"/>
              </a:rPr>
              <a:t>Comprendre une méthodologie statistique à travers la bibliographie</a:t>
            </a:r>
          </a:p>
          <a:p>
            <a:endParaRPr lang="fr-FR" sz="2800" dirty="0">
              <a:latin typeface="Abadi ExtraLight" panose="020B0204020104020204" pitchFamily="34" charset="0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fr-FR" sz="2800" dirty="0">
                <a:latin typeface="Abadi ExtraLight" panose="020B0204020104020204" pitchFamily="34" charset="0"/>
              </a:rPr>
              <a:t>L’implémenter sur un cas simple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endParaRPr lang="fr-FR" sz="2800" dirty="0">
              <a:latin typeface="Abadi ExtraLight" panose="020B0204020104020204" pitchFamily="34" charset="0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fr-FR" sz="2800" dirty="0">
                <a:latin typeface="Abadi ExtraLight" panose="020B0204020104020204" pitchFamily="34" charset="0"/>
              </a:rPr>
              <a:t>Exposer la méthodologie de manière didactique</a:t>
            </a:r>
          </a:p>
          <a:p>
            <a:endParaRPr lang="fr-FR" sz="2800" dirty="0">
              <a:latin typeface="Abadi Extra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231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1AB4F-C1E4-1BF4-1CD5-CF7014C7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553C676-16F1-C262-D513-9CC26A0586C7}"/>
              </a:ext>
            </a:extLst>
          </p:cNvPr>
          <p:cNvSpPr txBox="1"/>
          <p:nvPr/>
        </p:nvSpPr>
        <p:spPr>
          <a:xfrm>
            <a:off x="154082" y="231774"/>
            <a:ext cx="5020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Abadi ExtraLight" panose="020B0204020104020204" pitchFamily="34" charset="0"/>
              </a:rPr>
              <a:t>Déroulé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2BC0BE2-6E66-1FA8-EC47-0F131EFF27DC}"/>
              </a:ext>
            </a:extLst>
          </p:cNvPr>
          <p:cNvSpPr txBox="1"/>
          <p:nvPr/>
        </p:nvSpPr>
        <p:spPr>
          <a:xfrm>
            <a:off x="154082" y="849220"/>
            <a:ext cx="9307607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fr-FR" sz="2400" b="1" dirty="0">
                <a:latin typeface="Abadi ExtraLight" panose="020B0204020104020204" pitchFamily="34" charset="0"/>
              </a:rPr>
              <a:t>Phase 1 : </a:t>
            </a:r>
            <a:r>
              <a:rPr lang="fr-FR" sz="2400" dirty="0">
                <a:latin typeface="Abadi ExtraLight" panose="020B0204020104020204" pitchFamily="34" charset="0"/>
              </a:rPr>
              <a:t>lecture bibliographique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FR" sz="2400" i="1" dirty="0">
                <a:latin typeface="Abadi ExtraLight" panose="020B0204020104020204" pitchFamily="34" charset="0"/>
              </a:rPr>
              <a:t>3 documents par groupe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FR" sz="2400" i="1" dirty="0">
                <a:latin typeface="Abadi ExtraLight" panose="020B0204020104020204" pitchFamily="34" charset="0"/>
              </a:rPr>
              <a:t>Identifier la question d’analyse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FR" sz="2400" i="1" dirty="0">
                <a:latin typeface="Abadi ExtraLight" panose="020B0204020104020204" pitchFamily="34" charset="0"/>
              </a:rPr>
              <a:t>Comprendre la méthode employée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FR" sz="2400" i="1" dirty="0">
                <a:latin typeface="Abadi ExtraLight" panose="020B0204020104020204" pitchFamily="34" charset="0"/>
              </a:rPr>
              <a:t>Interpréter les figures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400" dirty="0">
              <a:latin typeface="Abadi ExtraLight" panose="020B0204020104020204" pitchFamily="34" charset="0"/>
            </a:endParaRPr>
          </a:p>
          <a:p>
            <a:endParaRPr lang="fr-FR" sz="2400" dirty="0">
              <a:latin typeface="Abadi ExtraLight" panose="020B0204020104020204" pitchFamily="34" charset="0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fr-FR" sz="2400" b="1" dirty="0">
                <a:latin typeface="Abadi ExtraLight" panose="020B0204020104020204" pitchFamily="34" charset="0"/>
              </a:rPr>
              <a:t>Phase 2 : </a:t>
            </a:r>
            <a:r>
              <a:rPr lang="fr-FR" sz="2400" dirty="0">
                <a:latin typeface="Abadi ExtraLight" panose="020B0204020104020204" pitchFamily="34" charset="0"/>
              </a:rPr>
              <a:t>implémentation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FR" sz="2400" i="1" dirty="0">
                <a:latin typeface="Abadi ExtraLight" panose="020B0204020104020204" pitchFamily="34" charset="0"/>
              </a:rPr>
              <a:t>Un jeu de données par groupe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FR" sz="2400" i="1" dirty="0">
                <a:latin typeface="Abadi ExtraLight" panose="020B0204020104020204" pitchFamily="34" charset="0"/>
              </a:rPr>
              <a:t>Implémenter l’analyse identifiée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FR" sz="2400" i="1" dirty="0">
                <a:latin typeface="Abadi ExtraLight" panose="020B0204020104020204" pitchFamily="34" charset="0"/>
              </a:rPr>
              <a:t>Commenter les résultats</a:t>
            </a:r>
          </a:p>
          <a:p>
            <a:endParaRPr lang="fr-FR" sz="2400" dirty="0">
              <a:latin typeface="Abadi ExtraLight" panose="020B02040201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b="1" dirty="0">
                <a:latin typeface="Abadi ExtraLight" panose="020B0204020104020204" pitchFamily="34" charset="0"/>
              </a:rPr>
              <a:t>Phase 3 : </a:t>
            </a:r>
            <a:r>
              <a:rPr lang="fr-FR" sz="2400" dirty="0">
                <a:latin typeface="Abadi ExtraLight" panose="020B0204020104020204" pitchFamily="34" charset="0"/>
              </a:rPr>
              <a:t>mise en commun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i="1" dirty="0">
                <a:latin typeface="Abadi ExtraLight" panose="020B0204020104020204" pitchFamily="34" charset="0"/>
              </a:rPr>
              <a:t>Confronter les lectures entre groupes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i="1" dirty="0">
                <a:latin typeface="Abadi ExtraLight" panose="020B0204020104020204" pitchFamily="34" charset="0"/>
              </a:rPr>
              <a:t>Elaborer une restitution commune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dirty="0">
              <a:latin typeface="Abadi ExtraLight" panose="020B02040201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Abadi ExtraLight" panose="020B0204020104020204" pitchFamily="34" charset="0"/>
            </a:endParaRPr>
          </a:p>
          <a:p>
            <a:endParaRPr lang="fr-FR" sz="2800" dirty="0">
              <a:latin typeface="Abadi ExtraLight" panose="020B0204020104020204" pitchFamily="34" charset="0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endParaRPr lang="fr-FR" sz="2800" dirty="0">
              <a:latin typeface="Abadi ExtraLight" panose="020B0204020104020204" pitchFamily="34" charset="0"/>
            </a:endParaRPr>
          </a:p>
          <a:p>
            <a:endParaRPr lang="fr-FR" sz="2800" dirty="0">
              <a:latin typeface="Abadi Extra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37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A347873-3DF7-F010-5E98-2A4F1D85054A}"/>
              </a:ext>
            </a:extLst>
          </p:cNvPr>
          <p:cNvSpPr txBox="1"/>
          <p:nvPr/>
        </p:nvSpPr>
        <p:spPr>
          <a:xfrm>
            <a:off x="1662108" y="304234"/>
            <a:ext cx="581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Cas pratique 1 : Communautés de papillons dans les Landes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E3C218B-EFA2-DB64-C99B-84A44D7E27D1}"/>
              </a:ext>
            </a:extLst>
          </p:cNvPr>
          <p:cNvSpPr txBox="1"/>
          <p:nvPr/>
        </p:nvSpPr>
        <p:spPr>
          <a:xfrm>
            <a:off x="1662113" y="923925"/>
            <a:ext cx="5819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entury Gothic" panose="020B0502020202020204" pitchFamily="34" charset="0"/>
              </a:rPr>
              <a:t>On s’intéresse à la distribution des traits écologiques des papillons le long des gradients d’habitats des forêts landaises en Aquitaine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F870C96-DD99-B3C4-F4B2-73733CE7A323}"/>
              </a:ext>
            </a:extLst>
          </p:cNvPr>
          <p:cNvSpPr txBox="1"/>
          <p:nvPr/>
        </p:nvSpPr>
        <p:spPr>
          <a:xfrm>
            <a:off x="1662109" y="1995741"/>
            <a:ext cx="581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Cas pratique 2 : Communautés de reptiles en Occitanie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D38876-01F7-46BD-26B2-1F2E8996CBFA}"/>
              </a:ext>
            </a:extLst>
          </p:cNvPr>
          <p:cNvSpPr txBox="1"/>
          <p:nvPr/>
        </p:nvSpPr>
        <p:spPr>
          <a:xfrm>
            <a:off x="1662112" y="2618095"/>
            <a:ext cx="5819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entury Gothic" panose="020B0502020202020204" pitchFamily="34" charset="0"/>
              </a:rPr>
              <a:t>On étudie la variabilité des traits écologiques des reptiles sur les gradients éco-climatiques de la région Occitanie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3168575-FC69-9B03-CE09-79E23E965874}"/>
              </a:ext>
            </a:extLst>
          </p:cNvPr>
          <p:cNvSpPr txBox="1"/>
          <p:nvPr/>
        </p:nvSpPr>
        <p:spPr>
          <a:xfrm>
            <a:off x="1662110" y="3646853"/>
            <a:ext cx="581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Cas pratique 3 : Communautés d’oiseaux en Nouvelle Zélande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55E18FD-1972-FC52-97EB-244291C25E14}"/>
              </a:ext>
            </a:extLst>
          </p:cNvPr>
          <p:cNvSpPr txBox="1"/>
          <p:nvPr/>
        </p:nvSpPr>
        <p:spPr>
          <a:xfrm>
            <a:off x="1662110" y="4239905"/>
            <a:ext cx="5819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entury Gothic" panose="020B0502020202020204" pitchFamily="34" charset="0"/>
              </a:rPr>
              <a:t>On cherche à savoir si la séparation d’habitat entre espèces natives et introduites peut s’expliquer par leurs traits écologiques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9B4CCA3-1200-B938-B7CC-2446B08AA51D}"/>
              </a:ext>
            </a:extLst>
          </p:cNvPr>
          <p:cNvSpPr txBox="1"/>
          <p:nvPr/>
        </p:nvSpPr>
        <p:spPr>
          <a:xfrm>
            <a:off x="1662111" y="5287744"/>
            <a:ext cx="581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Cas pratique 4 : Communautés d’oiseaux sur l’île de la Réunion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B74AE4E-7E46-050D-578D-079C04E129D1}"/>
              </a:ext>
            </a:extLst>
          </p:cNvPr>
          <p:cNvSpPr txBox="1"/>
          <p:nvPr/>
        </p:nvSpPr>
        <p:spPr>
          <a:xfrm>
            <a:off x="1662111" y="5920084"/>
            <a:ext cx="5819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entury Gothic" panose="020B0502020202020204" pitchFamily="34" charset="0"/>
              </a:rPr>
              <a:t>On cherche à savoir si la séparation d’habitat entre espèces natives et introduites peut s’expliquer par leurs traits écologiques</a:t>
            </a:r>
          </a:p>
        </p:txBody>
      </p:sp>
    </p:spTree>
    <p:extLst>
      <p:ext uri="{BB962C8B-B14F-4D97-AF65-F5344CB8AC3E}">
        <p14:creationId xmlns:p14="http://schemas.microsoft.com/office/powerpoint/2010/main" val="4184594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923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E231A57-64AF-D06A-6F37-514E47EA8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098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3E77699-4F37-9339-E6A9-28BD7D6C2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0741" y="71919"/>
            <a:ext cx="6981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2BA709B-4C52-FA14-BFBA-09161E6D38F2}"/>
              </a:ext>
            </a:extLst>
          </p:cNvPr>
          <p:cNvSpPr txBox="1"/>
          <p:nvPr/>
        </p:nvSpPr>
        <p:spPr>
          <a:xfrm>
            <a:off x="6099425" y="5754199"/>
            <a:ext cx="47492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entury Gothic" panose="020B0502020202020204" pitchFamily="34" charset="0"/>
              </a:rPr>
              <a:t>Charles H. Deetz, Elements of Map Projection With Applications to Map and Chart Construction (Washington: Government Printing Office, 1921): 51. </a:t>
            </a:r>
            <a:r>
              <a:rPr lang="en-US" sz="1600" dirty="0" err="1">
                <a:latin typeface="Century Gothic" panose="020B0502020202020204" pitchFamily="34" charset="0"/>
              </a:rPr>
              <a:t>HathiTrust</a:t>
            </a:r>
            <a:r>
              <a:rPr lang="en-US" sz="1600" dirty="0">
                <a:latin typeface="Century Gothic" panose="020B0502020202020204" pitchFamily="34" charset="0"/>
              </a:rPr>
              <a:t>/Cornell</a:t>
            </a:r>
            <a:endParaRPr lang="fr-FR" sz="1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693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950B4D4-8266-E2DE-2C5B-C0F022D7C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68981" y="613022"/>
            <a:ext cx="8475274" cy="563195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E08B464-3AF2-34D3-61F9-3EB4BA618EF1}"/>
              </a:ext>
            </a:extLst>
          </p:cNvPr>
          <p:cNvSpPr txBox="1"/>
          <p:nvPr/>
        </p:nvSpPr>
        <p:spPr>
          <a:xfrm>
            <a:off x="5914491" y="6244978"/>
            <a:ext cx="5414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Diaz et al Nature 2015</a:t>
            </a:r>
          </a:p>
        </p:txBody>
      </p:sp>
    </p:spTree>
    <p:extLst>
      <p:ext uri="{BB962C8B-B14F-4D97-AF65-F5344CB8AC3E}">
        <p14:creationId xmlns:p14="http://schemas.microsoft.com/office/powerpoint/2010/main" val="2573218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F46709C-F633-D880-F9CC-D77B67769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92268" y="0"/>
            <a:ext cx="9291484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01E4B70-0FC4-6903-DCEF-9A3A807BBA70}"/>
              </a:ext>
            </a:extLst>
          </p:cNvPr>
          <p:cNvSpPr txBox="1"/>
          <p:nvPr/>
        </p:nvSpPr>
        <p:spPr>
          <a:xfrm>
            <a:off x="4291174" y="6308332"/>
            <a:ext cx="668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Century Gothic" panose="020B0502020202020204" pitchFamily="34" charset="0"/>
              </a:rPr>
              <a:t>Pianka</a:t>
            </a:r>
            <a:r>
              <a:rPr lang="fr-FR" dirty="0">
                <a:latin typeface="Century Gothic" panose="020B0502020202020204" pitchFamily="34" charset="0"/>
              </a:rPr>
              <a:t> et al. American </a:t>
            </a:r>
            <a:r>
              <a:rPr lang="fr-FR" dirty="0" err="1">
                <a:latin typeface="Century Gothic" panose="020B0502020202020204" pitchFamily="34" charset="0"/>
              </a:rPr>
              <a:t>Naturalist</a:t>
            </a:r>
            <a:r>
              <a:rPr lang="fr-FR" dirty="0">
                <a:latin typeface="Century Gothic" panose="020B0502020202020204" pitchFamily="34" charset="0"/>
              </a:rPr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1124159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801923C-C350-30A9-AFAE-93C0F6D318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4901" y="0"/>
            <a:ext cx="4561892" cy="6858000"/>
          </a:xfrm>
          <a:prstGeom prst="rect">
            <a:avLst/>
          </a:prstGeom>
        </p:spPr>
      </p:pic>
      <p:pic>
        <p:nvPicPr>
          <p:cNvPr id="9" name="Image 8" descr="Une image contenant carte&#10;&#10;Description générée automatiquement">
            <a:extLst>
              <a:ext uri="{FF2B5EF4-FFF2-40B4-BE49-F238E27FC236}">
                <a16:creationId xmlns:a16="http://schemas.microsoft.com/office/drawing/2014/main" id="{DE49FA84-EE07-68F6-1CED-2E57548876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628" y="1723984"/>
            <a:ext cx="7034373" cy="369319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E0AD964-1928-0ED3-6DCF-0EF8120BC6FA}"/>
              </a:ext>
            </a:extLst>
          </p:cNvPr>
          <p:cNvSpPr txBox="1"/>
          <p:nvPr/>
        </p:nvSpPr>
        <p:spPr>
          <a:xfrm>
            <a:off x="4291174" y="6308332"/>
            <a:ext cx="668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entury Gothic" panose="020B0502020202020204" pitchFamily="34" charset="0"/>
              </a:rPr>
              <a:t>Barnagaud et al Global </a:t>
            </a:r>
            <a:r>
              <a:rPr lang="fr-FR" dirty="0" err="1">
                <a:latin typeface="Century Gothic" panose="020B0502020202020204" pitchFamily="34" charset="0"/>
              </a:rPr>
              <a:t>Ecology</a:t>
            </a:r>
            <a:r>
              <a:rPr lang="fr-FR" dirty="0">
                <a:latin typeface="Century Gothic" panose="020B0502020202020204" pitchFamily="34" charset="0"/>
              </a:rPr>
              <a:t> &amp; </a:t>
            </a:r>
            <a:r>
              <a:rPr lang="fr-FR" dirty="0" err="1">
                <a:latin typeface="Century Gothic" panose="020B0502020202020204" pitchFamily="34" charset="0"/>
              </a:rPr>
              <a:t>Biogeography</a:t>
            </a:r>
            <a:r>
              <a:rPr lang="fr-FR" dirty="0">
                <a:latin typeface="Century Gothic" panose="020B0502020202020204" pitchFamily="34" charset="0"/>
              </a:rPr>
              <a:t> 2019</a:t>
            </a:r>
          </a:p>
        </p:txBody>
      </p:sp>
    </p:spTree>
    <p:extLst>
      <p:ext uri="{BB962C8B-B14F-4D97-AF65-F5344CB8AC3E}">
        <p14:creationId xmlns:p14="http://schemas.microsoft.com/office/powerpoint/2010/main" val="3287930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2911A86-FEF7-8C4D-A859-EDBA8A889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0293" y="618131"/>
            <a:ext cx="10675351" cy="582376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DBC56A0-9CE2-B521-FFDD-7CBFB23DD884}"/>
              </a:ext>
            </a:extLst>
          </p:cNvPr>
          <p:cNvSpPr txBox="1"/>
          <p:nvPr/>
        </p:nvSpPr>
        <p:spPr>
          <a:xfrm>
            <a:off x="5914491" y="6244978"/>
            <a:ext cx="5414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Century Gothic" panose="020B0502020202020204" pitchFamily="34" charset="0"/>
              </a:rPr>
              <a:t>Mathevon</a:t>
            </a:r>
            <a:r>
              <a:rPr lang="fr-FR" dirty="0">
                <a:latin typeface="Century Gothic" panose="020B0502020202020204" pitchFamily="34" charset="0"/>
              </a:rPr>
              <a:t> et al. </a:t>
            </a:r>
            <a:r>
              <a:rPr lang="fr-FR" i="1" dirty="0">
                <a:latin typeface="Century Gothic" panose="020B0502020202020204" pitchFamily="34" charset="0"/>
              </a:rPr>
              <a:t>non publié</a:t>
            </a:r>
          </a:p>
        </p:txBody>
      </p:sp>
    </p:spTree>
    <p:extLst>
      <p:ext uri="{BB962C8B-B14F-4D97-AF65-F5344CB8AC3E}">
        <p14:creationId xmlns:p14="http://schemas.microsoft.com/office/powerpoint/2010/main" val="2554157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71109A9-CDB5-AD26-DF41-A7A2428E822C}"/>
              </a:ext>
            </a:extLst>
          </p:cNvPr>
          <p:cNvSpPr txBox="1"/>
          <p:nvPr/>
        </p:nvSpPr>
        <p:spPr>
          <a:xfrm>
            <a:off x="-1061665" y="462338"/>
            <a:ext cx="11352945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Century Gothic" panose="020B0502020202020204" pitchFamily="34" charset="0"/>
              </a:rPr>
              <a:t>Objectifs : </a:t>
            </a:r>
          </a:p>
          <a:p>
            <a:endParaRPr lang="fr-FR" dirty="0">
              <a:latin typeface="Century Gothic" panose="020B0502020202020204" pitchFamily="34" charset="0"/>
            </a:endParaRPr>
          </a:p>
          <a:p>
            <a:endParaRPr lang="fr-FR" dirty="0">
              <a:latin typeface="Century Gothic" panose="020B0502020202020204" pitchFamily="34" charset="0"/>
            </a:endParaRPr>
          </a:p>
          <a:p>
            <a:endParaRPr lang="fr-FR" dirty="0">
              <a:latin typeface="Century Gothic" panose="020B0502020202020204" pitchFamily="34" charset="0"/>
            </a:endParaRPr>
          </a:p>
          <a:p>
            <a:r>
              <a:rPr lang="fr-FR" sz="3600" dirty="0">
                <a:latin typeface="Century Gothic" panose="020B0502020202020204" pitchFamily="34" charset="0"/>
              </a:rPr>
              <a:t>Réduction de </a:t>
            </a:r>
            <a:r>
              <a:rPr lang="fr-FR" sz="3600" b="1" u="sng" dirty="0">
                <a:latin typeface="Century Gothic" panose="020B0502020202020204" pitchFamily="34" charset="0"/>
              </a:rPr>
              <a:t>dimensionnalité</a:t>
            </a:r>
          </a:p>
          <a:p>
            <a:endParaRPr lang="fr-FR" sz="3600" dirty="0">
              <a:latin typeface="Century Gothic" panose="020B0502020202020204" pitchFamily="34" charset="0"/>
            </a:endParaRPr>
          </a:p>
          <a:p>
            <a:r>
              <a:rPr lang="fr-FR" sz="3600" b="1" u="sng" dirty="0">
                <a:latin typeface="Century Gothic" panose="020B0502020202020204" pitchFamily="34" charset="0"/>
              </a:rPr>
              <a:t>Exploration</a:t>
            </a:r>
            <a:r>
              <a:rPr lang="fr-FR" sz="3600" dirty="0">
                <a:latin typeface="Century Gothic" panose="020B0502020202020204" pitchFamily="34" charset="0"/>
              </a:rPr>
              <a:t> de jeux de données</a:t>
            </a:r>
          </a:p>
          <a:p>
            <a:endParaRPr lang="fr-FR" sz="3600" dirty="0">
              <a:latin typeface="Century Gothic" panose="020B0502020202020204" pitchFamily="34" charset="0"/>
            </a:endParaRPr>
          </a:p>
          <a:p>
            <a:r>
              <a:rPr lang="fr-FR" sz="3600" dirty="0">
                <a:latin typeface="Century Gothic" panose="020B0502020202020204" pitchFamily="34" charset="0"/>
              </a:rPr>
              <a:t>Représentation </a:t>
            </a:r>
            <a:r>
              <a:rPr lang="fr-FR" sz="3600" b="1" u="sng" dirty="0">
                <a:latin typeface="Century Gothic" panose="020B0502020202020204" pitchFamily="34" charset="0"/>
              </a:rPr>
              <a:t>graphique</a:t>
            </a:r>
            <a:r>
              <a:rPr lang="fr-FR" sz="3600" dirty="0">
                <a:latin typeface="Century Gothic" panose="020B0502020202020204" pitchFamily="34" charset="0"/>
              </a:rPr>
              <a:t> d’une variabilité</a:t>
            </a:r>
          </a:p>
          <a:p>
            <a:endParaRPr lang="fr-FR" sz="3600" dirty="0">
              <a:latin typeface="Century Gothic" panose="020B0502020202020204" pitchFamily="34" charset="0"/>
            </a:endParaRPr>
          </a:p>
          <a:p>
            <a:r>
              <a:rPr lang="fr-FR" sz="3600" dirty="0">
                <a:latin typeface="Century Gothic" panose="020B0502020202020204" pitchFamily="34" charset="0"/>
              </a:rPr>
              <a:t>Etude des patrons de </a:t>
            </a:r>
            <a:r>
              <a:rPr lang="fr-FR" sz="3600" b="1" u="sng" dirty="0">
                <a:latin typeface="Century Gothic" panose="020B0502020202020204" pitchFamily="34" charset="0"/>
              </a:rPr>
              <a:t>dissimilarités</a:t>
            </a:r>
            <a:r>
              <a:rPr lang="fr-FR" sz="3600" dirty="0">
                <a:latin typeface="Century Gothic" panose="020B0502020202020204" pitchFamily="34" charset="0"/>
              </a:rPr>
              <a:t> entre individus</a:t>
            </a:r>
          </a:p>
          <a:p>
            <a:endParaRPr lang="fr-FR" sz="2800" dirty="0">
              <a:latin typeface="Century Gothic" panose="020B0502020202020204" pitchFamily="34" charset="0"/>
            </a:endParaRPr>
          </a:p>
          <a:p>
            <a:endParaRPr lang="fr-FR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994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F9803A1-55A1-42A0-06BD-311AA2B238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92" t="22928"/>
          <a:stretch>
            <a:fillRect/>
          </a:stretch>
        </p:blipFill>
        <p:spPr bwMode="auto">
          <a:xfrm>
            <a:off x="-1211066" y="434005"/>
            <a:ext cx="5375545" cy="481609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A4DFD6F-6418-1160-E026-79A07AADB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523" y="814710"/>
            <a:ext cx="4762500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E0966A6-C1CA-73B5-C693-F259428FFADF}"/>
              </a:ext>
            </a:extLst>
          </p:cNvPr>
          <p:cNvSpPr txBox="1"/>
          <p:nvPr/>
        </p:nvSpPr>
        <p:spPr>
          <a:xfrm>
            <a:off x="-1511994" y="5720126"/>
            <a:ext cx="11352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latin typeface="Century Gothic" panose="020B0502020202020204" pitchFamily="34" charset="0"/>
              </a:rPr>
              <a:t>Dissimilarités = relations</a:t>
            </a:r>
            <a:endParaRPr lang="fr-FR" sz="2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055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9F5BB3C-605E-F587-4AB1-8E094032D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8339" y="414552"/>
            <a:ext cx="6391275" cy="629602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A5C9A4E-A021-1F50-EEEB-8FF1FEE92EB7}"/>
              </a:ext>
            </a:extLst>
          </p:cNvPr>
          <p:cNvSpPr txBox="1"/>
          <p:nvPr/>
        </p:nvSpPr>
        <p:spPr>
          <a:xfrm>
            <a:off x="5945312" y="1561672"/>
            <a:ext cx="40480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Century Gothic" panose="020B0502020202020204" pitchFamily="34" charset="0"/>
              </a:rPr>
              <a:t>Trouver le meilleur </a:t>
            </a:r>
            <a:r>
              <a:rPr lang="fr-FR" sz="2800" b="1" u="sng" dirty="0">
                <a:latin typeface="Century Gothic" panose="020B0502020202020204" pitchFamily="34" charset="0"/>
              </a:rPr>
              <a:t>compromis</a:t>
            </a:r>
            <a:r>
              <a:rPr lang="fr-FR" sz="2800" dirty="0">
                <a:latin typeface="Century Gothic" panose="020B0502020202020204" pitchFamily="34" charset="0"/>
              </a:rPr>
              <a:t> entre réduction de dimensionnalité, si possible dans un </a:t>
            </a:r>
            <a:r>
              <a:rPr lang="fr-FR" sz="2800" b="1" u="sng" dirty="0">
                <a:latin typeface="Century Gothic" panose="020B0502020202020204" pitchFamily="34" charset="0"/>
              </a:rPr>
              <a:t>espace euclidien</a:t>
            </a:r>
            <a:r>
              <a:rPr lang="fr-FR" sz="2800" dirty="0">
                <a:latin typeface="Century Gothic" panose="020B0502020202020204" pitchFamily="34" charset="0"/>
              </a:rPr>
              <a:t>, et préservation des </a:t>
            </a:r>
            <a:r>
              <a:rPr lang="fr-FR" sz="2800" b="1" u="sng" dirty="0">
                <a:latin typeface="Century Gothic" panose="020B0502020202020204" pitchFamily="34" charset="0"/>
              </a:rPr>
              <a:t>dissimilarités réelles</a:t>
            </a:r>
            <a:r>
              <a:rPr lang="fr-FR" sz="2800" dirty="0">
                <a:latin typeface="Century Gothic" panose="020B0502020202020204" pitchFamily="34" charset="0"/>
              </a:rPr>
              <a:t> entre individus</a:t>
            </a:r>
            <a:endParaRPr lang="fr-FR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90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enthèses 3">
            <a:extLst>
              <a:ext uri="{FF2B5EF4-FFF2-40B4-BE49-F238E27FC236}">
                <a16:creationId xmlns:a16="http://schemas.microsoft.com/office/drawing/2014/main" id="{8455C9C1-5E34-E172-DCBE-92FAAACADA7F}"/>
              </a:ext>
            </a:extLst>
          </p:cNvPr>
          <p:cNvSpPr/>
          <p:nvPr/>
        </p:nvSpPr>
        <p:spPr>
          <a:xfrm>
            <a:off x="1712359" y="133565"/>
            <a:ext cx="5250095" cy="2455523"/>
          </a:xfrm>
          <a:prstGeom prst="bracketPair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BCC038D-65AB-0B4C-6F36-75CA9F920454}"/>
              </a:ext>
            </a:extLst>
          </p:cNvPr>
          <p:cNvSpPr txBox="1"/>
          <p:nvPr/>
        </p:nvSpPr>
        <p:spPr>
          <a:xfrm>
            <a:off x="2565115" y="1001304"/>
            <a:ext cx="3955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Century Gothic" panose="020B0502020202020204" pitchFamily="34" charset="0"/>
              </a:rPr>
              <a:t>K &gt; 5 dimensions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6B4997C-7E16-7560-F2DF-741AA4DFB92D}"/>
              </a:ext>
            </a:extLst>
          </p:cNvPr>
          <p:cNvCxnSpPr>
            <a:cxnSpLocks/>
          </p:cNvCxnSpPr>
          <p:nvPr/>
        </p:nvCxnSpPr>
        <p:spPr>
          <a:xfrm>
            <a:off x="2349357" y="2710448"/>
            <a:ext cx="1726059" cy="762216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6197378-531B-FC96-73A7-86DBD376353E}"/>
              </a:ext>
            </a:extLst>
          </p:cNvPr>
          <p:cNvCxnSpPr>
            <a:cxnSpLocks/>
          </p:cNvCxnSpPr>
          <p:nvPr/>
        </p:nvCxnSpPr>
        <p:spPr>
          <a:xfrm>
            <a:off x="2955531" y="2589088"/>
            <a:ext cx="1119884" cy="883577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4FFB7EB4-68CA-F6BA-73D4-37F34D70F4E3}"/>
              </a:ext>
            </a:extLst>
          </p:cNvPr>
          <p:cNvCxnSpPr>
            <a:cxnSpLocks/>
          </p:cNvCxnSpPr>
          <p:nvPr/>
        </p:nvCxnSpPr>
        <p:spPr>
          <a:xfrm>
            <a:off x="4075415" y="2656722"/>
            <a:ext cx="0" cy="800104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7D61A4A8-A3F6-899C-C926-CCCA9CB0F8C2}"/>
              </a:ext>
            </a:extLst>
          </p:cNvPr>
          <p:cNvCxnSpPr>
            <a:cxnSpLocks/>
          </p:cNvCxnSpPr>
          <p:nvPr/>
        </p:nvCxnSpPr>
        <p:spPr>
          <a:xfrm flipH="1">
            <a:off x="4075416" y="2589088"/>
            <a:ext cx="1253447" cy="867739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E0B75CF3-2948-67E0-C58B-4D3CFDBC8DED}"/>
              </a:ext>
            </a:extLst>
          </p:cNvPr>
          <p:cNvCxnSpPr>
            <a:cxnSpLocks/>
          </p:cNvCxnSpPr>
          <p:nvPr/>
        </p:nvCxnSpPr>
        <p:spPr>
          <a:xfrm flipH="1">
            <a:off x="4075415" y="2665288"/>
            <a:ext cx="2147298" cy="791539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897DCD7E-1275-9B4E-F70B-F6F55E2EADA5}"/>
              </a:ext>
            </a:extLst>
          </p:cNvPr>
          <p:cNvSpPr txBox="1"/>
          <p:nvPr/>
        </p:nvSpPr>
        <p:spPr>
          <a:xfrm>
            <a:off x="2267163" y="3517826"/>
            <a:ext cx="3955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Century Gothic" panose="020B0502020202020204" pitchFamily="34" charset="0"/>
              </a:rPr>
              <a:t>k &lt; K dimensions 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9786AC0C-32D6-DAEF-C019-BA3AE4E91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9698" y="4268914"/>
            <a:ext cx="3545085" cy="1933964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73F8E1E4-14D7-EB65-FF3F-5F3BCAB87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663752" y="4163733"/>
            <a:ext cx="2076772" cy="1815558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C2B9BA3F-6B38-0D59-0816-B460C7157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230" y="4069140"/>
            <a:ext cx="2352675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57D88343-8D66-A973-CA1B-ECE60B3A661D}"/>
              </a:ext>
            </a:extLst>
          </p:cNvPr>
          <p:cNvSpPr txBox="1"/>
          <p:nvPr/>
        </p:nvSpPr>
        <p:spPr>
          <a:xfrm>
            <a:off x="-913519" y="6202879"/>
            <a:ext cx="3955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entury Gothic" panose="020B0502020202020204" pitchFamily="34" charset="0"/>
              </a:rPr>
              <a:t>AI (réseaux de neurones)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AFA140C-38BF-C972-7F15-8773A0EE24C2}"/>
              </a:ext>
            </a:extLst>
          </p:cNvPr>
          <p:cNvSpPr txBox="1"/>
          <p:nvPr/>
        </p:nvSpPr>
        <p:spPr>
          <a:xfrm>
            <a:off x="2831805" y="6018212"/>
            <a:ext cx="3955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Century Gothic" panose="020B0502020202020204" pitchFamily="34" charset="0"/>
              </a:rPr>
              <a:t>Optimisation par algorithmes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622988E-8074-E565-C01B-612D38B5E50E}"/>
              </a:ext>
            </a:extLst>
          </p:cNvPr>
          <p:cNvSpPr txBox="1"/>
          <p:nvPr/>
        </p:nvSpPr>
        <p:spPr>
          <a:xfrm>
            <a:off x="7043772" y="5930049"/>
            <a:ext cx="3699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Century Gothic" panose="020B0502020202020204" pitchFamily="34" charset="0"/>
              </a:rPr>
              <a:t>Décomposition de matrices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2412D5-7C98-F3EF-6880-3EBE8566EA5C}"/>
              </a:ext>
            </a:extLst>
          </p:cNvPr>
          <p:cNvSpPr/>
          <p:nvPr/>
        </p:nvSpPr>
        <p:spPr>
          <a:xfrm>
            <a:off x="6962454" y="3490644"/>
            <a:ext cx="3545083" cy="3295436"/>
          </a:xfrm>
          <a:prstGeom prst="rect">
            <a:avLst/>
          </a:prstGeom>
          <a:noFill/>
          <a:ln w="762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671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8BEFC8-9FCB-4651-9E54-1D729451715F}"/>
              </a:ext>
            </a:extLst>
          </p:cNvPr>
          <p:cNvSpPr/>
          <p:nvPr/>
        </p:nvSpPr>
        <p:spPr>
          <a:xfrm>
            <a:off x="3170048" y="5089092"/>
            <a:ext cx="1695237" cy="1709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Parenthèses 4">
            <a:extLst>
              <a:ext uri="{FF2B5EF4-FFF2-40B4-BE49-F238E27FC236}">
                <a16:creationId xmlns:a16="http://schemas.microsoft.com/office/drawing/2014/main" id="{7A4551FD-F200-48B4-462C-F07BABF678B8}"/>
              </a:ext>
            </a:extLst>
          </p:cNvPr>
          <p:cNvSpPr/>
          <p:nvPr/>
        </p:nvSpPr>
        <p:spPr>
          <a:xfrm>
            <a:off x="3094442" y="3930189"/>
            <a:ext cx="1507525" cy="675949"/>
          </a:xfrm>
          <a:prstGeom prst="bracketPai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Parenthèses 5">
            <a:extLst>
              <a:ext uri="{FF2B5EF4-FFF2-40B4-BE49-F238E27FC236}">
                <a16:creationId xmlns:a16="http://schemas.microsoft.com/office/drawing/2014/main" id="{3460105D-03FA-4F7B-5503-7AEAE47BA7A9}"/>
              </a:ext>
            </a:extLst>
          </p:cNvPr>
          <p:cNvSpPr/>
          <p:nvPr/>
        </p:nvSpPr>
        <p:spPr>
          <a:xfrm>
            <a:off x="3273556" y="57059"/>
            <a:ext cx="1168399" cy="1044602"/>
          </a:xfrm>
          <a:prstGeom prst="bracketPai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AE7699E-B3AA-055B-50F5-F41E1EFD55B7}"/>
              </a:ext>
            </a:extLst>
          </p:cNvPr>
          <p:cNvSpPr txBox="1"/>
          <p:nvPr/>
        </p:nvSpPr>
        <p:spPr>
          <a:xfrm>
            <a:off x="3530501" y="0"/>
            <a:ext cx="78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variables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8CC0BB9-F22A-300C-4226-CE55F91BFD00}"/>
              </a:ext>
            </a:extLst>
          </p:cNvPr>
          <p:cNvSpPr txBox="1"/>
          <p:nvPr/>
        </p:nvSpPr>
        <p:spPr>
          <a:xfrm rot="16200000">
            <a:off x="2992252" y="393700"/>
            <a:ext cx="78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individus</a:t>
            </a:r>
          </a:p>
        </p:txBody>
      </p:sp>
      <p:sp>
        <p:nvSpPr>
          <p:cNvPr id="9" name="Parenthèses 8">
            <a:extLst>
              <a:ext uri="{FF2B5EF4-FFF2-40B4-BE49-F238E27FC236}">
                <a16:creationId xmlns:a16="http://schemas.microsoft.com/office/drawing/2014/main" id="{2461E9C2-A554-7605-0874-0A43872B435A}"/>
              </a:ext>
            </a:extLst>
          </p:cNvPr>
          <p:cNvSpPr/>
          <p:nvPr/>
        </p:nvSpPr>
        <p:spPr>
          <a:xfrm>
            <a:off x="3411025" y="1470351"/>
            <a:ext cx="917374" cy="1015574"/>
          </a:xfrm>
          <a:prstGeom prst="bracketPai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1FADF81-4439-08C7-26BF-2B2F073D1666}"/>
              </a:ext>
            </a:extLst>
          </p:cNvPr>
          <p:cNvSpPr txBox="1"/>
          <p:nvPr/>
        </p:nvSpPr>
        <p:spPr>
          <a:xfrm>
            <a:off x="3502152" y="383595"/>
            <a:ext cx="1363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Table 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1D60937-6D9D-1D63-58D5-3A0A278D190C}"/>
              </a:ext>
            </a:extLst>
          </p:cNvPr>
          <p:cNvSpPr txBox="1"/>
          <p:nvPr/>
        </p:nvSpPr>
        <p:spPr>
          <a:xfrm>
            <a:off x="3094442" y="1478568"/>
            <a:ext cx="16010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individus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B8B6A3D-075A-D60F-1B2D-C7ED373AFF03}"/>
              </a:ext>
            </a:extLst>
          </p:cNvPr>
          <p:cNvSpPr txBox="1"/>
          <p:nvPr/>
        </p:nvSpPr>
        <p:spPr>
          <a:xfrm rot="16200000">
            <a:off x="3108069" y="1837097"/>
            <a:ext cx="78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individus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0195D5B4-C2C6-ACB8-25F8-D59F559EE2D3}"/>
              </a:ext>
            </a:extLst>
          </p:cNvPr>
          <p:cNvCxnSpPr/>
          <p:nvPr/>
        </p:nvCxnSpPr>
        <p:spPr>
          <a:xfrm flipH="1">
            <a:off x="3869712" y="4508649"/>
            <a:ext cx="0" cy="5610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EED9EBA0-FBC4-5B15-9581-56AF891B8CA8}"/>
                  </a:ext>
                </a:extLst>
              </p:cNvPr>
              <p:cNvSpPr txBox="1"/>
              <p:nvPr/>
            </p:nvSpPr>
            <p:spPr>
              <a:xfrm>
                <a:off x="3158774" y="4190208"/>
                <a:ext cx="122617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𝑣𝑒𝑐𝑡𝑒𝑢𝑟𝑠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𝑝𝑟𝑜𝑝𝑟𝑒𝑠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EED9EBA0-FBC4-5B15-9581-56AF891B8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774" y="4190208"/>
                <a:ext cx="1226170" cy="184666"/>
              </a:xfrm>
              <a:prstGeom prst="rect">
                <a:avLst/>
              </a:prstGeom>
              <a:blipFill>
                <a:blip r:embed="rId2"/>
                <a:stretch>
                  <a:fillRect l="-1990" r="-2488" b="-193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0F4FDE93-F951-3DD9-71A8-53AB969895D1}"/>
                  </a:ext>
                </a:extLst>
              </p:cNvPr>
              <p:cNvSpPr txBox="1"/>
              <p:nvPr/>
            </p:nvSpPr>
            <p:spPr>
              <a:xfrm>
                <a:off x="3447436" y="3127415"/>
                <a:ext cx="953531" cy="521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0F4FDE93-F951-3DD9-71A8-53AB96989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436" y="3127415"/>
                <a:ext cx="953531" cy="521746"/>
              </a:xfrm>
              <a:prstGeom prst="rect">
                <a:avLst/>
              </a:prstGeom>
              <a:blipFill>
                <a:blip r:embed="rId3"/>
                <a:stretch>
                  <a:fillRect l="-36538" t="-144186" r="-97436" b="-2046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ZoneTexte 15">
            <a:extLst>
              <a:ext uri="{FF2B5EF4-FFF2-40B4-BE49-F238E27FC236}">
                <a16:creationId xmlns:a16="http://schemas.microsoft.com/office/drawing/2014/main" id="{02BDD9EA-2342-88C7-E04D-FC175CE919AA}"/>
              </a:ext>
            </a:extLst>
          </p:cNvPr>
          <p:cNvSpPr txBox="1"/>
          <p:nvPr/>
        </p:nvSpPr>
        <p:spPr>
          <a:xfrm>
            <a:off x="3370722" y="2932695"/>
            <a:ext cx="1235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Inertie totale: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122F20-7B77-C835-3B14-A4F7234DF066}"/>
              </a:ext>
            </a:extLst>
          </p:cNvPr>
          <p:cNvSpPr/>
          <p:nvPr/>
        </p:nvSpPr>
        <p:spPr>
          <a:xfrm>
            <a:off x="3693314" y="1757329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d</a:t>
            </a:r>
            <a:r>
              <a:rPr lang="fr-FR" baseline="-25000" dirty="0" err="1"/>
              <a:t>i,j</a:t>
            </a:r>
            <a:endParaRPr lang="fr-FR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959F87D-A2A0-CF3E-78A1-3282C56E0FC6}"/>
              </a:ext>
            </a:extLst>
          </p:cNvPr>
          <p:cNvCxnSpPr/>
          <p:nvPr/>
        </p:nvCxnSpPr>
        <p:spPr>
          <a:xfrm>
            <a:off x="3869712" y="933735"/>
            <a:ext cx="0" cy="5721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1D5FE9D7-54E7-F15E-B3CA-F3A6BE470281}"/>
              </a:ext>
            </a:extLst>
          </p:cNvPr>
          <p:cNvCxnSpPr/>
          <p:nvPr/>
        </p:nvCxnSpPr>
        <p:spPr>
          <a:xfrm>
            <a:off x="3857656" y="2309192"/>
            <a:ext cx="0" cy="6596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5A5087C6-D4EC-B64B-71AF-54B8C076D89A}"/>
              </a:ext>
            </a:extLst>
          </p:cNvPr>
          <p:cNvCxnSpPr/>
          <p:nvPr/>
        </p:nvCxnSpPr>
        <p:spPr>
          <a:xfrm>
            <a:off x="3445046" y="5871863"/>
            <a:ext cx="108000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CB6535F3-0F09-636C-012B-0118917CFB48}"/>
              </a:ext>
            </a:extLst>
          </p:cNvPr>
          <p:cNvCxnSpPr/>
          <p:nvPr/>
        </p:nvCxnSpPr>
        <p:spPr>
          <a:xfrm flipV="1">
            <a:off x="3973069" y="5329204"/>
            <a:ext cx="0" cy="1109133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lipse 21">
            <a:extLst>
              <a:ext uri="{FF2B5EF4-FFF2-40B4-BE49-F238E27FC236}">
                <a16:creationId xmlns:a16="http://schemas.microsoft.com/office/drawing/2014/main" id="{A938DB0D-18A6-6A00-B445-430A693601F1}"/>
              </a:ext>
            </a:extLst>
          </p:cNvPr>
          <p:cNvSpPr/>
          <p:nvPr/>
        </p:nvSpPr>
        <p:spPr>
          <a:xfrm>
            <a:off x="3592408" y="5604370"/>
            <a:ext cx="64952" cy="611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4BBEEB67-94A2-220A-DD2E-59C005739573}"/>
              </a:ext>
            </a:extLst>
          </p:cNvPr>
          <p:cNvSpPr/>
          <p:nvPr/>
        </p:nvSpPr>
        <p:spPr>
          <a:xfrm>
            <a:off x="3744808" y="5756770"/>
            <a:ext cx="64952" cy="611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C0221385-19A9-058F-047A-DC58B4403686}"/>
              </a:ext>
            </a:extLst>
          </p:cNvPr>
          <p:cNvSpPr/>
          <p:nvPr/>
        </p:nvSpPr>
        <p:spPr>
          <a:xfrm>
            <a:off x="4162533" y="5575928"/>
            <a:ext cx="64952" cy="611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2A5ADBEC-DFC1-CCD8-3BA8-702AF744A5C7}"/>
              </a:ext>
            </a:extLst>
          </p:cNvPr>
          <p:cNvSpPr/>
          <p:nvPr/>
        </p:nvSpPr>
        <p:spPr>
          <a:xfrm>
            <a:off x="3769362" y="5629769"/>
            <a:ext cx="64952" cy="611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8CCF2A9A-B0E7-A8F2-975D-D67BE17BA4E1}"/>
              </a:ext>
            </a:extLst>
          </p:cNvPr>
          <p:cNvSpPr/>
          <p:nvPr/>
        </p:nvSpPr>
        <p:spPr>
          <a:xfrm>
            <a:off x="4097581" y="6076655"/>
            <a:ext cx="64952" cy="611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26FDA36E-CF46-DEB7-9B81-0D6D798F621F}"/>
              </a:ext>
            </a:extLst>
          </p:cNvPr>
          <p:cNvSpPr/>
          <p:nvPr/>
        </p:nvSpPr>
        <p:spPr>
          <a:xfrm>
            <a:off x="4249981" y="6229055"/>
            <a:ext cx="64952" cy="611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0BF2684C-8595-70C0-92F6-2A8D887FD631}"/>
              </a:ext>
            </a:extLst>
          </p:cNvPr>
          <p:cNvSpPr/>
          <p:nvPr/>
        </p:nvSpPr>
        <p:spPr>
          <a:xfrm>
            <a:off x="4270429" y="6099935"/>
            <a:ext cx="64952" cy="611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23EE21E-C28B-356C-485F-27451262F781}"/>
              </a:ext>
            </a:extLst>
          </p:cNvPr>
          <p:cNvSpPr txBox="1"/>
          <p:nvPr/>
        </p:nvSpPr>
        <p:spPr>
          <a:xfrm>
            <a:off x="3143818" y="6496802"/>
            <a:ext cx="16952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/>
              <a:t>Plan euclidien</a:t>
            </a: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936902B7-DBF4-B17B-F1CA-400575085B02}"/>
              </a:ext>
            </a:extLst>
          </p:cNvPr>
          <p:cNvCxnSpPr/>
          <p:nvPr/>
        </p:nvCxnSpPr>
        <p:spPr>
          <a:xfrm flipH="1">
            <a:off x="3894698" y="3649161"/>
            <a:ext cx="0" cy="4670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44E56CF0-6FB5-B191-D19A-849DC865A094}"/>
              </a:ext>
            </a:extLst>
          </p:cNvPr>
          <p:cNvCxnSpPr/>
          <p:nvPr/>
        </p:nvCxnSpPr>
        <p:spPr>
          <a:xfrm>
            <a:off x="4479024" y="3322601"/>
            <a:ext cx="68733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arenthèses 31">
            <a:extLst>
              <a:ext uri="{FF2B5EF4-FFF2-40B4-BE49-F238E27FC236}">
                <a16:creationId xmlns:a16="http://schemas.microsoft.com/office/drawing/2014/main" id="{2E119D34-AE95-3E9E-3B0A-F5E9A8ECBF11}"/>
              </a:ext>
            </a:extLst>
          </p:cNvPr>
          <p:cNvSpPr/>
          <p:nvPr/>
        </p:nvSpPr>
        <p:spPr>
          <a:xfrm>
            <a:off x="5233854" y="2984627"/>
            <a:ext cx="1507525" cy="675949"/>
          </a:xfrm>
          <a:prstGeom prst="bracketPai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1B5F5823-28F0-1D2D-C039-BB97358811C0}"/>
                  </a:ext>
                </a:extLst>
              </p:cNvPr>
              <p:cNvSpPr txBox="1"/>
              <p:nvPr/>
            </p:nvSpPr>
            <p:spPr>
              <a:xfrm>
                <a:off x="5416866" y="3230268"/>
                <a:ext cx="115082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𝑣𝑎𝑙𝑒𝑢𝑟𝑠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𝑝𝑟𝑜𝑝𝑟𝑒𝑠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1B5F5823-28F0-1D2D-C039-BB9735881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866" y="3230268"/>
                <a:ext cx="1150828" cy="184666"/>
              </a:xfrm>
              <a:prstGeom prst="rect">
                <a:avLst/>
              </a:prstGeom>
              <a:blipFill>
                <a:blip r:embed="rId4"/>
                <a:stretch>
                  <a:fillRect l="-3191" r="-3191" b="-2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E777BB8F-B7D5-7139-532C-300E4D973D3A}"/>
              </a:ext>
            </a:extLst>
          </p:cNvPr>
          <p:cNvSpPr/>
          <p:nvPr/>
        </p:nvSpPr>
        <p:spPr>
          <a:xfrm>
            <a:off x="5312548" y="4108717"/>
            <a:ext cx="1428831" cy="14672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29058FE3-6004-3D4B-A9B2-25398DBF9759}"/>
              </a:ext>
            </a:extLst>
          </p:cNvPr>
          <p:cNvCxnSpPr/>
          <p:nvPr/>
        </p:nvCxnSpPr>
        <p:spPr>
          <a:xfrm flipH="1">
            <a:off x="6012212" y="3528273"/>
            <a:ext cx="0" cy="5610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FF9151DF-8F1E-0C40-D1D0-299C86BA96A2}"/>
              </a:ext>
            </a:extLst>
          </p:cNvPr>
          <p:cNvSpPr txBox="1"/>
          <p:nvPr/>
        </p:nvSpPr>
        <p:spPr>
          <a:xfrm>
            <a:off x="5164594" y="5260543"/>
            <a:ext cx="16952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/>
              <a:t>Éboulis des variances</a:t>
            </a:r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4F42071C-F54B-C189-3F8F-E6206B0E4BAB}"/>
              </a:ext>
            </a:extLst>
          </p:cNvPr>
          <p:cNvCxnSpPr/>
          <p:nvPr/>
        </p:nvCxnSpPr>
        <p:spPr>
          <a:xfrm flipH="1" flipV="1">
            <a:off x="5438728" y="4261116"/>
            <a:ext cx="0" cy="827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98720619-788D-2E3B-2FA5-079187721479}"/>
              </a:ext>
            </a:extLst>
          </p:cNvPr>
          <p:cNvCxnSpPr/>
          <p:nvPr/>
        </p:nvCxnSpPr>
        <p:spPr>
          <a:xfrm>
            <a:off x="5438728" y="5081880"/>
            <a:ext cx="11502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FBE3472-F7CE-3854-F0AB-660D21D76F64}"/>
              </a:ext>
            </a:extLst>
          </p:cNvPr>
          <p:cNvSpPr/>
          <p:nvPr/>
        </p:nvSpPr>
        <p:spPr>
          <a:xfrm>
            <a:off x="5464959" y="4441378"/>
            <a:ext cx="92990" cy="60054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0E8C94-DC07-E6DA-B19B-B400EFCAFAC8}"/>
              </a:ext>
            </a:extLst>
          </p:cNvPr>
          <p:cNvSpPr/>
          <p:nvPr/>
        </p:nvSpPr>
        <p:spPr>
          <a:xfrm>
            <a:off x="5564910" y="4536355"/>
            <a:ext cx="9299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082E38-7A03-3CCF-E151-D8422B58EC5E}"/>
              </a:ext>
            </a:extLst>
          </p:cNvPr>
          <p:cNvSpPr/>
          <p:nvPr/>
        </p:nvSpPr>
        <p:spPr>
          <a:xfrm>
            <a:off x="5660160" y="4682405"/>
            <a:ext cx="92990" cy="36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50488A-B291-C3F9-FCD4-96874709FD1B}"/>
              </a:ext>
            </a:extLst>
          </p:cNvPr>
          <p:cNvSpPr/>
          <p:nvPr/>
        </p:nvSpPr>
        <p:spPr>
          <a:xfrm>
            <a:off x="5755410" y="4853855"/>
            <a:ext cx="92990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CA956153-E5A1-B3B9-CDB2-66EDE60C4F49}"/>
              </a:ext>
            </a:extLst>
          </p:cNvPr>
          <p:cNvSpPr txBox="1"/>
          <p:nvPr/>
        </p:nvSpPr>
        <p:spPr>
          <a:xfrm>
            <a:off x="1237321" y="261611"/>
            <a:ext cx="1857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i="1" dirty="0"/>
              <a:t>Table des observations (individus x variables, sites x espèces…)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046DA4EA-6E4E-4E8B-CBF8-875A136E28A5}"/>
              </a:ext>
            </a:extLst>
          </p:cNvPr>
          <p:cNvSpPr txBox="1"/>
          <p:nvPr/>
        </p:nvSpPr>
        <p:spPr>
          <a:xfrm>
            <a:off x="1449305" y="1628437"/>
            <a:ext cx="1694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i="1" dirty="0"/>
              <a:t>Matrice de </a:t>
            </a:r>
            <a:r>
              <a:rPr lang="fr-FR" sz="1200" i="1" dirty="0" err="1"/>
              <a:t>dissimilarités</a:t>
            </a:r>
            <a:r>
              <a:rPr lang="fr-FR" sz="1200" i="1" dirty="0"/>
              <a:t> (individus x individus, sites x sites…)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06E4AB2A-51A6-EE9A-967B-0A1AE7ACA23B}"/>
              </a:ext>
            </a:extLst>
          </p:cNvPr>
          <p:cNvSpPr txBox="1"/>
          <p:nvPr/>
        </p:nvSpPr>
        <p:spPr>
          <a:xfrm>
            <a:off x="1449305" y="2896934"/>
            <a:ext cx="16945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i="1" dirty="0"/>
              <a:t>Inertie totale : mesure de l’hétérogénéité entre toutes les paires d’individus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EEA20BE-FC5E-0680-A09B-1225B2095AD3}"/>
              </a:ext>
            </a:extLst>
          </p:cNvPr>
          <p:cNvSpPr txBox="1"/>
          <p:nvPr/>
        </p:nvSpPr>
        <p:spPr>
          <a:xfrm>
            <a:off x="6844050" y="2917629"/>
            <a:ext cx="16945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Valeurs propres : mesure de la quantité d’inertie résumée par chaque vecteur propre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56BEDBF9-6B8E-A4AE-3ABB-6848479F4A95}"/>
              </a:ext>
            </a:extLst>
          </p:cNvPr>
          <p:cNvSpPr txBox="1"/>
          <p:nvPr/>
        </p:nvSpPr>
        <p:spPr>
          <a:xfrm>
            <a:off x="6810410" y="4310240"/>
            <a:ext cx="16945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Éboulis des variances : représentation graphique des valeurs propres (éventuellement en % de l’inertie totale).</a:t>
            </a:r>
          </a:p>
        </p:txBody>
      </p:sp>
      <p:sp>
        <p:nvSpPr>
          <p:cNvPr id="48" name="Flèche courbée vers le bas 73">
            <a:extLst>
              <a:ext uri="{FF2B5EF4-FFF2-40B4-BE49-F238E27FC236}">
                <a16:creationId xmlns:a16="http://schemas.microsoft.com/office/drawing/2014/main" id="{7CD711AD-658C-81EC-EC4D-0D3CDB44C650}"/>
              </a:ext>
            </a:extLst>
          </p:cNvPr>
          <p:cNvSpPr/>
          <p:nvPr/>
        </p:nvSpPr>
        <p:spPr>
          <a:xfrm rot="7762590">
            <a:off x="5033107" y="6053903"/>
            <a:ext cx="1217941" cy="472541"/>
          </a:xfrm>
          <a:prstGeom prst="curved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3A350D09-E1B1-E1B1-DAA8-9C23E4EAE23B}"/>
              </a:ext>
            </a:extLst>
          </p:cNvPr>
          <p:cNvSpPr txBox="1"/>
          <p:nvPr/>
        </p:nvSpPr>
        <p:spPr>
          <a:xfrm>
            <a:off x="4989796" y="5906222"/>
            <a:ext cx="2661925" cy="461665"/>
          </a:xfrm>
          <a:prstGeom prst="rect">
            <a:avLst/>
          </a:prstGeom>
          <a:solidFill>
            <a:srgbClr val="F8F8F8">
              <a:alpha val="16078"/>
            </a:srgbClr>
          </a:solidFill>
        </p:spPr>
        <p:txBody>
          <a:bodyPr wrap="square" rtlCol="0">
            <a:spAutoFit/>
          </a:bodyPr>
          <a:lstStyle/>
          <a:p>
            <a:r>
              <a:rPr lang="fr-FR" sz="1200" i="1" dirty="0"/>
              <a:t>Combien de vecteurs propres conserver pour bien représenter l’inertie totale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2FD49E3D-9502-50F5-D122-50FC5B503A00}"/>
              </a:ext>
            </a:extLst>
          </p:cNvPr>
          <p:cNvSpPr txBox="1"/>
          <p:nvPr/>
        </p:nvSpPr>
        <p:spPr>
          <a:xfrm>
            <a:off x="1135722" y="3851409"/>
            <a:ext cx="19456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i="1" dirty="0"/>
              <a:t>Vecteurs propres : résumés de l’hétérogénéité entre individus (premier = meilleur résumé possible)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1F618F93-30A5-EABF-BDBE-55BAA6820267}"/>
              </a:ext>
            </a:extLst>
          </p:cNvPr>
          <p:cNvSpPr txBox="1"/>
          <p:nvPr/>
        </p:nvSpPr>
        <p:spPr>
          <a:xfrm>
            <a:off x="1222531" y="5419995"/>
            <a:ext cx="19456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i="1" dirty="0"/>
              <a:t>Projection des individus : représentation des individus dans un plan euclidien formé par les 2 premiers vecteurs propres (ou d’autres)</a:t>
            </a:r>
          </a:p>
        </p:txBody>
      </p:sp>
      <p:cxnSp>
        <p:nvCxnSpPr>
          <p:cNvPr id="52" name="Connecteur en angle 2">
            <a:extLst>
              <a:ext uri="{FF2B5EF4-FFF2-40B4-BE49-F238E27FC236}">
                <a16:creationId xmlns:a16="http://schemas.microsoft.com/office/drawing/2014/main" id="{EEA9F428-AF22-2BFC-84D8-0E5F957C6967}"/>
              </a:ext>
            </a:extLst>
          </p:cNvPr>
          <p:cNvCxnSpPr/>
          <p:nvPr/>
        </p:nvCxnSpPr>
        <p:spPr>
          <a:xfrm flipV="1">
            <a:off x="4601966" y="1101661"/>
            <a:ext cx="1055934" cy="655668"/>
          </a:xfrm>
          <a:prstGeom prst="bentConnector3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en angle 51">
            <a:extLst>
              <a:ext uri="{FF2B5EF4-FFF2-40B4-BE49-F238E27FC236}">
                <a16:creationId xmlns:a16="http://schemas.microsoft.com/office/drawing/2014/main" id="{5D42339B-19AE-C0B6-975C-BCADF170C502}"/>
              </a:ext>
            </a:extLst>
          </p:cNvPr>
          <p:cNvCxnSpPr/>
          <p:nvPr/>
        </p:nvCxnSpPr>
        <p:spPr>
          <a:xfrm>
            <a:off x="4614754" y="1894595"/>
            <a:ext cx="1027322" cy="64537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24C450C7-B3ED-6762-1190-9C5136C2BBA8}"/>
              </a:ext>
            </a:extLst>
          </p:cNvPr>
          <p:cNvCxnSpPr/>
          <p:nvPr/>
        </p:nvCxnSpPr>
        <p:spPr>
          <a:xfrm>
            <a:off x="4597352" y="1826443"/>
            <a:ext cx="1060549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0A3C53DC-B009-18D9-9EF4-469F6D602438}"/>
              </a:ext>
            </a:extLst>
          </p:cNvPr>
          <p:cNvSpPr txBox="1"/>
          <p:nvPr/>
        </p:nvSpPr>
        <p:spPr>
          <a:xfrm>
            <a:off x="5657900" y="820286"/>
            <a:ext cx="2677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variables quantitatives : </a:t>
            </a:r>
          </a:p>
          <a:p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matrice de corrélation (ACP)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04869C32-2F22-9E0C-798C-3D707BC08D66}"/>
              </a:ext>
            </a:extLst>
          </p:cNvPr>
          <p:cNvSpPr txBox="1"/>
          <p:nvPr/>
        </p:nvSpPr>
        <p:spPr>
          <a:xfrm>
            <a:off x="5658799" y="1530868"/>
            <a:ext cx="3014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variables qualitatives : </a:t>
            </a:r>
          </a:p>
          <a:p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matrice du Chi² (AFC, ou ACM)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E629E268-33C3-5339-16D5-1A039A6EDE26}"/>
              </a:ext>
            </a:extLst>
          </p:cNvPr>
          <p:cNvSpPr txBox="1"/>
          <p:nvPr/>
        </p:nvSpPr>
        <p:spPr>
          <a:xfrm>
            <a:off x="5658799" y="2225724"/>
            <a:ext cx="3495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cas général, variables mixtes : </a:t>
            </a:r>
          </a:p>
          <a:p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toute métrique (PCOA, ou NMDS)</a:t>
            </a:r>
          </a:p>
        </p:txBody>
      </p:sp>
    </p:spTree>
    <p:extLst>
      <p:ext uri="{BB962C8B-B14F-4D97-AF65-F5344CB8AC3E}">
        <p14:creationId xmlns:p14="http://schemas.microsoft.com/office/powerpoint/2010/main" val="3005725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6151DBC-D8A3-11FC-C67B-CD88FA35C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64" y="0"/>
            <a:ext cx="79776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071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4BAB51D-0596-E713-3D44-04931EAB7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6468" y="0"/>
            <a:ext cx="100418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672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62157C5-3D46-5BA3-051B-50E1A8B06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327" y="1047750"/>
            <a:ext cx="31623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3B4270F-7810-9499-F169-82CEAF346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4097" y="1047750"/>
            <a:ext cx="386715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599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59BDA94-3716-7047-2F17-5B461A1908BD}"/>
              </a:ext>
            </a:extLst>
          </p:cNvPr>
          <p:cNvSpPr txBox="1"/>
          <p:nvPr/>
        </p:nvSpPr>
        <p:spPr>
          <a:xfrm>
            <a:off x="-674832" y="1615731"/>
            <a:ext cx="100106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u="sng" dirty="0">
                <a:latin typeface="Century Gothic" panose="020B0502020202020204" pitchFamily="34" charset="0"/>
              </a:rPr>
              <a:t>Un exemple concret :</a:t>
            </a:r>
          </a:p>
          <a:p>
            <a:endParaRPr lang="fr-FR" sz="2800" dirty="0">
              <a:latin typeface="Century Gothic" panose="020B0502020202020204" pitchFamily="34" charset="0"/>
            </a:endParaRPr>
          </a:p>
          <a:p>
            <a:endParaRPr lang="fr-FR" sz="2800" dirty="0">
              <a:latin typeface="Century Gothic" panose="020B0502020202020204" pitchFamily="34" charset="0"/>
            </a:endParaRPr>
          </a:p>
          <a:p>
            <a:r>
              <a:rPr lang="fr-FR" sz="3600" dirty="0">
                <a:latin typeface="Century Gothic" panose="020B0502020202020204" pitchFamily="34" charset="0"/>
              </a:rPr>
              <a:t>Relations entre les caractéristiques du chant et la morphologie chez deux espèces d’oiseaux marins</a:t>
            </a:r>
          </a:p>
        </p:txBody>
      </p:sp>
    </p:spTree>
    <p:extLst>
      <p:ext uri="{BB962C8B-B14F-4D97-AF65-F5344CB8AC3E}">
        <p14:creationId xmlns:p14="http://schemas.microsoft.com/office/powerpoint/2010/main" val="1084541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D873EE6-41A1-3BB3-CC4F-53671058685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2513" y="232442"/>
            <a:ext cx="1991762" cy="261645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3310344-3C64-74A8-13D2-3D34F37D554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2513" y="3032948"/>
            <a:ext cx="1991762" cy="352946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C3C5B4E-1B66-543D-CC93-9FFC08587C77}"/>
              </a:ext>
            </a:extLst>
          </p:cNvPr>
          <p:cNvSpPr txBox="1"/>
          <p:nvPr/>
        </p:nvSpPr>
        <p:spPr>
          <a:xfrm>
            <a:off x="2452505" y="232441"/>
            <a:ext cx="6129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entury Schoolbook" panose="02040604050505020304" pitchFamily="18" charset="0"/>
              </a:rPr>
              <a:t>Prion de la Désolation, </a:t>
            </a:r>
            <a:r>
              <a:rPr lang="fr-FR" b="1" i="1" dirty="0" err="1">
                <a:latin typeface="Century Schoolbook" panose="02040604050505020304" pitchFamily="18" charset="0"/>
              </a:rPr>
              <a:t>Pachyptila</a:t>
            </a:r>
            <a:r>
              <a:rPr lang="fr-FR" b="1" i="1" dirty="0">
                <a:latin typeface="Century Schoolbook" panose="02040604050505020304" pitchFamily="18" charset="0"/>
              </a:rPr>
              <a:t> </a:t>
            </a:r>
            <a:r>
              <a:rPr lang="fr-FR" b="1" i="1" dirty="0" err="1">
                <a:latin typeface="Century Schoolbook" panose="02040604050505020304" pitchFamily="18" charset="0"/>
              </a:rPr>
              <a:t>desolata</a:t>
            </a:r>
            <a:endParaRPr lang="fr-FR" b="1" i="1" dirty="0">
              <a:latin typeface="Century Schoolbook" panose="02040604050505020304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A4AD806-DC04-D8EB-FFA1-D75687F750F7}"/>
              </a:ext>
            </a:extLst>
          </p:cNvPr>
          <p:cNvSpPr txBox="1"/>
          <p:nvPr/>
        </p:nvSpPr>
        <p:spPr>
          <a:xfrm>
            <a:off x="2452505" y="3032947"/>
            <a:ext cx="6129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entury Schoolbook" panose="02040604050505020304" pitchFamily="18" charset="0"/>
              </a:rPr>
              <a:t>Pétrel bleu, </a:t>
            </a:r>
            <a:r>
              <a:rPr lang="fr-FR" b="1" i="1" dirty="0" err="1">
                <a:latin typeface="Century Schoolbook" panose="02040604050505020304" pitchFamily="18" charset="0"/>
              </a:rPr>
              <a:t>Halobaena</a:t>
            </a:r>
            <a:r>
              <a:rPr lang="fr-FR" b="1" i="1" dirty="0">
                <a:latin typeface="Century Schoolbook" panose="02040604050505020304" pitchFamily="18" charset="0"/>
              </a:rPr>
              <a:t> </a:t>
            </a:r>
            <a:r>
              <a:rPr lang="fr-FR" b="1" i="1" dirty="0" err="1">
                <a:latin typeface="Century Schoolbook" panose="02040604050505020304" pitchFamily="18" charset="0"/>
              </a:rPr>
              <a:t>caerulea</a:t>
            </a:r>
            <a:endParaRPr lang="fr-FR" b="1" i="1" dirty="0">
              <a:latin typeface="Century Schoolbook" panose="02040604050505020304" pitchFamily="18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8A0FC06-61CF-D543-80B4-028223C162B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52506" y="4342715"/>
            <a:ext cx="6626393" cy="18032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88677-76B4-C94C-FC7E-0EC137C49FF1}"/>
              </a:ext>
            </a:extLst>
          </p:cNvPr>
          <p:cNvSpPr/>
          <p:nvPr/>
        </p:nvSpPr>
        <p:spPr>
          <a:xfrm>
            <a:off x="2452506" y="601774"/>
            <a:ext cx="37882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Century Schoolbook" panose="02040604050505020304" pitchFamily="18" charset="0"/>
              </a:rPr>
              <a:t>25–28 cm ; 115–183 g ; envergure 58–66 cm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CBB94D-0010-3CE5-3BDD-9D430134899A}"/>
              </a:ext>
            </a:extLst>
          </p:cNvPr>
          <p:cNvSpPr/>
          <p:nvPr/>
        </p:nvSpPr>
        <p:spPr>
          <a:xfrm>
            <a:off x="2452506" y="3422994"/>
            <a:ext cx="41553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Century Schoolbook" panose="02040604050505020304" pitchFamily="18" charset="0"/>
              </a:rPr>
              <a:t>26–32 cm; 152–251 g (1, 2); envergure 58–71 cm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95B5E4C-DC72-1069-F51C-590B8389BF6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52506" y="1030147"/>
            <a:ext cx="6727715" cy="191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13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2637A95-361E-515E-E533-DA51D6C176A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6455" y="1"/>
            <a:ext cx="6788573" cy="678857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59BDA94-3716-7047-2F17-5B461A1908BD}"/>
              </a:ext>
            </a:extLst>
          </p:cNvPr>
          <p:cNvSpPr txBox="1"/>
          <p:nvPr/>
        </p:nvSpPr>
        <p:spPr>
          <a:xfrm>
            <a:off x="-1044701" y="639686"/>
            <a:ext cx="395555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Century Gothic" panose="020B0502020202020204" pitchFamily="34" charset="0"/>
              </a:rPr>
              <a:t>Nombre de syllabes</a:t>
            </a:r>
          </a:p>
          <a:p>
            <a:endParaRPr lang="fr-FR" sz="2800" dirty="0">
              <a:latin typeface="Century Gothic" panose="020B0502020202020204" pitchFamily="34" charset="0"/>
            </a:endParaRPr>
          </a:p>
          <a:p>
            <a:r>
              <a:rPr lang="fr-FR" sz="2800" dirty="0">
                <a:latin typeface="Century Gothic" panose="020B0502020202020204" pitchFamily="34" charset="0"/>
              </a:rPr>
              <a:t>Rythme</a:t>
            </a:r>
          </a:p>
          <a:p>
            <a:endParaRPr lang="fr-FR" sz="2800" dirty="0">
              <a:latin typeface="Century Gothic" panose="020B0502020202020204" pitchFamily="34" charset="0"/>
            </a:endParaRPr>
          </a:p>
          <a:p>
            <a:r>
              <a:rPr lang="fr-FR" sz="2800" dirty="0">
                <a:latin typeface="Century Gothic" panose="020B0502020202020204" pitchFamily="34" charset="0"/>
              </a:rPr>
              <a:t>Durée de la phrase</a:t>
            </a:r>
          </a:p>
          <a:p>
            <a:endParaRPr lang="fr-FR" sz="2800" dirty="0">
              <a:latin typeface="Century Gothic" panose="020B0502020202020204" pitchFamily="34" charset="0"/>
            </a:endParaRPr>
          </a:p>
          <a:p>
            <a:r>
              <a:rPr lang="fr-FR" sz="2800" dirty="0">
                <a:latin typeface="Century Gothic" panose="020B0502020202020204" pitchFamily="34" charset="0"/>
              </a:rPr>
              <a:t>Fréquence fondamentale</a:t>
            </a:r>
          </a:p>
          <a:p>
            <a:endParaRPr lang="fr-FR" sz="2800" dirty="0">
              <a:latin typeface="Century Gothic" panose="020B0502020202020204" pitchFamily="34" charset="0"/>
            </a:endParaRPr>
          </a:p>
          <a:p>
            <a:r>
              <a:rPr lang="fr-FR" sz="2800" dirty="0">
                <a:latin typeface="Century Gothic" panose="020B0502020202020204" pitchFamily="34" charset="0"/>
              </a:rPr>
              <a:t>Quantile médian d’énergie</a:t>
            </a:r>
          </a:p>
          <a:p>
            <a:endParaRPr lang="fr-FR" sz="2800" dirty="0">
              <a:latin typeface="Century Gothic" panose="020B0502020202020204" pitchFamily="34" charset="0"/>
            </a:endParaRPr>
          </a:p>
          <a:p>
            <a:r>
              <a:rPr lang="fr-FR" sz="2800" dirty="0">
                <a:latin typeface="Century Gothic" panose="020B0502020202020204" pitchFamily="34" charset="0"/>
              </a:rPr>
              <a:t>Nombre de phrases</a:t>
            </a:r>
          </a:p>
        </p:txBody>
      </p:sp>
    </p:spTree>
    <p:extLst>
      <p:ext uri="{BB962C8B-B14F-4D97-AF65-F5344CB8AC3E}">
        <p14:creationId xmlns:p14="http://schemas.microsoft.com/office/powerpoint/2010/main" val="3521986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EE713EC-F26E-2566-37F5-0C1A6BCED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324" y="785691"/>
            <a:ext cx="5722706" cy="466938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45EEA1F-1FB7-FDF8-AA70-5EEE9A1D18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2558" y="336817"/>
            <a:ext cx="5575443" cy="537814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04EB497-70C5-3038-74C3-308B52702054}"/>
              </a:ext>
            </a:extLst>
          </p:cNvPr>
          <p:cNvSpPr txBox="1"/>
          <p:nvPr/>
        </p:nvSpPr>
        <p:spPr>
          <a:xfrm>
            <a:off x="-1236324" y="5997963"/>
            <a:ext cx="11630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Century Gothic" panose="020B0502020202020204" pitchFamily="34" charset="0"/>
              </a:rPr>
              <a:t>Analyse en composante principale – variables acoustiques</a:t>
            </a:r>
          </a:p>
        </p:txBody>
      </p:sp>
    </p:spTree>
    <p:extLst>
      <p:ext uri="{BB962C8B-B14F-4D97-AF65-F5344CB8AC3E}">
        <p14:creationId xmlns:p14="http://schemas.microsoft.com/office/powerpoint/2010/main" val="764923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1FD0FE4-5994-C51D-DBD8-77E7126C8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9028" y="285032"/>
            <a:ext cx="6689034" cy="58354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D28FEC6-EAE2-914B-3BDB-0FAFA4909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139" y="33190"/>
            <a:ext cx="5133721" cy="676080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1B4DBDE-7E99-33CF-88FE-030F0AF19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40033" y="3398171"/>
            <a:ext cx="2768150" cy="243921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AECB3F4-5811-317B-CE2E-9BD8D43A5353}"/>
              </a:ext>
            </a:extLst>
          </p:cNvPr>
          <p:cNvSpPr txBox="1"/>
          <p:nvPr/>
        </p:nvSpPr>
        <p:spPr>
          <a:xfrm>
            <a:off x="-1290859" y="6168754"/>
            <a:ext cx="79111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Century Gothic" panose="020B0502020202020204" pitchFamily="34" charset="0"/>
              </a:rPr>
              <a:t>Analyse discriminante</a:t>
            </a:r>
          </a:p>
        </p:txBody>
      </p:sp>
    </p:spTree>
    <p:extLst>
      <p:ext uri="{BB962C8B-B14F-4D97-AF65-F5344CB8AC3E}">
        <p14:creationId xmlns:p14="http://schemas.microsoft.com/office/powerpoint/2010/main" val="2418084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EE6A6D9-D772-11C4-3F55-EE04D8FD5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0" y="1075615"/>
            <a:ext cx="6735501" cy="450128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4247DB5-90CB-BEC1-E86B-F22ADA307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122" y="839774"/>
            <a:ext cx="5592879" cy="462807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9096670-6D64-7123-3456-5F854C8D645B}"/>
              </a:ext>
            </a:extLst>
          </p:cNvPr>
          <p:cNvSpPr txBox="1"/>
          <p:nvPr/>
        </p:nvSpPr>
        <p:spPr>
          <a:xfrm>
            <a:off x="-1236324" y="5997963"/>
            <a:ext cx="11630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Century Gothic" panose="020B0502020202020204" pitchFamily="34" charset="0"/>
              </a:rPr>
              <a:t>Analyse en composante principale – mesures biométriques</a:t>
            </a:r>
          </a:p>
        </p:txBody>
      </p:sp>
    </p:spTree>
    <p:extLst>
      <p:ext uri="{BB962C8B-B14F-4D97-AF65-F5344CB8AC3E}">
        <p14:creationId xmlns:p14="http://schemas.microsoft.com/office/powerpoint/2010/main" val="3945867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506E9B7-4161-5E48-6ED3-34AFF290C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0" y="0"/>
            <a:ext cx="7635126" cy="432542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9EA1347-689A-025B-9364-0F2C77F15A5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359" y="99157"/>
            <a:ext cx="4068018" cy="346923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41686A6-B58F-0C8F-E22C-261A618E213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360" y="3619894"/>
            <a:ext cx="4366883" cy="323810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B78F97A-32F1-F151-B563-E9B80E359D2A}"/>
              </a:ext>
            </a:extLst>
          </p:cNvPr>
          <p:cNvSpPr txBox="1"/>
          <p:nvPr/>
        </p:nvSpPr>
        <p:spPr>
          <a:xfrm>
            <a:off x="-1243173" y="5011645"/>
            <a:ext cx="116303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Century Gothic" panose="020B0502020202020204" pitchFamily="34" charset="0"/>
              </a:rPr>
              <a:t>Analyse de </a:t>
            </a:r>
            <a:r>
              <a:rPr lang="fr-FR" sz="2800" dirty="0" err="1">
                <a:latin typeface="Century Gothic" panose="020B0502020202020204" pitchFamily="34" charset="0"/>
              </a:rPr>
              <a:t>coinertie</a:t>
            </a:r>
            <a:r>
              <a:rPr lang="fr-FR" sz="2800" dirty="0">
                <a:latin typeface="Century Gothic" panose="020B0502020202020204" pitchFamily="34" charset="0"/>
              </a:rPr>
              <a:t> : </a:t>
            </a:r>
          </a:p>
          <a:p>
            <a:r>
              <a:rPr lang="fr-FR" sz="2800" dirty="0" err="1">
                <a:latin typeface="Century Gothic" panose="020B0502020202020204" pitchFamily="34" charset="0"/>
              </a:rPr>
              <a:t>Co-variations</a:t>
            </a:r>
            <a:r>
              <a:rPr lang="fr-FR" sz="2800" dirty="0">
                <a:latin typeface="Century Gothic" panose="020B0502020202020204" pitchFamily="34" charset="0"/>
              </a:rPr>
              <a:t> entre variables acoustiques </a:t>
            </a:r>
          </a:p>
          <a:p>
            <a:r>
              <a:rPr lang="fr-FR" sz="2800" dirty="0">
                <a:latin typeface="Century Gothic" panose="020B0502020202020204" pitchFamily="34" charset="0"/>
              </a:rPr>
              <a:t>et mesures biométriques</a:t>
            </a:r>
          </a:p>
        </p:txBody>
      </p:sp>
    </p:spTree>
    <p:extLst>
      <p:ext uri="{BB962C8B-B14F-4D97-AF65-F5344CB8AC3E}">
        <p14:creationId xmlns:p14="http://schemas.microsoft.com/office/powerpoint/2010/main" val="3715984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30CB683-FE92-9B72-5D3D-F626CA9151A4}"/>
              </a:ext>
            </a:extLst>
          </p:cNvPr>
          <p:cNvSpPr txBox="1"/>
          <p:nvPr/>
        </p:nvSpPr>
        <p:spPr>
          <a:xfrm>
            <a:off x="-1195227" y="243512"/>
            <a:ext cx="117741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u="sng" dirty="0">
                <a:latin typeface="Century Gothic" panose="020B0502020202020204" pitchFamily="34" charset="0"/>
              </a:rPr>
              <a:t>Points clés</a:t>
            </a:r>
            <a:endParaRPr lang="fr-FR" sz="2800" dirty="0">
              <a:latin typeface="Century Gothic" panose="020B0502020202020204" pitchFamily="34" charset="0"/>
            </a:endParaRPr>
          </a:p>
          <a:p>
            <a:endParaRPr lang="fr-FR" sz="2800" dirty="0">
              <a:latin typeface="Century Gothic" panose="020B0502020202020204" pitchFamily="34" charset="0"/>
            </a:endParaRPr>
          </a:p>
          <a:p>
            <a:r>
              <a:rPr lang="fr-FR" sz="2800" dirty="0">
                <a:latin typeface="Century Gothic" panose="020B0502020202020204" pitchFamily="34" charset="0"/>
              </a:rPr>
              <a:t>Analyse multivariée = ordination de n individus décrits par K variables dans un espace à d&lt;K dimensions</a:t>
            </a:r>
          </a:p>
          <a:p>
            <a:endParaRPr lang="fr-FR" sz="2800" dirty="0">
              <a:latin typeface="Century Gothic" panose="020B0502020202020204" pitchFamily="34" charset="0"/>
            </a:endParaRPr>
          </a:p>
          <a:p>
            <a:r>
              <a:rPr lang="fr-FR" sz="2800" dirty="0">
                <a:latin typeface="Century Gothic" panose="020B0502020202020204" pitchFamily="34" charset="0"/>
              </a:rPr>
              <a:t>Cet espace peut être euclidien (cas des décompositions de matrices) ou non. Les espaces non euclidiens sont plus difficiles à interpréter</a:t>
            </a:r>
          </a:p>
          <a:p>
            <a:endParaRPr lang="fr-FR" sz="2800" dirty="0">
              <a:latin typeface="Century Gothic" panose="020B0502020202020204" pitchFamily="34" charset="0"/>
            </a:endParaRPr>
          </a:p>
          <a:p>
            <a:r>
              <a:rPr lang="fr-FR" sz="2800" dirty="0">
                <a:latin typeface="Century Gothic" panose="020B0502020202020204" pitchFamily="34" charset="0"/>
              </a:rPr>
              <a:t>Outil exploratoire et/ou inférentiel (permutations)</a:t>
            </a:r>
          </a:p>
          <a:p>
            <a:endParaRPr lang="fr-FR" sz="2800" dirty="0">
              <a:latin typeface="Century Gothic" panose="020B0502020202020204" pitchFamily="34" charset="0"/>
            </a:endParaRPr>
          </a:p>
          <a:p>
            <a:r>
              <a:rPr lang="fr-FR" sz="2800" dirty="0">
                <a:latin typeface="Century Gothic" panose="020B0502020202020204" pitchFamily="34" charset="0"/>
              </a:rPr>
              <a:t>Points critiques : choix de la mesure de dissimilarité – méthode de réduction de dimensionnalité – quantité maximisée </a:t>
            </a:r>
          </a:p>
        </p:txBody>
      </p:sp>
    </p:spTree>
    <p:extLst>
      <p:ext uri="{BB962C8B-B14F-4D97-AF65-F5344CB8AC3E}">
        <p14:creationId xmlns:p14="http://schemas.microsoft.com/office/powerpoint/2010/main" val="4402840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A347873-3DF7-F010-5E98-2A4F1D85054A}"/>
              </a:ext>
            </a:extLst>
          </p:cNvPr>
          <p:cNvSpPr txBox="1"/>
          <p:nvPr/>
        </p:nvSpPr>
        <p:spPr>
          <a:xfrm>
            <a:off x="-1095375" y="476250"/>
            <a:ext cx="581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Séquence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E3C218B-EFA2-DB64-C99B-84A44D7E27D1}"/>
              </a:ext>
            </a:extLst>
          </p:cNvPr>
          <p:cNvSpPr txBox="1"/>
          <p:nvPr/>
        </p:nvSpPr>
        <p:spPr>
          <a:xfrm>
            <a:off x="1662113" y="923925"/>
            <a:ext cx="581977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entury Gothic" panose="020B0502020202020204" pitchFamily="34" charset="0"/>
              </a:rPr>
              <a:t>1 – Explorer les données comme vous savez le faire et tenter une première réponse à votre objectif</a:t>
            </a:r>
          </a:p>
          <a:p>
            <a:endParaRPr lang="fr-FR" dirty="0">
              <a:latin typeface="Century Gothic" panose="020B0502020202020204" pitchFamily="34" charset="0"/>
            </a:endParaRPr>
          </a:p>
          <a:p>
            <a:endParaRPr lang="fr-FR" dirty="0">
              <a:latin typeface="Century Gothic" panose="020B0502020202020204" pitchFamily="34" charset="0"/>
            </a:endParaRPr>
          </a:p>
          <a:p>
            <a:r>
              <a:rPr lang="fr-FR" dirty="0">
                <a:latin typeface="Century Gothic" panose="020B0502020202020204" pitchFamily="34" charset="0"/>
              </a:rPr>
              <a:t>2 – Lisez les articles mis à votre disposition et essayez de comprendre en quoi la méthode présentée peut vous servir, comment elle s’utilise, ses sorties graphiques et leurs interprétations, et les difficultés éventuelles</a:t>
            </a:r>
          </a:p>
          <a:p>
            <a:endParaRPr lang="fr-FR" dirty="0">
              <a:latin typeface="Century Gothic" panose="020B0502020202020204" pitchFamily="34" charset="0"/>
            </a:endParaRPr>
          </a:p>
          <a:p>
            <a:r>
              <a:rPr lang="fr-FR" b="1" i="1" dirty="0">
                <a:latin typeface="Century Gothic" panose="020B0502020202020204" pitchFamily="34" charset="0"/>
              </a:rPr>
              <a:t>Mise en commun sur la méthode</a:t>
            </a:r>
          </a:p>
          <a:p>
            <a:endParaRPr lang="fr-FR" i="1" dirty="0">
              <a:latin typeface="Century Gothic" panose="020B0502020202020204" pitchFamily="34" charset="0"/>
            </a:endParaRPr>
          </a:p>
          <a:p>
            <a:r>
              <a:rPr lang="fr-FR" dirty="0">
                <a:latin typeface="Century Gothic" panose="020B0502020202020204" pitchFamily="34" charset="0"/>
              </a:rPr>
              <a:t>3 – Appliquez la méthode proposée à votre cas d’étude</a:t>
            </a:r>
          </a:p>
          <a:p>
            <a:endParaRPr lang="fr-FR" dirty="0">
              <a:latin typeface="Century Gothic" panose="020B0502020202020204" pitchFamily="34" charset="0"/>
            </a:endParaRPr>
          </a:p>
          <a:p>
            <a:r>
              <a:rPr lang="fr-FR" dirty="0">
                <a:latin typeface="Century Gothic" panose="020B0502020202020204" pitchFamily="34" charset="0"/>
              </a:rPr>
              <a:t>4 – Interprétez, concluez et préparez une restitution</a:t>
            </a:r>
          </a:p>
        </p:txBody>
      </p:sp>
    </p:spTree>
    <p:extLst>
      <p:ext uri="{BB962C8B-B14F-4D97-AF65-F5344CB8AC3E}">
        <p14:creationId xmlns:p14="http://schemas.microsoft.com/office/powerpoint/2010/main" val="7211289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122</TotalTime>
  <Words>753</Words>
  <Application>Microsoft Office PowerPoint</Application>
  <PresentationFormat>Affichage à l'écran (4:3)</PresentationFormat>
  <Paragraphs>131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7" baseType="lpstr">
      <vt:lpstr>Abadi ExtraLight</vt:lpstr>
      <vt:lpstr>Arial</vt:lpstr>
      <vt:lpstr>Calibri</vt:lpstr>
      <vt:lpstr>Calibri Light</vt:lpstr>
      <vt:lpstr>Cambria Math</vt:lpstr>
      <vt:lpstr>Century Gothic</vt:lpstr>
      <vt:lpstr>Century Schoolbook</vt:lpstr>
      <vt:lpstr>Wingdings</vt:lpstr>
      <vt:lpstr>Thème Office 2013 – 2022</vt:lpstr>
      <vt:lpstr>Exploration de données par les analyses multivariées : analyses multi-tables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Exploration de données par les analyses multivariées : analyses multi-tables</dc:title>
  <dc:creator>Jean-Yves Barnagaud</dc:creator>
  <cp:lastModifiedBy>Jean-Yves Barnagaud</cp:lastModifiedBy>
  <cp:revision>49</cp:revision>
  <dcterms:created xsi:type="dcterms:W3CDTF">2023-02-28T18:36:34Z</dcterms:created>
  <dcterms:modified xsi:type="dcterms:W3CDTF">2026-04-08T11:46:43Z</dcterms:modified>
</cp:coreProperties>
</file>