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325" r:id="rId2"/>
    <p:sldId id="384" r:id="rId3"/>
    <p:sldId id="385" r:id="rId4"/>
    <p:sldId id="386" r:id="rId5"/>
    <p:sldId id="387" r:id="rId6"/>
    <p:sldId id="388" r:id="rId7"/>
    <p:sldId id="389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2B3A1-8D51-4B38-B9C0-A9709D9C7B38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FEA8AE-8BB3-48F6-956E-E9C8CF39E8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2336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Figures : </a:t>
            </a:r>
            <a:r>
              <a:rPr lang="fr-FR" dirty="0" err="1"/>
              <a:t>Devictor</a:t>
            </a:r>
            <a:r>
              <a:rPr lang="fr-FR" dirty="0"/>
              <a:t> et al </a:t>
            </a:r>
            <a:r>
              <a:rPr lang="fr-FR" dirty="0" err="1"/>
              <a:t>Ecol</a:t>
            </a:r>
            <a:r>
              <a:rPr lang="fr-FR" dirty="0"/>
              <a:t> </a:t>
            </a:r>
            <a:r>
              <a:rPr lang="fr-FR" dirty="0" err="1"/>
              <a:t>Lett</a:t>
            </a:r>
            <a:r>
              <a:rPr lang="fr-FR" dirty="0"/>
              <a:t> 2010 https://doi-org.inee.bib.cnrs.fr/10.1111/j.1461-0248.2010.01493.x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FEA8AE-8BB3-48F6-956E-E9C8CF39E81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3249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https://biodiv-occitanie.fr/espece/77756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FEA8AE-8BB3-48F6-956E-E9C8CF39E815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8453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1EBAF-3E89-4224-B894-EF8FC8703D29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3823-FDEA-4444-B7EF-25D462EF04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2709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1EBAF-3E89-4224-B894-EF8FC8703D29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3823-FDEA-4444-B7EF-25D462EF04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7213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1EBAF-3E89-4224-B894-EF8FC8703D29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3823-FDEA-4444-B7EF-25D462EF04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0569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1EBAF-3E89-4224-B894-EF8FC8703D29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3823-FDEA-4444-B7EF-25D462EF04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0246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1EBAF-3E89-4224-B894-EF8FC8703D29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3823-FDEA-4444-B7EF-25D462EF04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658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1EBAF-3E89-4224-B894-EF8FC8703D29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3823-FDEA-4444-B7EF-25D462EF04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903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1EBAF-3E89-4224-B894-EF8FC8703D29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3823-FDEA-4444-B7EF-25D462EF04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6735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1EBAF-3E89-4224-B894-EF8FC8703D29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3823-FDEA-4444-B7EF-25D462EF04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8460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1EBAF-3E89-4224-B894-EF8FC8703D29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3823-FDEA-4444-B7EF-25D462EF04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9415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1EBAF-3E89-4224-B894-EF8FC8703D29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3823-FDEA-4444-B7EF-25D462EF04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6888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1EBAF-3E89-4224-B894-EF8FC8703D29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3823-FDEA-4444-B7EF-25D462EF04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6316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11EBAF-3E89-4224-B894-EF8FC8703D29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D93823-FDEA-4444-B7EF-25D462EF04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3588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/>
          <p:cNvSpPr>
            <a:spLocks noGrp="1"/>
          </p:cNvSpPr>
          <p:nvPr>
            <p:ph type="ctrTitle"/>
          </p:nvPr>
        </p:nvSpPr>
        <p:spPr>
          <a:xfrm>
            <a:off x="38102" y="2649074"/>
            <a:ext cx="8387511" cy="703729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Abadi ExtraLight" panose="020B0204020104020204" pitchFamily="34" charset="0"/>
              </a:rPr>
              <a:t>Indicateurs de diversité sur données opportunistes</a:t>
            </a:r>
            <a:endParaRPr lang="fr-FR" sz="4800" dirty="0">
              <a:latin typeface="Abadi ExtraLight" panose="020B0204020104020204" pitchFamily="34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BE46610-9265-49DA-9591-C93E8917F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t>1</a:t>
            </a:fld>
            <a:endParaRPr lang="fr-FR"/>
          </a:p>
        </p:txBody>
      </p:sp>
      <p:pic>
        <p:nvPicPr>
          <p:cNvPr id="4" name="Image 3" descr="Une image contenant texte, habits, eau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2DBBF5F-0470-8B7A-7371-A4D93DBBFE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2285" y="-103243"/>
            <a:ext cx="9282495" cy="2694043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F64E1141-7356-4149-70A0-7982FBA3BE31}"/>
              </a:ext>
            </a:extLst>
          </p:cNvPr>
          <p:cNvSpPr txBox="1">
            <a:spLocks/>
          </p:cNvSpPr>
          <p:nvPr/>
        </p:nvSpPr>
        <p:spPr>
          <a:xfrm>
            <a:off x="1" y="5284842"/>
            <a:ext cx="9282493" cy="154193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2400" dirty="0">
                <a:latin typeface="Abadi ExtraLight" panose="020B0204020104020204" pitchFamily="34" charset="0"/>
              </a:rPr>
              <a:t>Version 2026</a:t>
            </a:r>
          </a:p>
          <a:p>
            <a:pPr algn="l"/>
            <a:r>
              <a:rPr lang="fr-FR" sz="2400" dirty="0">
                <a:latin typeface="Abadi ExtraLight" panose="020B0204020104020204" pitchFamily="34" charset="0"/>
              </a:rPr>
              <a:t>Jean-Yves Barnagaud – jean-yves.barnagaud@ephe.psl.eu</a:t>
            </a:r>
          </a:p>
        </p:txBody>
      </p:sp>
    </p:spTree>
    <p:extLst>
      <p:ext uri="{BB962C8B-B14F-4D97-AF65-F5344CB8AC3E}">
        <p14:creationId xmlns:p14="http://schemas.microsoft.com/office/powerpoint/2010/main" val="348375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D9685FF-BB6A-8E8D-05C4-42C57F1DD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3B19AF5-75E9-4B22-89CD-DDEB2572D276}"/>
              </a:ext>
            </a:extLst>
          </p:cNvPr>
          <p:cNvSpPr txBox="1"/>
          <p:nvPr/>
        </p:nvSpPr>
        <p:spPr>
          <a:xfrm>
            <a:off x="154082" y="231774"/>
            <a:ext cx="5020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Abadi ExtraLight" panose="020B0204020104020204" pitchFamily="34" charset="0"/>
              </a:rPr>
              <a:t>Objectifs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28D9D84-CABA-D0F9-BC53-8430287589A8}"/>
              </a:ext>
            </a:extLst>
          </p:cNvPr>
          <p:cNvSpPr txBox="1"/>
          <p:nvPr/>
        </p:nvSpPr>
        <p:spPr>
          <a:xfrm>
            <a:off x="76202" y="1792195"/>
            <a:ext cx="930760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89" indent="-457189">
              <a:buFont typeface="Arial" panose="020B0604020202020204" pitchFamily="34" charset="0"/>
              <a:buChar char="•"/>
            </a:pPr>
            <a:r>
              <a:rPr lang="fr-FR" sz="2800" dirty="0">
                <a:latin typeface="Abadi ExtraLight" panose="020B0204020104020204" pitchFamily="34" charset="0"/>
              </a:rPr>
              <a:t>Exploiter des données de communautés d’espèces</a:t>
            </a:r>
          </a:p>
          <a:p>
            <a:endParaRPr lang="fr-FR" sz="2800" dirty="0">
              <a:latin typeface="Abadi ExtraLight" panose="020B0204020104020204" pitchFamily="34" charset="0"/>
            </a:endParaRP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fr-FR" sz="2800" dirty="0">
                <a:latin typeface="Abadi ExtraLight" panose="020B0204020104020204" pitchFamily="34" charset="0"/>
              </a:rPr>
              <a:t>Mettre en place une analyse statistique en autonomie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endParaRPr lang="fr-FR" sz="2800" dirty="0">
              <a:latin typeface="Abadi ExtraLight" panose="020B0204020104020204" pitchFamily="34" charset="0"/>
            </a:endParaRP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fr-FR" sz="2800" dirty="0">
                <a:latin typeface="Abadi ExtraLight" panose="020B0204020104020204" pitchFamily="34" charset="0"/>
              </a:rPr>
              <a:t>Identifier les problèmes inhérents aux données opportunistes</a:t>
            </a:r>
          </a:p>
          <a:p>
            <a:endParaRPr lang="fr-FR" sz="2800" dirty="0">
              <a:latin typeface="Abadi Extra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827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C518F923-F670-7B9A-78AC-85DDDC20D9D4}"/>
              </a:ext>
            </a:extLst>
          </p:cNvPr>
          <p:cNvSpPr txBox="1"/>
          <p:nvPr/>
        </p:nvSpPr>
        <p:spPr>
          <a:xfrm>
            <a:off x="66677" y="201520"/>
            <a:ext cx="5724523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89" indent="-457189">
              <a:buFont typeface="Arial" panose="020B0604020202020204" pitchFamily="34" charset="0"/>
              <a:buChar char="•"/>
            </a:pPr>
            <a:r>
              <a:rPr lang="fr-FR" sz="2800">
                <a:latin typeface="Abadi ExtraLight" panose="020B0204020104020204" pitchFamily="34" charset="0"/>
              </a:rPr>
              <a:t>Les indicateurs de diversité basés sur les communautés d’espèces sont le lot quotidien des suivis de biodiversité</a:t>
            </a:r>
          </a:p>
          <a:p>
            <a:endParaRPr lang="fr-FR" sz="2800">
              <a:latin typeface="Abadi ExtraLight" panose="020B0204020104020204" pitchFamily="34" charset="0"/>
            </a:endParaRP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fr-FR" sz="2800">
                <a:latin typeface="Abadi ExtraLight" panose="020B0204020104020204" pitchFamily="34" charset="0"/>
              </a:rPr>
              <a:t>Ils sont de plus en plus souvent dérivés de données opportunistes, ce qui pose des problèmes spécifiques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endParaRPr lang="fr-FR" sz="2800">
              <a:latin typeface="Abadi ExtraLight" panose="020B0204020104020204" pitchFamily="34" charset="0"/>
            </a:endParaRP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fr-FR" sz="2800">
                <a:latin typeface="Abadi ExtraLight" panose="020B0204020104020204" pitchFamily="34" charset="0"/>
              </a:rPr>
              <a:t>Le but de cette séquence est de manipuler ces données et de proposer des solutions en associant méthodes de quantification de la biodiversité et outils statistiques</a:t>
            </a:r>
          </a:p>
          <a:p>
            <a:endParaRPr lang="fr-FR" sz="2800" dirty="0">
              <a:latin typeface="Abadi ExtraLight" panose="020B0204020104020204" pitchFamily="34" charset="0"/>
            </a:endParaRPr>
          </a:p>
        </p:txBody>
      </p:sp>
      <p:pic>
        <p:nvPicPr>
          <p:cNvPr id="10" name="Image 9" descr="Une image contenant carte&#10;&#10;Le contenu généré par l’IA peut être incorrect.">
            <a:extLst>
              <a:ext uri="{FF2B5EF4-FFF2-40B4-BE49-F238E27FC236}">
                <a16:creationId xmlns:a16="http://schemas.microsoft.com/office/drawing/2014/main" id="{9DBB5194-9913-0885-86F1-CA151EF80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443" y="0"/>
            <a:ext cx="29805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29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mammifère, lézard, reptile, Reptile à écailles&#10;&#10;Le contenu généré par l’IA peut être incorrect.">
            <a:extLst>
              <a:ext uri="{FF2B5EF4-FFF2-40B4-BE49-F238E27FC236}">
                <a16:creationId xmlns:a16="http://schemas.microsoft.com/office/drawing/2014/main" id="{AF85ABE8-DD6F-1965-0A93-795FA3E3A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925" y="0"/>
            <a:ext cx="7165075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6823399-4B57-B222-6DDB-D947A8EC94BE}"/>
              </a:ext>
            </a:extLst>
          </p:cNvPr>
          <p:cNvSpPr/>
          <p:nvPr/>
        </p:nvSpPr>
        <p:spPr>
          <a:xfrm rot="16200000">
            <a:off x="595313" y="-757241"/>
            <a:ext cx="7953375" cy="9144003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48000">
                <a:schemeClr val="bg1">
                  <a:alpha val="46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0DED6359-A082-9DD0-510C-DF8239CA7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"/>
            <a:ext cx="5416077" cy="1924050"/>
          </a:xfrm>
          <a:prstGeom prst="rect">
            <a:avLst/>
          </a:prstGeom>
        </p:spPr>
      </p:pic>
      <p:grpSp>
        <p:nvGrpSpPr>
          <p:cNvPr id="8" name="Groupe 7">
            <a:extLst>
              <a:ext uri="{FF2B5EF4-FFF2-40B4-BE49-F238E27FC236}">
                <a16:creationId xmlns:a16="http://schemas.microsoft.com/office/drawing/2014/main" id="{4B00AED5-34D3-AD9C-E887-B999DC60775A}"/>
              </a:ext>
            </a:extLst>
          </p:cNvPr>
          <p:cNvGrpSpPr/>
          <p:nvPr/>
        </p:nvGrpSpPr>
        <p:grpSpPr>
          <a:xfrm>
            <a:off x="-76200" y="2124075"/>
            <a:ext cx="5517564" cy="5467350"/>
            <a:chOff x="792460" y="0"/>
            <a:chExt cx="7559081" cy="7858125"/>
          </a:xfrm>
        </p:grpSpPr>
        <p:pic>
          <p:nvPicPr>
            <p:cNvPr id="6" name="Image 5" descr="Une image contenant texte, carte, diagramme&#10;&#10;Le contenu généré par l’IA peut être incorrect.">
              <a:extLst>
                <a:ext uri="{FF2B5EF4-FFF2-40B4-BE49-F238E27FC236}">
                  <a16:creationId xmlns:a16="http://schemas.microsoft.com/office/drawing/2014/main" id="{F5B77D1E-ABCC-A29C-4A62-A7107FF81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460" y="0"/>
              <a:ext cx="7559080" cy="68580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CE1B437-1E7E-400A-03E2-2C3DB4631A05}"/>
                </a:ext>
              </a:extLst>
            </p:cNvPr>
            <p:cNvSpPr/>
            <p:nvPr/>
          </p:nvSpPr>
          <p:spPr>
            <a:xfrm>
              <a:off x="4838702" y="3762375"/>
              <a:ext cx="3512839" cy="40957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4063676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A426346-0CA5-3968-615C-A2273DEEA299}"/>
              </a:ext>
            </a:extLst>
          </p:cNvPr>
          <p:cNvSpPr txBox="1"/>
          <p:nvPr/>
        </p:nvSpPr>
        <p:spPr>
          <a:xfrm>
            <a:off x="157163" y="1370379"/>
            <a:ext cx="882967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Abadi ExtraLight" panose="020B0204020104020204" pitchFamily="34" charset="0"/>
              </a:rPr>
              <a:t>Quels sont les effets du climat et de l’urbanisation sur les patrons de diversité régionale des reptiles communs en Occitanie? </a:t>
            </a:r>
          </a:p>
          <a:p>
            <a:endParaRPr lang="fr-FR" sz="2800" dirty="0">
              <a:latin typeface="Abadi ExtraLight" panose="020B0204020104020204" pitchFamily="34" charset="0"/>
            </a:endParaRPr>
          </a:p>
          <a:p>
            <a:r>
              <a:rPr lang="fr-FR" sz="2800" b="1" dirty="0">
                <a:latin typeface="Abadi ExtraLight" panose="020B0204020104020204" pitchFamily="34" charset="0"/>
              </a:rPr>
              <a:t>Hypothèse : </a:t>
            </a:r>
            <a:r>
              <a:rPr lang="fr-FR" sz="2800" dirty="0">
                <a:latin typeface="Abadi ExtraLight" panose="020B0204020104020204" pitchFamily="34" charset="0"/>
              </a:rPr>
              <a:t>l’Occitanie est au carrefour entre les biomes méditerranéens et médio-européens.</a:t>
            </a:r>
          </a:p>
          <a:p>
            <a:endParaRPr lang="fr-FR" sz="2800" dirty="0">
              <a:latin typeface="Abadi ExtraLight" panose="020B0204020104020204" pitchFamily="34" charset="0"/>
            </a:endParaRPr>
          </a:p>
          <a:p>
            <a:r>
              <a:rPr lang="fr-FR" sz="2800" b="1" dirty="0">
                <a:latin typeface="Abadi ExtraLight" panose="020B0204020104020204" pitchFamily="34" charset="0"/>
              </a:rPr>
              <a:t>Prédictions :</a:t>
            </a:r>
          </a:p>
          <a:p>
            <a:pPr marL="457200" indent="-457200">
              <a:buFontTx/>
              <a:buChar char="-"/>
            </a:pPr>
            <a:r>
              <a:rPr lang="fr-FR" sz="2800" dirty="0">
                <a:latin typeface="Abadi ExtraLight" panose="020B0204020104020204" pitchFamily="34" charset="0"/>
              </a:rPr>
              <a:t>Diversité maximale en zone méditerranéenne</a:t>
            </a:r>
          </a:p>
          <a:p>
            <a:pPr marL="457200" indent="-457200">
              <a:buFontTx/>
              <a:buChar char="-"/>
            </a:pPr>
            <a:r>
              <a:rPr lang="fr-FR" sz="2800" dirty="0">
                <a:latin typeface="Abadi ExtraLight" panose="020B0204020104020204" pitchFamily="34" charset="0"/>
              </a:rPr>
              <a:t>Diversité plus faible dans les zones urbanisées</a:t>
            </a:r>
          </a:p>
          <a:p>
            <a:endParaRPr lang="fr-FR" sz="2800" dirty="0">
              <a:latin typeface="Abadi Extra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980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5690BFF-3534-7822-B983-DDB34DAB3F0F}"/>
              </a:ext>
            </a:extLst>
          </p:cNvPr>
          <p:cNvSpPr txBox="1"/>
          <p:nvPr/>
        </p:nvSpPr>
        <p:spPr>
          <a:xfrm>
            <a:off x="90488" y="151179"/>
            <a:ext cx="8829673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Abadi ExtraLight" panose="020B0204020104020204" pitchFamily="34" charset="0"/>
              </a:rPr>
              <a:t>Méthodologie</a:t>
            </a:r>
            <a:endParaRPr lang="fr-FR" sz="2400" b="1" dirty="0">
              <a:latin typeface="Abadi ExtraLight" panose="020B0204020104020204" pitchFamily="34" charset="0"/>
            </a:endParaRPr>
          </a:p>
          <a:p>
            <a:endParaRPr lang="fr-FR" sz="2400" dirty="0">
              <a:latin typeface="Abadi ExtraLight" panose="020B0204020104020204" pitchFamily="34" charset="0"/>
            </a:endParaRPr>
          </a:p>
          <a:p>
            <a:r>
              <a:rPr lang="fr-FR" sz="2400" b="1" dirty="0">
                <a:latin typeface="Abadi ExtraLight" panose="020B0204020104020204" pitchFamily="34" charset="0"/>
              </a:rPr>
              <a:t>Données de reptiles : </a:t>
            </a:r>
            <a:r>
              <a:rPr lang="fr-FR" sz="2400" dirty="0">
                <a:latin typeface="Abadi ExtraLight" panose="020B0204020104020204" pitchFamily="34" charset="0"/>
              </a:rPr>
              <a:t>observations géolocalisées entre 1995 et 2015, toutes espèces communes. Seules les données validées et précises géographiquement sont conservées. Les observations sont agrégées en mailles de 10 x 10 km. Le nombre d’observation par espèce est reporté dans chaque maille. </a:t>
            </a:r>
            <a:r>
              <a:rPr lang="fr-FR" sz="2400" dirty="0">
                <a:solidFill>
                  <a:srgbClr val="C00000"/>
                </a:solidFill>
                <a:latin typeface="Abadi ExtraLight" panose="020B0204020104020204" pitchFamily="34" charset="0"/>
              </a:rPr>
              <a:t>reptiles_sites_especes.txt</a:t>
            </a:r>
          </a:p>
          <a:p>
            <a:endParaRPr lang="fr-FR" sz="2400" dirty="0">
              <a:latin typeface="Abadi ExtraLight" panose="020B0204020104020204" pitchFamily="34" charset="0"/>
            </a:endParaRPr>
          </a:p>
          <a:p>
            <a:r>
              <a:rPr lang="fr-FR" sz="2400" b="1" dirty="0">
                <a:latin typeface="Abadi ExtraLight" panose="020B0204020104020204" pitchFamily="34" charset="0"/>
              </a:rPr>
              <a:t>Données environnementales : </a:t>
            </a:r>
          </a:p>
          <a:p>
            <a:r>
              <a:rPr lang="fr-FR" sz="2400" dirty="0">
                <a:latin typeface="Abadi ExtraLight" panose="020B0204020104020204" pitchFamily="34" charset="0"/>
              </a:rPr>
              <a:t>Altitude (structure le climat régional) : MNT IGN</a:t>
            </a:r>
          </a:p>
          <a:p>
            <a:r>
              <a:rPr lang="fr-FR" sz="2400" dirty="0">
                <a:latin typeface="Abadi ExtraLight" panose="020B0204020104020204" pitchFamily="34" charset="0"/>
              </a:rPr>
              <a:t>Urbanisation : CORINE </a:t>
            </a:r>
            <a:r>
              <a:rPr lang="fr-FR" sz="2400" dirty="0" err="1">
                <a:latin typeface="Abadi ExtraLight" panose="020B0204020104020204" pitchFamily="34" charset="0"/>
              </a:rPr>
              <a:t>LandCover</a:t>
            </a:r>
            <a:endParaRPr lang="fr-FR" sz="2400" dirty="0">
              <a:latin typeface="Abadi ExtraLight" panose="020B0204020104020204" pitchFamily="34" charset="0"/>
            </a:endParaRPr>
          </a:p>
          <a:p>
            <a:r>
              <a:rPr lang="fr-FR" sz="2400" dirty="0">
                <a:solidFill>
                  <a:srgbClr val="C00000"/>
                </a:solidFill>
                <a:latin typeface="Abadi ExtraLight" panose="020B0204020104020204" pitchFamily="34" charset="0"/>
              </a:rPr>
              <a:t>reptiles_covariables_environnement.txt</a:t>
            </a:r>
          </a:p>
          <a:p>
            <a:endParaRPr lang="fr-FR" sz="2400" dirty="0">
              <a:solidFill>
                <a:srgbClr val="C00000"/>
              </a:solidFill>
              <a:latin typeface="Abadi ExtraLight" panose="020B0204020104020204" pitchFamily="34" charset="0"/>
            </a:endParaRPr>
          </a:p>
          <a:p>
            <a:r>
              <a:rPr lang="fr-FR" sz="2400" b="1" dirty="0">
                <a:latin typeface="Abadi ExtraLight" panose="020B0204020104020204" pitchFamily="34" charset="0"/>
              </a:rPr>
              <a:t>Diversité : </a:t>
            </a:r>
          </a:p>
          <a:p>
            <a:r>
              <a:rPr lang="fr-FR" sz="2400" dirty="0">
                <a:latin typeface="Abadi ExtraLight" panose="020B0204020104020204" pitchFamily="34" charset="0"/>
              </a:rPr>
              <a:t>Les indicateurs à considérer sont la richesse spécifique, l’indice de Shannon et l’abondance totale.</a:t>
            </a:r>
          </a:p>
          <a:p>
            <a:endParaRPr lang="fr-FR" sz="2400" dirty="0">
              <a:latin typeface="Abadi Extra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253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E74A8-9877-59B9-0B18-D2167CDDA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7560DC1-C3FE-3EED-1BD5-C8A36E0CD01F}"/>
              </a:ext>
            </a:extLst>
          </p:cNvPr>
          <p:cNvSpPr txBox="1"/>
          <p:nvPr/>
        </p:nvSpPr>
        <p:spPr>
          <a:xfrm>
            <a:off x="90488" y="151179"/>
            <a:ext cx="8829673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Abadi ExtraLight" panose="020B0204020104020204" pitchFamily="34" charset="0"/>
              </a:rPr>
              <a:t>A faire</a:t>
            </a:r>
            <a:endParaRPr lang="fr-FR" sz="2400" b="1" dirty="0">
              <a:latin typeface="Abadi ExtraLight" panose="020B0204020104020204" pitchFamily="34" charset="0"/>
            </a:endParaRPr>
          </a:p>
          <a:p>
            <a:endParaRPr lang="fr-FR" sz="2400" dirty="0">
              <a:latin typeface="Abadi ExtraLight" panose="020B0204020104020204" pitchFamily="34" charset="0"/>
            </a:endParaRPr>
          </a:p>
          <a:p>
            <a:r>
              <a:rPr lang="fr-FR" sz="2400" dirty="0">
                <a:latin typeface="Abadi ExtraLight" panose="020B0204020104020204" pitchFamily="34" charset="0"/>
              </a:rPr>
              <a:t>1 – analyser l’énoncé et poser les objectifs d’analyse</a:t>
            </a:r>
            <a:endParaRPr lang="fr-FR" sz="2400" dirty="0">
              <a:solidFill>
                <a:srgbClr val="C00000"/>
              </a:solidFill>
              <a:latin typeface="Abadi ExtraLight" panose="020B0204020104020204" pitchFamily="34" charset="0"/>
            </a:endParaRPr>
          </a:p>
          <a:p>
            <a:endParaRPr lang="fr-FR" sz="2400" dirty="0">
              <a:latin typeface="Abadi ExtraLight" panose="020B0204020104020204" pitchFamily="34" charset="0"/>
            </a:endParaRPr>
          </a:p>
          <a:p>
            <a:r>
              <a:rPr lang="fr-FR" sz="2400" dirty="0">
                <a:latin typeface="Abadi ExtraLight" panose="020B0204020104020204" pitchFamily="34" charset="0"/>
              </a:rPr>
              <a:t>2 – identifier les enjeux techniques</a:t>
            </a:r>
          </a:p>
          <a:p>
            <a:endParaRPr lang="fr-FR" sz="2400" dirty="0">
              <a:latin typeface="Abadi ExtraLight" panose="020B0204020104020204" pitchFamily="34" charset="0"/>
            </a:endParaRPr>
          </a:p>
          <a:p>
            <a:r>
              <a:rPr lang="fr-FR" sz="2400" dirty="0">
                <a:latin typeface="Abadi ExtraLight" panose="020B0204020104020204" pitchFamily="34" charset="0"/>
              </a:rPr>
              <a:t>3 – explorer les données</a:t>
            </a:r>
          </a:p>
          <a:p>
            <a:endParaRPr lang="fr-FR" sz="2400" dirty="0">
              <a:latin typeface="Abadi ExtraLight" panose="020B0204020104020204" pitchFamily="34" charset="0"/>
            </a:endParaRPr>
          </a:p>
          <a:p>
            <a:r>
              <a:rPr lang="fr-FR" sz="2400" dirty="0">
                <a:latin typeface="Abadi ExtraLight" panose="020B0204020104020204" pitchFamily="34" charset="0"/>
              </a:rPr>
              <a:t>4 – implémenter l’analyse</a:t>
            </a:r>
          </a:p>
          <a:p>
            <a:endParaRPr lang="fr-FR" sz="2400" dirty="0">
              <a:latin typeface="Abadi ExtraLight" panose="020B0204020104020204" pitchFamily="34" charset="0"/>
            </a:endParaRPr>
          </a:p>
          <a:p>
            <a:r>
              <a:rPr lang="fr-FR" sz="2400" dirty="0">
                <a:latin typeface="Abadi ExtraLight" panose="020B0204020104020204" pitchFamily="34" charset="0"/>
              </a:rPr>
              <a:t>5 – présenter le sujet</a:t>
            </a:r>
          </a:p>
          <a:p>
            <a:endParaRPr lang="fr-FR" sz="2400" dirty="0">
              <a:latin typeface="Abadi ExtraLight" panose="020B0204020104020204" pitchFamily="34" charset="0"/>
            </a:endParaRPr>
          </a:p>
          <a:p>
            <a:endParaRPr lang="fr-FR" sz="2400" dirty="0">
              <a:latin typeface="Abadi ExtraLight" panose="020B0204020104020204" pitchFamily="34" charset="0"/>
            </a:endParaRPr>
          </a:p>
          <a:p>
            <a:r>
              <a:rPr lang="fr-FR" sz="2400" b="1" dirty="0">
                <a:latin typeface="Abadi ExtraLight" panose="020B0204020104020204" pitchFamily="34" charset="0"/>
              </a:rPr>
              <a:t>Deux groupes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Abadi ExtraLight" panose="020B0204020104020204" pitchFamily="34" charset="0"/>
              </a:rPr>
              <a:t>1 groupe sur la relation diversité – variables environnementales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Abadi ExtraLight" panose="020B0204020104020204" pitchFamily="34" charset="0"/>
              </a:rPr>
              <a:t>1 groupe sur la prise en compte de l’effort d’échantillonnage </a:t>
            </a:r>
          </a:p>
        </p:txBody>
      </p:sp>
    </p:spTree>
    <p:extLst>
      <p:ext uri="{BB962C8B-B14F-4D97-AF65-F5344CB8AC3E}">
        <p14:creationId xmlns:p14="http://schemas.microsoft.com/office/powerpoint/2010/main" val="21521447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</TotalTime>
  <Words>342</Words>
  <Application>Microsoft Office PowerPoint</Application>
  <PresentationFormat>Affichage à l'écran (4:3)</PresentationFormat>
  <Paragraphs>54</Paragraphs>
  <Slides>7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Abadi ExtraLight</vt:lpstr>
      <vt:lpstr>Aptos</vt:lpstr>
      <vt:lpstr>Aptos Display</vt:lpstr>
      <vt:lpstr>Arial</vt:lpstr>
      <vt:lpstr>Thème Office</vt:lpstr>
      <vt:lpstr>Indicateurs de diversité sur données opportunistes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Jean-Yves Barnagaud</dc:creator>
  <cp:lastModifiedBy>Jean-Yves Barnagaud</cp:lastModifiedBy>
  <cp:revision>10</cp:revision>
  <dcterms:created xsi:type="dcterms:W3CDTF">2026-04-07T14:51:05Z</dcterms:created>
  <dcterms:modified xsi:type="dcterms:W3CDTF">2026-04-08T11:21:11Z</dcterms:modified>
</cp:coreProperties>
</file>