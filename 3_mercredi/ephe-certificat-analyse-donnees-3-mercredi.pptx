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25" r:id="rId2"/>
    <p:sldId id="384" r:id="rId3"/>
    <p:sldId id="385" r:id="rId4"/>
    <p:sldId id="386" r:id="rId5"/>
    <p:sldId id="387" r:id="rId6"/>
    <p:sldId id="388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2B3A1-8D51-4B38-B9C0-A9709D9C7B38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FEA8AE-8BB3-48F6-956E-E9C8CF39E8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2336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https://th-thumbnailer.cdn-si-edu.com/IrTIw20B8aOYLjXNRRofLVyS1eQ=/fit-in/1072x0/https://tf-cmsv2-smithsonianmag-media.s3.amazonaws.com/filer/a2/f8/a2f8b8f2-e2ec-41e8-bd7d-602d62a8dd01/danger_islands_expedition_image_3.jpg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FEA8AE-8BB3-48F6-956E-E9C8CF39E81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1583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24448C-20EE-CCAF-745C-17BEC48D4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C1F8C79-8C6B-7FB6-CC48-E3D54545B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69C1A9-D704-6E98-8401-F54288EFB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1EBAF-3E89-4224-B894-EF8FC8703D29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481660-016C-339C-65AA-FDD2DE657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1459C9-1479-39DA-8372-299D1DC34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3823-FDEA-4444-B7EF-25D462EF04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467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CB0E05-AF3D-44FF-B300-770D4D91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DE1A56-F325-CD26-1158-CFA435C38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144F94-8416-749F-B8D8-192FF02A7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1EBAF-3E89-4224-B894-EF8FC8703D29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CDBA4-A5C3-9A41-B96D-4EA023C53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CC0B34-EDD4-4276-F8C4-B0463E732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3823-FDEA-4444-B7EF-25D462EF04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8547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82C3BB-604E-9BEA-06C0-4FBE52EB9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4F7546A-05F4-B3FC-A236-D893814BD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B9CC7B-145A-20F5-88C5-1304E8DBC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1EBAF-3E89-4224-B894-EF8FC8703D29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EBD45D-40B8-47D6-3D20-CDB015A30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84EF95-7DE7-9A5E-AFDB-A6F184B27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3823-FDEA-4444-B7EF-25D462EF04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795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0D06C6-06AF-EF90-1FEA-5094D93B1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40A057-2B03-D05F-820D-034B34CA7F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1090595-4E20-8B69-2E6F-ADB1046B6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4E2080C-F7BC-D820-61AD-93E2657A9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1EBAF-3E89-4224-B894-EF8FC8703D29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453E70-50BE-86B2-5F61-991548801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6C68C3-D143-7688-0656-802CBFF19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3823-FDEA-4444-B7EF-25D462EF04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2421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CCE03B-2878-7D18-3FE5-742860571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DAB3330-9F54-0EF1-CC47-5CD7CBF1D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C31E13-6198-C9A8-1DB1-31CB9B2C7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8E1B290-D147-C623-A9A6-211AAB701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F05E9F1-99DC-147B-179A-D09ECBD248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94757C0-A699-E8A2-2D19-B3BA68996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1EBAF-3E89-4224-B894-EF8FC8703D29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01AB11F-86DA-C66E-0539-FF1360390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7285184-5B3B-2CD5-1164-71527D6C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3823-FDEA-4444-B7EF-25D462EF04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3960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3A72DD-CE5F-52B7-BD3B-9AD3FD463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E879765-2812-0941-C484-B4D5B3420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1EBAF-3E89-4224-B894-EF8FC8703D29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FCF6739-D109-E782-F45B-B77D1FFA1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FFEEF7-1C15-C40D-C606-E1F385BE1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3823-FDEA-4444-B7EF-25D462EF04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2159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A2BE1E8-A1EC-2C47-9373-9078B43BA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1EBAF-3E89-4224-B894-EF8FC8703D29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BD3BDCF-1B6A-40AF-DFE9-BEAC154C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EDBD25-C9B7-D53C-408A-F1B4AB99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3823-FDEA-4444-B7EF-25D462EF04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1255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DB8E19-787C-A81B-4E97-A0D0A07D1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56F0BA-E27C-21B3-FC75-DAC7FA80F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AE43FCD-9715-8452-5250-956F565DE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472F0BB-F2AF-2B0F-1803-E31A47C38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1EBAF-3E89-4224-B894-EF8FC8703D29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1B23ED-65D2-5ABE-7ADA-9A74D08AD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091459-6ABF-B2DF-9B46-76BECCD01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3823-FDEA-4444-B7EF-25D462EF04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518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808C95-2081-CB8B-5D05-6BDDC588E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9D4982A-D8A3-EB40-8B88-97B35734BA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E56968C-7338-0A86-727D-6A55944CF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B38773-7B43-645C-2E0E-CAF9AFE0B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1EBAF-3E89-4224-B894-EF8FC8703D29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8B0B539-F817-6A3B-371A-BE055E334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9C67A0E-9A29-553A-54CB-76562F03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3823-FDEA-4444-B7EF-25D462EF04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2079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581318-CBC7-6EA4-11B1-B3F47905D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B4CD4B4-8DE4-05A5-4F5B-3DBB290BC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50856D-7824-4E6E-46DD-088613DCA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1EBAF-3E89-4224-B894-EF8FC8703D29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7C3155-E94C-EEA3-41AE-EC172B2EB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1AC440-2FD1-F173-4188-895DBAB83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3823-FDEA-4444-B7EF-25D462EF04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0096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F8943A7-6FA7-AD41-E683-3543DCA609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2181DFF-6ABB-882B-5A05-E90DC3C3E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452C34-071D-BF0E-323E-EC3D1046B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1EBAF-3E89-4224-B894-EF8FC8703D29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572C6D-77F5-CE9E-BAC8-8C040849A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013A5C-39AA-880E-36FE-1F53B7163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3823-FDEA-4444-B7EF-25D462EF04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636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1EF9374-375C-CF79-614B-85061254C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5D79A4-F0B6-18E6-716A-14C101AC6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6D6F5E-D988-953A-E0F2-2C1C416E6F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11EBAF-3E89-4224-B894-EF8FC8703D29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9D51B4-1F9E-DF3C-AA7B-A0D1A2268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46BA47-43E8-992B-679C-E9061BF3EF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D93823-FDEA-4444-B7EF-25D462EF04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4393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/>
          <p:cNvSpPr>
            <a:spLocks noGrp="1"/>
          </p:cNvSpPr>
          <p:nvPr>
            <p:ph type="ctrTitle"/>
          </p:nvPr>
        </p:nvSpPr>
        <p:spPr>
          <a:xfrm>
            <a:off x="1524000" y="2725271"/>
            <a:ext cx="8387510" cy="703729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Abadi ExtraLight" panose="020B0204020104020204" pitchFamily="34" charset="0"/>
              </a:rPr>
              <a:t>Analyser des données spatiales</a:t>
            </a:r>
            <a:endParaRPr lang="fr-FR" sz="4800" dirty="0">
              <a:latin typeface="Abadi ExtraLight" panose="020B0204020104020204" pitchFamily="34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BE46610-9265-49DA-9591-C93E8917F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t>1</a:t>
            </a:fld>
            <a:endParaRPr lang="fr-FR"/>
          </a:p>
        </p:txBody>
      </p:sp>
      <p:pic>
        <p:nvPicPr>
          <p:cNvPr id="4" name="Image 3" descr="Une image contenant texte, habits, eau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2DBBF5F-0470-8B7A-7371-A4D93DBBFE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715" y="-103244"/>
            <a:ext cx="9282494" cy="2694043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F64E1141-7356-4149-70A0-7982FBA3BE31}"/>
              </a:ext>
            </a:extLst>
          </p:cNvPr>
          <p:cNvSpPr txBox="1">
            <a:spLocks/>
          </p:cNvSpPr>
          <p:nvPr/>
        </p:nvSpPr>
        <p:spPr>
          <a:xfrm>
            <a:off x="1524000" y="5284842"/>
            <a:ext cx="9282493" cy="15419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2400" dirty="0">
                <a:latin typeface="Abadi ExtraLight" panose="020B0204020104020204" pitchFamily="34" charset="0"/>
              </a:rPr>
              <a:t>Version 2026</a:t>
            </a:r>
          </a:p>
          <a:p>
            <a:pPr algn="l"/>
            <a:r>
              <a:rPr lang="fr-FR" sz="2400" dirty="0">
                <a:latin typeface="Abadi ExtraLight" panose="020B0204020104020204" pitchFamily="34" charset="0"/>
              </a:rPr>
              <a:t>Jean-Yves Barnagaud – jean-yves.barnagaud@ephe.psl.eu</a:t>
            </a:r>
          </a:p>
        </p:txBody>
      </p:sp>
    </p:spTree>
    <p:extLst>
      <p:ext uri="{BB962C8B-B14F-4D97-AF65-F5344CB8AC3E}">
        <p14:creationId xmlns:p14="http://schemas.microsoft.com/office/powerpoint/2010/main" val="348375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D9685FF-BB6A-8E8D-05C4-42C57F1DD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3B19AF5-75E9-4B22-89CD-DDEB2572D276}"/>
              </a:ext>
            </a:extLst>
          </p:cNvPr>
          <p:cNvSpPr txBox="1"/>
          <p:nvPr/>
        </p:nvSpPr>
        <p:spPr>
          <a:xfrm>
            <a:off x="411257" y="212724"/>
            <a:ext cx="5020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Abadi ExtraLight" panose="020B0204020104020204" pitchFamily="34" charset="0"/>
              </a:rPr>
              <a:t>Objectifs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28D9D84-CABA-D0F9-BC53-8430287589A8}"/>
              </a:ext>
            </a:extLst>
          </p:cNvPr>
          <p:cNvSpPr txBox="1"/>
          <p:nvPr/>
        </p:nvSpPr>
        <p:spPr>
          <a:xfrm>
            <a:off x="1362075" y="1935068"/>
            <a:ext cx="930760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Abadi ExtraLight" panose="020B0204020104020204" pitchFamily="34" charset="0"/>
              </a:rPr>
              <a:t>Explorer un jeu de données spatial en autonomie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Abadi ExtraLight" panose="020B02040201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Abadi ExtraLight" panose="020B0204020104020204" pitchFamily="34" charset="0"/>
              </a:rPr>
              <a:t>Identifier les problématiques inhérentes aux données spatiales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Abadi ExtraLight" panose="020B02040201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Abadi ExtraLight" panose="020B0204020104020204" pitchFamily="34" charset="0"/>
              </a:rPr>
              <a:t>Proposer des solutions</a:t>
            </a:r>
          </a:p>
        </p:txBody>
      </p:sp>
    </p:spTree>
    <p:extLst>
      <p:ext uri="{BB962C8B-B14F-4D97-AF65-F5344CB8AC3E}">
        <p14:creationId xmlns:p14="http://schemas.microsoft.com/office/powerpoint/2010/main" val="1686827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Espace réservé du contenu 3" descr="Une image contenant sol, plein air, poisson, raie&#10;&#10;Le contenu généré par l’IA peut être incorrect.">
            <a:extLst>
              <a:ext uri="{FF2B5EF4-FFF2-40B4-BE49-F238E27FC236}">
                <a16:creationId xmlns:a16="http://schemas.microsoft.com/office/drawing/2014/main" id="{C832D332-BC68-070D-82D1-959BF5B0F0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81" b="1013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992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80EB7A33-F5D9-605C-E308-A8689184C1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74" r="24902"/>
          <a:stretch/>
        </p:blipFill>
        <p:spPr>
          <a:xfrm>
            <a:off x="6215904" y="811307"/>
            <a:ext cx="3047356" cy="523538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6489DCD-5045-036A-C5B1-0927890C93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05" r="24608" b="49150"/>
          <a:stretch/>
        </p:blipFill>
        <p:spPr>
          <a:xfrm rot="16200000">
            <a:off x="7845517" y="2315885"/>
            <a:ext cx="5235388" cy="222623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40ECA4F-301C-88BB-6B43-58E0397037AB}"/>
              </a:ext>
            </a:extLst>
          </p:cNvPr>
          <p:cNvSpPr txBox="1"/>
          <p:nvPr/>
        </p:nvSpPr>
        <p:spPr>
          <a:xfrm>
            <a:off x="561777" y="734918"/>
            <a:ext cx="47339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>
                <a:latin typeface="Abadi ExtraLight" panose="020B0204020104020204" pitchFamily="34" charset="0"/>
              </a:rPr>
              <a:t>1: </a:t>
            </a:r>
            <a:r>
              <a:rPr lang="fr-FR" sz="2800" dirty="0">
                <a:latin typeface="Abadi ExtraLight" panose="020B0204020104020204" pitchFamily="34" charset="0"/>
              </a:rPr>
              <a:t>définir la question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Abadi ExtraLight" panose="020B02040201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>
                <a:latin typeface="Abadi ExtraLight" panose="020B0204020104020204" pitchFamily="34" charset="0"/>
              </a:rPr>
              <a:t>2: </a:t>
            </a:r>
            <a:r>
              <a:rPr lang="fr-FR" sz="2800" dirty="0">
                <a:latin typeface="Abadi ExtraLight" panose="020B0204020104020204" pitchFamily="34" charset="0"/>
              </a:rPr>
              <a:t>élaborer les hypothèses et le modèle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Abadi ExtraLight" panose="020B02040201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>
                <a:latin typeface="Abadi ExtraLight" panose="020B0204020104020204" pitchFamily="34" charset="0"/>
              </a:rPr>
              <a:t>3: </a:t>
            </a:r>
            <a:r>
              <a:rPr lang="fr-FR" sz="2800" dirty="0">
                <a:latin typeface="Abadi ExtraLight" panose="020B0204020104020204" pitchFamily="34" charset="0"/>
              </a:rPr>
              <a:t>explorer les données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Abadi ExtraLight" panose="020B02040201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>
                <a:latin typeface="Abadi ExtraLight" panose="020B0204020104020204" pitchFamily="34" charset="0"/>
              </a:rPr>
              <a:t>4: </a:t>
            </a:r>
            <a:r>
              <a:rPr lang="fr-FR" sz="2800" dirty="0">
                <a:latin typeface="Abadi ExtraLight" panose="020B0204020104020204" pitchFamily="34" charset="0"/>
              </a:rPr>
              <a:t>élaborer le modèle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Abadi ExtraLight" panose="020B02040201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>
                <a:latin typeface="Abadi ExtraLight" panose="020B0204020104020204" pitchFamily="34" charset="0"/>
              </a:rPr>
              <a:t>5: </a:t>
            </a:r>
            <a:r>
              <a:rPr lang="fr-FR" sz="2800" dirty="0">
                <a:latin typeface="Abadi ExtraLight" panose="020B0204020104020204" pitchFamily="34" charset="0"/>
              </a:rPr>
              <a:t>explorer les résultats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Abadi ExtraLight" panose="020B02040201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>
                <a:latin typeface="Abadi ExtraLight" panose="020B0204020104020204" pitchFamily="34" charset="0"/>
              </a:rPr>
              <a:t>6: </a:t>
            </a:r>
            <a:r>
              <a:rPr lang="fr-FR" sz="2800" dirty="0">
                <a:latin typeface="Abadi ExtraLight" panose="020B0204020104020204" pitchFamily="34" charset="0"/>
              </a:rPr>
              <a:t>préparer une restitution </a:t>
            </a:r>
          </a:p>
        </p:txBody>
      </p:sp>
    </p:spTree>
    <p:extLst>
      <p:ext uri="{BB962C8B-B14F-4D97-AF65-F5344CB8AC3E}">
        <p14:creationId xmlns:p14="http://schemas.microsoft.com/office/powerpoint/2010/main" val="59329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43AF1B9-7993-3595-0B16-5BAE78DE20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74" r="24902"/>
          <a:stretch/>
        </p:blipFill>
        <p:spPr>
          <a:xfrm>
            <a:off x="8520954" y="811306"/>
            <a:ext cx="3047356" cy="523538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4FDF7A6-C223-FD7E-A654-B57574239575}"/>
              </a:ext>
            </a:extLst>
          </p:cNvPr>
          <p:cNvSpPr txBox="1"/>
          <p:nvPr/>
        </p:nvSpPr>
        <p:spPr>
          <a:xfrm>
            <a:off x="661790" y="1125443"/>
            <a:ext cx="698202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Abadi ExtraLight" panose="020B0204020104020204" pitchFamily="34" charset="0"/>
              </a:rPr>
              <a:t>L’herbivorie par les ongulés dans les Alpes</a:t>
            </a:r>
            <a:endParaRPr lang="fr-FR" sz="2800" dirty="0">
              <a:latin typeface="Abadi ExtraLight" panose="020B0204020104020204" pitchFamily="34" charset="0"/>
            </a:endParaRPr>
          </a:p>
          <a:p>
            <a:endParaRPr lang="fr-FR" sz="2800" dirty="0">
              <a:latin typeface="Abadi ExtraLight" panose="020B0204020104020204" pitchFamily="34" charset="0"/>
            </a:endParaRPr>
          </a:p>
          <a:p>
            <a:pPr algn="just"/>
            <a:r>
              <a:rPr lang="fr-FR" sz="2000" dirty="0">
                <a:latin typeface="Abadi ExtraLight" panose="020B0204020104020204" pitchFamily="34" charset="0"/>
              </a:rPr>
              <a:t>On s’intéresse aux variations de la pression d’abroutissement imposées par les ongulés à la végétation ligneuse et semi ligneuse dans les Alpes. </a:t>
            </a:r>
          </a:p>
          <a:p>
            <a:pPr algn="just"/>
            <a:endParaRPr lang="fr-FR" sz="2000" dirty="0">
              <a:latin typeface="Abadi ExtraLight" panose="020B0204020104020204" pitchFamily="34" charset="0"/>
            </a:endParaRPr>
          </a:p>
          <a:p>
            <a:pPr algn="just"/>
            <a:r>
              <a:rPr lang="fr-FR" sz="2000" dirty="0">
                <a:latin typeface="Abadi ExtraLight" panose="020B0204020104020204" pitchFamily="34" charset="0"/>
              </a:rPr>
              <a:t>On s’attend à une pression d’abroutissement plus forte près des lisières, là où il y a peu de fréquentation, à altitude moyenne, sur des terrains plats et loin des zones à forte pression de chasse.</a:t>
            </a:r>
          </a:p>
          <a:p>
            <a:pPr algn="just"/>
            <a:endParaRPr lang="fr-FR" sz="2000" dirty="0">
              <a:latin typeface="Abadi ExtraLight" panose="020B0204020104020204" pitchFamily="34" charset="0"/>
            </a:endParaRPr>
          </a:p>
          <a:p>
            <a:pPr algn="just"/>
            <a:r>
              <a:rPr lang="fr-FR" sz="2000" dirty="0">
                <a:latin typeface="Abadi ExtraLight" panose="020B0204020104020204" pitchFamily="34" charset="0"/>
              </a:rPr>
              <a:t>Les données sont constituées d’un réseau de placettes de 1m² disposées dans trois massifs alpins. Les opérateurs notent la présence ou l’absence de signes d’abroutissement.</a:t>
            </a:r>
          </a:p>
        </p:txBody>
      </p:sp>
    </p:spTree>
    <p:extLst>
      <p:ext uri="{BB962C8B-B14F-4D97-AF65-F5344CB8AC3E}">
        <p14:creationId xmlns:p14="http://schemas.microsoft.com/office/powerpoint/2010/main" val="2674611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4FB03-9921-82E8-BC0D-F6772CB41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7BFC2975-6119-0032-7F83-E6B51F65B43A}"/>
              </a:ext>
            </a:extLst>
          </p:cNvPr>
          <p:cNvSpPr txBox="1"/>
          <p:nvPr/>
        </p:nvSpPr>
        <p:spPr>
          <a:xfrm>
            <a:off x="661790" y="1125443"/>
            <a:ext cx="6982023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Abadi ExtraLight" panose="020B0204020104020204" pitchFamily="34" charset="0"/>
              </a:rPr>
              <a:t>La répartition du lézard ocellé en Occitanie</a:t>
            </a:r>
            <a:endParaRPr lang="fr-FR" sz="2800" dirty="0">
              <a:latin typeface="Abadi ExtraLight" panose="020B0204020104020204" pitchFamily="34" charset="0"/>
            </a:endParaRPr>
          </a:p>
          <a:p>
            <a:endParaRPr lang="fr-FR" sz="2800" dirty="0">
              <a:latin typeface="Abadi ExtraLight" panose="020B0204020104020204" pitchFamily="34" charset="0"/>
            </a:endParaRPr>
          </a:p>
          <a:p>
            <a:pPr algn="just"/>
            <a:r>
              <a:rPr lang="fr-FR" sz="2000" dirty="0">
                <a:latin typeface="Abadi ExtraLight" panose="020B0204020104020204" pitchFamily="34" charset="0"/>
              </a:rPr>
              <a:t>On s’intéresse aux déterminants de l’occurrence du lézard ocellé dans la région Occitanie</a:t>
            </a:r>
          </a:p>
          <a:p>
            <a:pPr algn="just"/>
            <a:endParaRPr lang="fr-FR" sz="2000" dirty="0">
              <a:latin typeface="Abadi ExtraLight" panose="020B0204020104020204" pitchFamily="34" charset="0"/>
            </a:endParaRPr>
          </a:p>
          <a:p>
            <a:pPr algn="just"/>
            <a:r>
              <a:rPr lang="fr-FR" sz="2000" dirty="0">
                <a:latin typeface="Abadi ExtraLight" panose="020B0204020104020204" pitchFamily="34" charset="0"/>
              </a:rPr>
              <a:t>On s’attend à ce que le lézard évite les zones urbaines et préfère le climat méditerranéen</a:t>
            </a:r>
          </a:p>
          <a:p>
            <a:pPr algn="just"/>
            <a:endParaRPr lang="fr-FR" sz="2000" dirty="0">
              <a:latin typeface="Abadi ExtraLight" panose="020B0204020104020204" pitchFamily="34" charset="0"/>
            </a:endParaRPr>
          </a:p>
          <a:p>
            <a:pPr algn="just"/>
            <a:r>
              <a:rPr lang="fr-FR" sz="2000" dirty="0">
                <a:latin typeface="Abadi ExtraLight" panose="020B0204020104020204" pitchFamily="34" charset="0"/>
              </a:rPr>
              <a:t>Les données sont constituées de points d’occurrence géolocalisés issus d’une base de données participative, amassés sans aucun protocole. Il n’y a pas d’absences.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9610B39-6183-432A-69A7-7F0D34828F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05" r="24608" b="49150"/>
          <a:stretch/>
        </p:blipFill>
        <p:spPr>
          <a:xfrm rot="16200000">
            <a:off x="7845517" y="2315885"/>
            <a:ext cx="5235388" cy="222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53166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274</Words>
  <Application>Microsoft Office PowerPoint</Application>
  <PresentationFormat>Grand écran</PresentationFormat>
  <Paragraphs>38</Paragraphs>
  <Slides>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Abadi ExtraLight</vt:lpstr>
      <vt:lpstr>Aptos</vt:lpstr>
      <vt:lpstr>Aptos Display</vt:lpstr>
      <vt:lpstr>Arial</vt:lpstr>
      <vt:lpstr>Thème Office</vt:lpstr>
      <vt:lpstr>Analyser des données spatiales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Jean-Yves Barnagaud</dc:creator>
  <cp:lastModifiedBy>Jean-Yves Barnagaud</cp:lastModifiedBy>
  <cp:revision>2</cp:revision>
  <dcterms:created xsi:type="dcterms:W3CDTF">2026-04-07T14:51:05Z</dcterms:created>
  <dcterms:modified xsi:type="dcterms:W3CDTF">2026-04-07T15:21:07Z</dcterms:modified>
</cp:coreProperties>
</file>