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325" r:id="rId2"/>
    <p:sldId id="384" r:id="rId3"/>
    <p:sldId id="385" r:id="rId4"/>
    <p:sldId id="399" r:id="rId5"/>
    <p:sldId id="386" r:id="rId6"/>
    <p:sldId id="387" r:id="rId7"/>
    <p:sldId id="389" r:id="rId8"/>
    <p:sldId id="390" r:id="rId9"/>
    <p:sldId id="259" r:id="rId10"/>
    <p:sldId id="261" r:id="rId11"/>
    <p:sldId id="262" r:id="rId12"/>
    <p:sldId id="391" r:id="rId13"/>
    <p:sldId id="392" r:id="rId14"/>
    <p:sldId id="393" r:id="rId15"/>
    <p:sldId id="394" r:id="rId16"/>
    <p:sldId id="395" r:id="rId17"/>
    <p:sldId id="396" r:id="rId18"/>
    <p:sldId id="397" r:id="rId19"/>
    <p:sldId id="398" r:id="rId20"/>
    <p:sldId id="401" r:id="rId21"/>
    <p:sldId id="388" r:id="rId22"/>
    <p:sldId id="402" r:id="rId23"/>
    <p:sldId id="40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2B3A1-8D51-4B38-B9C0-A9709D9C7B38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EA8AE-8BB3-48F6-956E-E9C8CF39E8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336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inee.bib.cnrs.fr/10.1111/geb.12684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-org.inee.bib.cnrs.fr/10.1111/geb.12684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https://th-thumbnailer.cdn-si-edu.com/IrTIw20B8aOYLjXNRRofLVyS1eQ=/fit-in/1072x0/https://tf-cmsv2-smithsonianmag-media.s3.amazonaws.com/filer/a2/f8/a2f8b8f2-e2ec-41e8-bd7d-602d62a8dd01/danger_islands_expedition_image_3.jpg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15838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https://upload.wikimedia.org/wikipedia/commons/4/4f/World_topic_image_Satellite_image.jpg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2916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https://franceboisforet.fr/2019/01/15/massif-des-landes-de-gascogne-vu-du-ciel/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9091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https://www.ab.mpg.de/435091/solving-animal-tracking-big-data-problem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429258-E290-4D94-99EA-D98953764A48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5459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10.1111/geb.12684Digital Object Identifier (DOI)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64561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D1A2E-16B7-AFB7-F071-09D682BD8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BDA50F9-B3CA-4DA1-66A5-C97E80DE5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98CF1B-45DA-A53C-3777-D3A1ACABB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Script : D:/EPHE_enseignement/Statistiques/certificat/2026/supports/ephe-certificat-stat-3/scripts/ephe-niveau3-mercredi-simulation.R</a:t>
            </a:r>
          </a:p>
          <a:p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10.1111/geb.12684Digital Object Identifier (DOI)</a:t>
            </a:r>
            <a:b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fr-FR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https://biometry.github.io/APES//Stats/stats33-SimulatingSpatialAutocorrelation.html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915283-8672-E2E9-7228-411019EDF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238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270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721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56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024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65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03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6735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8460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9415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88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316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58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ctrTitle"/>
          </p:nvPr>
        </p:nvSpPr>
        <p:spPr>
          <a:xfrm>
            <a:off x="2" y="2725274"/>
            <a:ext cx="8387511" cy="703729"/>
          </a:xfrm>
        </p:spPr>
        <p:txBody>
          <a:bodyPr>
            <a:normAutofit/>
          </a:bodyPr>
          <a:lstStyle/>
          <a:p>
            <a:pPr algn="l"/>
            <a:r>
              <a:rPr lang="fr-FR" sz="3600" dirty="0">
                <a:latin typeface="Abadi ExtraLight" panose="020B0204020104020204" pitchFamily="34" charset="0"/>
              </a:rPr>
              <a:t>Analyser des données spatiales</a:t>
            </a:r>
            <a:endParaRPr lang="fr-FR" sz="4800" dirty="0">
              <a:latin typeface="Abadi ExtraLight" panose="020B0204020104020204" pitchFamily="34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BE46610-9265-49DA-9591-C93E8917F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t>1</a:t>
            </a:fld>
            <a:endParaRPr lang="fr-FR"/>
          </a:p>
        </p:txBody>
      </p:sp>
      <p:pic>
        <p:nvPicPr>
          <p:cNvPr id="4" name="Image 3" descr="Une image contenant texte, habits, eau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2DBBF5F-0470-8B7A-7371-A4D93DBBFE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2285" y="-103243"/>
            <a:ext cx="9282495" cy="2694043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F64E1141-7356-4149-70A0-7982FBA3BE31}"/>
              </a:ext>
            </a:extLst>
          </p:cNvPr>
          <p:cNvSpPr txBox="1">
            <a:spLocks/>
          </p:cNvSpPr>
          <p:nvPr/>
        </p:nvSpPr>
        <p:spPr>
          <a:xfrm>
            <a:off x="1" y="5284842"/>
            <a:ext cx="9282493" cy="15419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sz="2400" dirty="0">
                <a:latin typeface="Abadi ExtraLight" panose="020B0204020104020204" pitchFamily="34" charset="0"/>
              </a:rPr>
              <a:t>Version 2026</a:t>
            </a:r>
          </a:p>
          <a:p>
            <a:pPr algn="l"/>
            <a:r>
              <a:rPr lang="fr-FR" sz="2400" dirty="0">
                <a:latin typeface="Abadi ExtraLight" panose="020B0204020104020204" pitchFamily="34" charset="0"/>
              </a:rPr>
              <a:t>Jean-Yves Barnagaud – jean-yves.barnagaud@ephe.psl.eu</a:t>
            </a:r>
          </a:p>
        </p:txBody>
      </p:sp>
    </p:spTree>
    <p:extLst>
      <p:ext uri="{BB962C8B-B14F-4D97-AF65-F5344CB8AC3E}">
        <p14:creationId xmlns:p14="http://schemas.microsoft.com/office/powerpoint/2010/main" val="3483753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D9685FF-BB6A-8E8D-05C4-42C57F1D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3B19AF5-75E9-4B22-89CD-DDEB2572D276}"/>
              </a:ext>
            </a:extLst>
          </p:cNvPr>
          <p:cNvSpPr txBox="1"/>
          <p:nvPr/>
        </p:nvSpPr>
        <p:spPr>
          <a:xfrm>
            <a:off x="-1112743" y="212724"/>
            <a:ext cx="5020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28D9D84-CABA-D0F9-BC53-8430287589A8}"/>
              </a:ext>
            </a:extLst>
          </p:cNvPr>
          <p:cNvSpPr txBox="1"/>
          <p:nvPr/>
        </p:nvSpPr>
        <p:spPr>
          <a:xfrm>
            <a:off x="-161923" y="1935070"/>
            <a:ext cx="93076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Explorer un jeu de données spatial en autonomie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Identifier les problématiques inhérentes aux données spatiales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Proposer des solutions</a:t>
            </a:r>
          </a:p>
        </p:txBody>
      </p:sp>
    </p:spTree>
    <p:extLst>
      <p:ext uri="{BB962C8B-B14F-4D97-AF65-F5344CB8AC3E}">
        <p14:creationId xmlns:p14="http://schemas.microsoft.com/office/powerpoint/2010/main" val="1686827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 descr="Une image contenant sol, plein air, poisson, raie&#10;&#10;Le contenu généré par l’IA peut être incorrect.">
            <a:extLst>
              <a:ext uri="{FF2B5EF4-FFF2-40B4-BE49-F238E27FC236}">
                <a16:creationId xmlns:a16="http://schemas.microsoft.com/office/drawing/2014/main" id="{C832D332-BC68-070D-82D1-959BF5B0F0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81" b="10133"/>
          <a:stretch>
            <a:fillRect/>
          </a:stretch>
        </p:blipFill>
        <p:spPr>
          <a:xfrm>
            <a:off x="-1523979" y="1283"/>
            <a:ext cx="12191980" cy="685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99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7ABC3-1D84-AB0F-3E24-2E67559A9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2193926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Cas d’étude 1 : étude d’un patron spatial à partir de données protocolées</a:t>
            </a:r>
          </a:p>
        </p:txBody>
      </p:sp>
    </p:spTree>
    <p:extLst>
      <p:ext uri="{BB962C8B-B14F-4D97-AF65-F5344CB8AC3E}">
        <p14:creationId xmlns:p14="http://schemas.microsoft.com/office/powerpoint/2010/main" val="147684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80EB7A33-F5D9-605C-E308-A8689184C1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5701555" y="619636"/>
            <a:ext cx="3047356" cy="5235388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40ECA4F-301C-88BB-6B43-58E0397037AB}"/>
              </a:ext>
            </a:extLst>
          </p:cNvPr>
          <p:cNvSpPr txBox="1"/>
          <p:nvPr/>
        </p:nvSpPr>
        <p:spPr>
          <a:xfrm>
            <a:off x="171253" y="592045"/>
            <a:ext cx="47339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1: </a:t>
            </a:r>
            <a:r>
              <a:rPr lang="fr-FR" sz="2800" dirty="0">
                <a:latin typeface="Abadi ExtraLight" panose="020B0204020104020204" pitchFamily="34" charset="0"/>
              </a:rPr>
              <a:t>définir la question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2: </a:t>
            </a:r>
            <a:r>
              <a:rPr lang="fr-FR" sz="2800" dirty="0">
                <a:latin typeface="Abadi ExtraLight" panose="020B0204020104020204" pitchFamily="34" charset="0"/>
              </a:rPr>
              <a:t>élaborer les hypothèses et le modèle 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3: </a:t>
            </a:r>
            <a:r>
              <a:rPr lang="fr-FR" sz="2800" dirty="0">
                <a:latin typeface="Abadi ExtraLight" panose="020B0204020104020204" pitchFamily="34" charset="0"/>
              </a:rPr>
              <a:t>explorer les données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4: </a:t>
            </a:r>
            <a:r>
              <a:rPr lang="fr-FR" sz="2800" dirty="0">
                <a:latin typeface="Abadi ExtraLight" panose="020B0204020104020204" pitchFamily="34" charset="0"/>
              </a:rPr>
              <a:t>élaborer le modèle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5: </a:t>
            </a:r>
            <a:r>
              <a:rPr lang="fr-FR" sz="2800" dirty="0">
                <a:latin typeface="Abadi ExtraLight" panose="020B0204020104020204" pitchFamily="34" charset="0"/>
              </a:rPr>
              <a:t>explorer les résultats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6: </a:t>
            </a:r>
            <a:r>
              <a:rPr lang="fr-FR" sz="2800" dirty="0">
                <a:latin typeface="Abadi ExtraLight" panose="020B0204020104020204" pitchFamily="34" charset="0"/>
              </a:rPr>
              <a:t>préparer une restitution </a:t>
            </a:r>
          </a:p>
        </p:txBody>
      </p:sp>
    </p:spTree>
    <p:extLst>
      <p:ext uri="{BB962C8B-B14F-4D97-AF65-F5344CB8AC3E}">
        <p14:creationId xmlns:p14="http://schemas.microsoft.com/office/powerpoint/2010/main" val="59329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43AF1B9-7993-3595-0B16-5BAE78DE20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5853955" y="629294"/>
            <a:ext cx="3047356" cy="523538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4FDF7A6-C223-FD7E-A654-B57574239575}"/>
              </a:ext>
            </a:extLst>
          </p:cNvPr>
          <p:cNvSpPr txBox="1"/>
          <p:nvPr/>
        </p:nvSpPr>
        <p:spPr>
          <a:xfrm>
            <a:off x="118866" y="553943"/>
            <a:ext cx="5434209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L’herbivorie par les ongulés dans les Alpes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variations de la pression d’abroutissement imposées par les ongulés à la végétation ligneuse et semi ligneuse dans les Alpes.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une pression d’abroutissement plus forte près des lisières, là où il y a peu de fréquentation, à altitude moyenne, sur des terrains plats et loin des zones à forte pression de chasse.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d’un réseau de placettes de 1m² disposées dans trois massifs alpins. Les opérateurs notent la présence ou l’absence de signes d’abroutissement.</a:t>
            </a:r>
          </a:p>
        </p:txBody>
      </p:sp>
    </p:spTree>
    <p:extLst>
      <p:ext uri="{BB962C8B-B14F-4D97-AF65-F5344CB8AC3E}">
        <p14:creationId xmlns:p14="http://schemas.microsoft.com/office/powerpoint/2010/main" val="2674611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FEC1931-7193-464B-FA70-1FC388B2DD27}"/>
              </a:ext>
            </a:extLst>
          </p:cNvPr>
          <p:cNvSpPr txBox="1"/>
          <p:nvPr/>
        </p:nvSpPr>
        <p:spPr>
          <a:xfrm>
            <a:off x="118866" y="553943"/>
            <a:ext cx="86155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 de l’analyse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1 – explorer des données spatiales : quels sont les patrons spatiaux que l’on veut décrire? A quel point la variation spatiale observée est compatible avec les hypothèses?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2 – proposer une solution de modélisation simple.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3 – Etudier les conditions d’application du modèle au regard de la structure spatiale des données. Conclure.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4 – Proposer une suite à cette analyse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B034BFC-ECC3-DD78-9B08-C6911CA5B4AB}"/>
              </a:ext>
            </a:extLst>
          </p:cNvPr>
          <p:cNvSpPr txBox="1"/>
          <p:nvPr/>
        </p:nvSpPr>
        <p:spPr>
          <a:xfrm>
            <a:off x="314325" y="4943475"/>
            <a:ext cx="62198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Fichier : </a:t>
            </a:r>
            <a:r>
              <a:rPr lang="fr-FR" i="1" dirty="0">
                <a:solidFill>
                  <a:srgbClr val="C00000"/>
                </a:solidFill>
              </a:rPr>
              <a:t>chevreuils_alpes.csv</a:t>
            </a:r>
          </a:p>
          <a:p>
            <a:endParaRPr lang="fr-FR" dirty="0"/>
          </a:p>
          <a:p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31899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7230946B-3F98-960C-472F-30DB48F60B0A}"/>
              </a:ext>
            </a:extLst>
          </p:cNvPr>
          <p:cNvSpPr txBox="1"/>
          <p:nvPr/>
        </p:nvSpPr>
        <p:spPr>
          <a:xfrm>
            <a:off x="128391" y="268193"/>
            <a:ext cx="8615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Récapitulatif</a:t>
            </a:r>
            <a:endParaRPr lang="fr-FR" sz="2800" dirty="0">
              <a:latin typeface="Abadi Extra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032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51647" y="-127702"/>
            <a:ext cx="10488706" cy="698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52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84947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949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4643" y="0"/>
            <a:ext cx="10478886" cy="7413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45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F62C3-C351-B54E-8150-B779FEF17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87E78F1-8F4D-3B41-348D-1605C3A1E483}"/>
              </a:ext>
            </a:extLst>
          </p:cNvPr>
          <p:cNvSpPr txBox="1"/>
          <p:nvPr/>
        </p:nvSpPr>
        <p:spPr>
          <a:xfrm>
            <a:off x="480817" y="797510"/>
            <a:ext cx="53199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Les données spatiales sont omniprésentes en écologie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structure spatiale des données peut porter un signal écologique d’intérêt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relation entre structure spatiale des données et signal écologique est corrélative mais pas nécessairement causale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</p:txBody>
      </p:sp>
      <p:pic>
        <p:nvPicPr>
          <p:cNvPr id="3" name="Image 2" descr="Une image contenant carte, barrière de corail,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5C6E4104-3009-FEC4-1899-D416D942A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144" y="0"/>
            <a:ext cx="2844856" cy="68580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13A659D-F6BB-04C0-2039-03F9079297C3}"/>
              </a:ext>
            </a:extLst>
          </p:cNvPr>
          <p:cNvSpPr txBox="1"/>
          <p:nvPr/>
        </p:nvSpPr>
        <p:spPr>
          <a:xfrm>
            <a:off x="5443342" y="6519446"/>
            <a:ext cx="2024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Abadi ExtraLight" panose="020B0204020104020204" pitchFamily="34" charset="0"/>
              </a:rPr>
              <a:t>Busana</a:t>
            </a:r>
            <a:r>
              <a:rPr lang="fr-FR" sz="1600" dirty="0">
                <a:latin typeface="Abadi ExtraLight" panose="020B0204020104020204" pitchFamily="34" charset="0"/>
              </a:rPr>
              <a:t> et al 2026</a:t>
            </a:r>
          </a:p>
        </p:txBody>
      </p:sp>
    </p:spTree>
    <p:extLst>
      <p:ext uri="{BB962C8B-B14F-4D97-AF65-F5344CB8AC3E}">
        <p14:creationId xmlns:p14="http://schemas.microsoft.com/office/powerpoint/2010/main" val="1238100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6C94B14-9C97-58BA-4416-DDAACB1019E0}"/>
              </a:ext>
            </a:extLst>
          </p:cNvPr>
          <p:cNvSpPr txBox="1"/>
          <p:nvPr/>
        </p:nvSpPr>
        <p:spPr>
          <a:xfrm>
            <a:off x="400050" y="303937"/>
            <a:ext cx="540067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Données spatiales n’implique pas nécessairement analyse spatialement – explicite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Néanmoins, la structure spatiale impacte les inférences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structure spatiale des données et de leurs résidus en sortie de modèle doit systématiquement être explorée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dirty="0">
                <a:latin typeface="Abadi ExtraLight" panose="020B0204020104020204" pitchFamily="34" charset="0"/>
              </a:rPr>
              <a:t>La présence d’une structure spatiale résiduelle viole la condition d’indépendance des résidus</a:t>
            </a:r>
          </a:p>
        </p:txBody>
      </p:sp>
      <p:pic>
        <p:nvPicPr>
          <p:cNvPr id="7" name="Image 6" descr="Une image contenant carte, texte, atlas&#10;&#10;Le contenu généré par l’IA peut être incorrect.">
            <a:extLst>
              <a:ext uri="{FF2B5EF4-FFF2-40B4-BE49-F238E27FC236}">
                <a16:creationId xmlns:a16="http://schemas.microsoft.com/office/drawing/2014/main" id="{2BBC45F1-3E89-F678-7E4A-843ED49547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19" r="9420"/>
          <a:stretch>
            <a:fillRect/>
          </a:stretch>
        </p:blipFill>
        <p:spPr>
          <a:xfrm>
            <a:off x="5829300" y="0"/>
            <a:ext cx="331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67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74B5-8C2D-2D47-4A5E-96853C5A4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A0238664-7D94-E436-6943-7F96818525B3}"/>
              </a:ext>
            </a:extLst>
          </p:cNvPr>
          <p:cNvSpPr txBox="1"/>
          <p:nvPr/>
        </p:nvSpPr>
        <p:spPr>
          <a:xfrm>
            <a:off x="3295650" y="227737"/>
            <a:ext cx="19431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Hypothèse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A54CEA2-1B56-F7D8-063B-4933CAE33534}"/>
              </a:ext>
            </a:extLst>
          </p:cNvPr>
          <p:cNvSpPr txBox="1"/>
          <p:nvPr/>
        </p:nvSpPr>
        <p:spPr>
          <a:xfrm>
            <a:off x="3062287" y="15400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Echantillonnage dans l’espace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55A1E4-CF93-EC61-B211-EC118E30CB40}"/>
              </a:ext>
            </a:extLst>
          </p:cNvPr>
          <p:cNvSpPr txBox="1"/>
          <p:nvPr/>
        </p:nvSpPr>
        <p:spPr>
          <a:xfrm>
            <a:off x="3062286" y="29497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Modélisation de données spatiales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48BD16A-744B-3255-CB20-E77E0A3DF76D}"/>
              </a:ext>
            </a:extLst>
          </p:cNvPr>
          <p:cNvSpPr txBox="1"/>
          <p:nvPr/>
        </p:nvSpPr>
        <p:spPr>
          <a:xfrm>
            <a:off x="5238750" y="43594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Patron spatial résiduel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8DC3E5B-67AF-9EB9-EDB7-E3D2BCC26B9A}"/>
              </a:ext>
            </a:extLst>
          </p:cNvPr>
          <p:cNvSpPr txBox="1"/>
          <p:nvPr/>
        </p:nvSpPr>
        <p:spPr>
          <a:xfrm>
            <a:off x="1138237" y="4359443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Aucun patron spatial résiduel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35A3514-E17C-5E43-436D-6E6AB3102E0A}"/>
              </a:ext>
            </a:extLst>
          </p:cNvPr>
          <p:cNvSpPr txBox="1"/>
          <p:nvPr/>
        </p:nvSpPr>
        <p:spPr>
          <a:xfrm>
            <a:off x="5238750" y="5692944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Spatialisation du modèle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35E0A35-1E7D-7802-68DC-371206EBC09C}"/>
              </a:ext>
            </a:extLst>
          </p:cNvPr>
          <p:cNvSpPr txBox="1"/>
          <p:nvPr/>
        </p:nvSpPr>
        <p:spPr>
          <a:xfrm>
            <a:off x="1138236" y="5756611"/>
            <a:ext cx="24098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latin typeface="Abadi ExtraLight" panose="020B0204020104020204" pitchFamily="34" charset="0"/>
              </a:rPr>
              <a:t>Pas de spatialisation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2D1723A6-F852-CA57-6D17-76DA03A2E4A2}"/>
              </a:ext>
            </a:extLst>
          </p:cNvPr>
          <p:cNvCxnSpPr>
            <a:stCxn id="5" idx="2"/>
            <a:endCxn id="3" idx="0"/>
          </p:cNvCxnSpPr>
          <p:nvPr/>
        </p:nvCxnSpPr>
        <p:spPr>
          <a:xfrm>
            <a:off x="4267200" y="689402"/>
            <a:ext cx="0" cy="8506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79128E04-58D9-5F3F-96B5-9EB054411B51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4267198" y="2371041"/>
            <a:ext cx="1" cy="578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999D663-ACD4-70C3-EADB-B0345082407D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4267199" y="3780741"/>
            <a:ext cx="2176464" cy="578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4C0400A8-0848-0EED-93F9-E5C3FBA46874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2343150" y="3780741"/>
            <a:ext cx="1924049" cy="5787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707F5CD1-055A-F308-5306-559BD3688422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2343149" y="5190440"/>
            <a:ext cx="1" cy="566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6F87937F-3EEB-3885-8EE9-D310D3221EBE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6443663" y="5190441"/>
            <a:ext cx="0" cy="5025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02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F5111F0-5945-4326-D76D-7553B890FACD}"/>
              </a:ext>
            </a:extLst>
          </p:cNvPr>
          <p:cNvSpPr txBox="1"/>
          <p:nvPr/>
        </p:nvSpPr>
        <p:spPr>
          <a:xfrm>
            <a:off x="1871662" y="1463457"/>
            <a:ext cx="5400676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Les impacts de l’autocorrélation spatiale sont variables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sous-estimation des 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biais des estimateurs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effets confondants de variations non mesurées</a:t>
            </a:r>
          </a:p>
        </p:txBody>
      </p:sp>
    </p:spTree>
    <p:extLst>
      <p:ext uri="{BB962C8B-B14F-4D97-AF65-F5344CB8AC3E}">
        <p14:creationId xmlns:p14="http://schemas.microsoft.com/office/powerpoint/2010/main" val="580187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655893A-7952-8AE5-567E-75635DC6A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3" y="0"/>
            <a:ext cx="7865793" cy="661987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DE1838B-F105-B654-2BDA-CB8B01B40B89}"/>
              </a:ext>
            </a:extLst>
          </p:cNvPr>
          <p:cNvSpPr txBox="1"/>
          <p:nvPr/>
        </p:nvSpPr>
        <p:spPr>
          <a:xfrm>
            <a:off x="7405492" y="6519446"/>
            <a:ext cx="2024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badi ExtraLight" panose="020B0204020104020204" pitchFamily="34" charset="0"/>
              </a:rPr>
              <a:t>Fourcade et al 2017</a:t>
            </a:r>
          </a:p>
        </p:txBody>
      </p:sp>
    </p:spTree>
    <p:extLst>
      <p:ext uri="{BB962C8B-B14F-4D97-AF65-F5344CB8AC3E}">
        <p14:creationId xmlns:p14="http://schemas.microsoft.com/office/powerpoint/2010/main" val="2814906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0D8AFC-BCB7-A98C-2C8B-E0B73877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3A188D-F2EC-4AD9-B4A8-0FBA180BF2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0" r="13416" b="-5"/>
          <a:stretch>
            <a:fillRect/>
          </a:stretch>
        </p:blipFill>
        <p:spPr>
          <a:xfrm>
            <a:off x="241299" y="2057399"/>
            <a:ext cx="3141034" cy="424340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3ED2FF0-6CB5-158C-8BE2-488A2024FC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519" r="21018" b="1"/>
          <a:stretch>
            <a:fillRect/>
          </a:stretch>
        </p:blipFill>
        <p:spPr>
          <a:xfrm>
            <a:off x="4646531" y="2285999"/>
            <a:ext cx="2975076" cy="401480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3DDF44E6-4B8D-B4AC-8AF8-F9B1673CFF4D}"/>
              </a:ext>
            </a:extLst>
          </p:cNvPr>
          <p:cNvSpPr txBox="1"/>
          <p:nvPr/>
        </p:nvSpPr>
        <p:spPr>
          <a:xfrm>
            <a:off x="241298" y="66675"/>
            <a:ext cx="866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Simulation : impact de l’autocorrélation spatiale sur une régression simple (</a:t>
            </a:r>
            <a:r>
              <a:rPr lang="fr-FR" dirty="0" err="1"/>
              <a:t>chatGPT</a:t>
            </a:r>
            <a:r>
              <a:rPr lang="fr-FR" dirty="0"/>
              <a:t>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D7BEA23-2143-902A-E6DA-F1FC5DAC744B}"/>
              </a:ext>
            </a:extLst>
          </p:cNvPr>
          <p:cNvSpPr txBox="1"/>
          <p:nvPr/>
        </p:nvSpPr>
        <p:spPr>
          <a:xfrm>
            <a:off x="241298" y="578405"/>
            <a:ext cx="86614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Régression simple Y~X, pente attendue = 2</a:t>
            </a:r>
          </a:p>
          <a:p>
            <a:r>
              <a:rPr lang="fr-FR" dirty="0"/>
              <a:t>Cas 1 = pas de structure spatiale</a:t>
            </a:r>
          </a:p>
          <a:p>
            <a:r>
              <a:rPr lang="fr-FR" dirty="0"/>
              <a:t>Cas 2 = Structure spatiale dans Y indépendante de X</a:t>
            </a:r>
          </a:p>
          <a:p>
            <a:r>
              <a:rPr lang="fr-FR" dirty="0"/>
              <a:t>Cas 3 = X et la structure spatiale proviennent d’une même variable non mesurée</a:t>
            </a:r>
          </a:p>
          <a:p>
            <a:r>
              <a:rPr lang="fr-FR" dirty="0"/>
              <a:t>Cas 4 = X et la structure spatiale proviennent de sources partiellement corrélées</a:t>
            </a:r>
          </a:p>
        </p:txBody>
      </p:sp>
    </p:spTree>
    <p:extLst>
      <p:ext uri="{BB962C8B-B14F-4D97-AF65-F5344CB8AC3E}">
        <p14:creationId xmlns:p14="http://schemas.microsoft.com/office/powerpoint/2010/main" val="4288687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EAFDD-263E-EACE-E7B0-2E0CF148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5E882BE-25D4-3522-41B8-FA4D25FB4AC3}"/>
              </a:ext>
            </a:extLst>
          </p:cNvPr>
          <p:cNvSpPr txBox="1"/>
          <p:nvPr/>
        </p:nvSpPr>
        <p:spPr>
          <a:xfrm>
            <a:off x="550068" y="694194"/>
            <a:ext cx="8043863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Messages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L’autocorrélation spatiale résiduelle n’est pas toujours un problème mais peut altérer fortement la conclusion d’une analyse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Ce n’est pas parce que des variables sont structurées spatialement que les résidus ne le sont pas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Réciproquement, même si les résidus ne semblent pas structurés, la structure spatiale peut avoir un impact</a:t>
            </a:r>
          </a:p>
        </p:txBody>
      </p:sp>
    </p:spTree>
    <p:extLst>
      <p:ext uri="{BB962C8B-B14F-4D97-AF65-F5344CB8AC3E}">
        <p14:creationId xmlns:p14="http://schemas.microsoft.com/office/powerpoint/2010/main" val="3691705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38C9B-1C69-00EC-7D14-15863BAF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4EC8006-7303-F2DB-37D5-8A82AE49935E}"/>
              </a:ext>
            </a:extLst>
          </p:cNvPr>
          <p:cNvSpPr txBox="1"/>
          <p:nvPr/>
        </p:nvSpPr>
        <p:spPr>
          <a:xfrm>
            <a:off x="550068" y="198894"/>
            <a:ext cx="8043863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Solutions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Priorité : </a:t>
            </a:r>
            <a:r>
              <a:rPr lang="fr-FR" sz="2800" dirty="0">
                <a:latin typeface="Abadi ExtraLight" panose="020B0204020104020204" pitchFamily="34" charset="0"/>
              </a:rPr>
              <a:t>identifier biologiquement la source de la structure spatiale résiduelle et l’incorporer dans le modèle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Alternative : </a:t>
            </a:r>
            <a:r>
              <a:rPr lang="fr-FR" sz="2800" dirty="0">
                <a:latin typeface="Abadi ExtraLight" panose="020B0204020104020204" pitchFamily="34" charset="0"/>
              </a:rPr>
              <a:t>modéliser la variation résiduelle spatiale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 err="1">
                <a:latin typeface="Abadi ExtraLight" panose="020B0204020104020204" pitchFamily="34" charset="0"/>
              </a:rPr>
              <a:t>Smoother</a:t>
            </a:r>
            <a:r>
              <a:rPr lang="fr-FR" sz="2800" dirty="0">
                <a:latin typeface="Abadi ExtraLight" panose="020B0204020104020204" pitchFamily="34" charset="0"/>
              </a:rPr>
              <a:t> bivarié s(</a:t>
            </a:r>
            <a:r>
              <a:rPr lang="fr-FR" sz="2800" dirty="0" err="1">
                <a:latin typeface="Abadi ExtraLight" panose="020B0204020104020204" pitchFamily="34" charset="0"/>
              </a:rPr>
              <a:t>x,y</a:t>
            </a:r>
            <a:r>
              <a:rPr lang="fr-FR" sz="2800" dirty="0">
                <a:latin typeface="Abadi ExtraLight" panose="020B0204020104020204" pitchFamily="34" charset="0"/>
              </a:rPr>
              <a:t>)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mgcv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Matrice de variance – covariance spatiale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nlme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Modèle autorégressif spatial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spatialreg</a:t>
            </a:r>
            <a:endParaRPr lang="fr-FR" sz="2800" i="1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fr-FR" sz="2800" dirty="0">
                <a:latin typeface="Abadi ExtraLight" panose="020B0204020104020204" pitchFamily="34" charset="0"/>
              </a:rPr>
              <a:t>Champs spatiaux INLA-SDEP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inla</a:t>
            </a:r>
            <a:r>
              <a:rPr lang="fr-FR" sz="2800" i="1" dirty="0">
                <a:solidFill>
                  <a:srgbClr val="C00000"/>
                </a:solidFill>
                <a:latin typeface="Abadi ExtraLight" panose="020B0204020104020204" pitchFamily="34" charset="0"/>
              </a:rPr>
              <a:t> - </a:t>
            </a:r>
            <a:r>
              <a:rPr lang="fr-FR" sz="2800" i="1" dirty="0" err="1">
                <a:solidFill>
                  <a:srgbClr val="C00000"/>
                </a:solidFill>
                <a:latin typeface="Abadi ExtraLight" panose="020B0204020104020204" pitchFamily="34" charset="0"/>
              </a:rPr>
              <a:t>inlabru</a:t>
            </a:r>
            <a:endParaRPr lang="fr-FR" sz="2800" dirty="0">
              <a:solidFill>
                <a:srgbClr val="C00000"/>
              </a:solidFill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r>
              <a:rPr lang="fr-FR" sz="2800" i="1" dirty="0">
                <a:latin typeface="Abadi ExtraLight" panose="020B0204020104020204" pitchFamily="34" charset="0"/>
              </a:rPr>
              <a:t>Aucune solution n’est adaptée à coup sûr. Privilégier une simulation dans des conditions proches des données pour vérifier le comportement du modèle</a:t>
            </a:r>
          </a:p>
        </p:txBody>
      </p:sp>
    </p:spTree>
    <p:extLst>
      <p:ext uri="{BB962C8B-B14F-4D97-AF65-F5344CB8AC3E}">
        <p14:creationId xmlns:p14="http://schemas.microsoft.com/office/powerpoint/2010/main" val="2599118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90DC-A9ED-45F9-B919-039ABF692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12C35-5025-E1DE-73BE-52BBAD3C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2193926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Cas d’étude 2 : étude d’un patron spatial à partir de données opportunistes</a:t>
            </a:r>
          </a:p>
        </p:txBody>
      </p:sp>
    </p:spTree>
    <p:extLst>
      <p:ext uri="{BB962C8B-B14F-4D97-AF65-F5344CB8AC3E}">
        <p14:creationId xmlns:p14="http://schemas.microsoft.com/office/powerpoint/2010/main" val="433692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4FB03-9921-82E8-BC0D-F6772CB4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7BFC2975-6119-0032-7F83-E6B51F65B43A}"/>
              </a:ext>
            </a:extLst>
          </p:cNvPr>
          <p:cNvSpPr txBox="1"/>
          <p:nvPr/>
        </p:nvSpPr>
        <p:spPr>
          <a:xfrm>
            <a:off x="99816" y="1249268"/>
            <a:ext cx="6367659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La répartition du lézard ocellé en Occitanie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déterminants de l’occurrence du lézard ocellé dans la région Occitanie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ce que le lézard évite les zones urbaines et préfère le climat méditerranéen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de points d’occurrence géolocalisés issus d’une base de données participative, amassés sans aucun protocole. Il n’y a pas d’absences.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9610B39-6183-432A-69A7-7F0D34828F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05" r="24608" b="49150"/>
          <a:stretch/>
        </p:blipFill>
        <p:spPr>
          <a:xfrm rot="16200000">
            <a:off x="5313375" y="2315884"/>
            <a:ext cx="5235388" cy="222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531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F35DE-6530-5DFE-E872-A2081A842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3EF6F49-D527-11B2-C2AB-1CE0F633093D}"/>
              </a:ext>
            </a:extLst>
          </p:cNvPr>
          <p:cNvSpPr txBox="1"/>
          <p:nvPr/>
        </p:nvSpPr>
        <p:spPr>
          <a:xfrm>
            <a:off x="442716" y="1125443"/>
            <a:ext cx="861555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 de l’analyse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1 – explorer les données : quelles spécificités, quels enjeux?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2 – proposer une solution d’analyse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3 – critiquer constructivement les résultats obtenus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4 – proposer une solution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2BB685A-E598-AF98-F86F-4CC04CB53FDF}"/>
              </a:ext>
            </a:extLst>
          </p:cNvPr>
          <p:cNvSpPr txBox="1"/>
          <p:nvPr/>
        </p:nvSpPr>
        <p:spPr>
          <a:xfrm>
            <a:off x="442716" y="4543425"/>
            <a:ext cx="6219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Fichier : </a:t>
            </a:r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/lezard_ocelle_occitanie.csv</a:t>
            </a: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</a:t>
            </a:r>
            <a:r>
              <a:rPr lang="fr-FR" i="1" dirty="0" err="1">
                <a:solidFill>
                  <a:srgbClr val="C00000"/>
                </a:solidFill>
              </a:rPr>
              <a:t>ppm_reptiles_occitanie_emprise.shp</a:t>
            </a:r>
            <a:endParaRPr lang="fr-FR" i="1" dirty="0">
              <a:solidFill>
                <a:srgbClr val="C00000"/>
              </a:solidFill>
            </a:endParaRP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/urbain_1000.tif</a:t>
            </a:r>
          </a:p>
          <a:p>
            <a:r>
              <a:rPr lang="fr-FR" i="1" dirty="0" err="1">
                <a:solidFill>
                  <a:srgbClr val="C00000"/>
                </a:solidFill>
              </a:rPr>
              <a:t>donnees</a:t>
            </a:r>
            <a:r>
              <a:rPr lang="fr-FR" i="1" dirty="0">
                <a:solidFill>
                  <a:srgbClr val="C00000"/>
                </a:solidFill>
              </a:rPr>
              <a:t>/</a:t>
            </a:r>
            <a:r>
              <a:rPr lang="fr-FR" i="1" dirty="0" err="1">
                <a:solidFill>
                  <a:srgbClr val="C00000"/>
                </a:solidFill>
              </a:rPr>
              <a:t>temperature_moyenne.tif</a:t>
            </a:r>
            <a:endParaRPr lang="fr-FR" dirty="0"/>
          </a:p>
          <a:p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1482093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039C8-5912-9498-84F0-63D0A7421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5D6CDA0-61A6-60EA-C027-A259F14ECD95}"/>
              </a:ext>
            </a:extLst>
          </p:cNvPr>
          <p:cNvSpPr txBox="1"/>
          <p:nvPr/>
        </p:nvSpPr>
        <p:spPr>
          <a:xfrm>
            <a:off x="550068" y="694194"/>
            <a:ext cx="8043863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Abadi ExtraLight" panose="020B0204020104020204" pitchFamily="34" charset="0"/>
              </a:rPr>
              <a:t>Messages : 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Les distributions de points de données peuvent être modélisées par des modèles de processus ponctuels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Ces modèles sont des GLM de Poisson spatialisés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Ils sont implémentés par </a:t>
            </a:r>
            <a:r>
              <a:rPr lang="fr-FR" sz="2800" dirty="0" err="1">
                <a:latin typeface="Abadi ExtraLight" panose="020B0204020104020204" pitchFamily="34" charset="0"/>
              </a:rPr>
              <a:t>MaxEnt</a:t>
            </a:r>
            <a:r>
              <a:rPr lang="fr-FR" sz="2800" dirty="0">
                <a:latin typeface="Abadi ExtraLight" panose="020B0204020104020204" pitchFamily="34" charset="0"/>
              </a:rPr>
              <a:t> ou plusieurs packages R</a:t>
            </a: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La prise en compte de l’effort d’échantillonnage est essentielle à séparer le patron de points dû à l’écologie et celui dû aux observateurs</a:t>
            </a:r>
          </a:p>
        </p:txBody>
      </p:sp>
    </p:spTree>
    <p:extLst>
      <p:ext uri="{BB962C8B-B14F-4D97-AF65-F5344CB8AC3E}">
        <p14:creationId xmlns:p14="http://schemas.microsoft.com/office/powerpoint/2010/main" val="17423548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</TotalTime>
  <Words>938</Words>
  <Application>Microsoft Office PowerPoint</Application>
  <PresentationFormat>Affichage à l'écran (4:3)</PresentationFormat>
  <Paragraphs>134</Paragraphs>
  <Slides>23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9" baseType="lpstr">
      <vt:lpstr>Abadi ExtraLight</vt:lpstr>
      <vt:lpstr>Aptos</vt:lpstr>
      <vt:lpstr>Aptos Display</vt:lpstr>
      <vt:lpstr>Arial</vt:lpstr>
      <vt:lpstr>Wingdings</vt:lpstr>
      <vt:lpstr>Thème Office</vt:lpstr>
      <vt:lpstr>Analyser des données spatiales</vt:lpstr>
      <vt:lpstr>Présentation PowerPoint</vt:lpstr>
      <vt:lpstr>Présentation PowerPoint</vt:lpstr>
      <vt:lpstr>Cas d’étude 1 : étude d’un patron spatial à partir de données protocolées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Cas d’étude 2 : étude d’un patron spatial à partir de données opportunistes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Jean-Yves Barnagaud</dc:creator>
  <cp:lastModifiedBy>Jean-Yves Barnagaud</cp:lastModifiedBy>
  <cp:revision>20</cp:revision>
  <dcterms:created xsi:type="dcterms:W3CDTF">2026-04-07T14:51:05Z</dcterms:created>
  <dcterms:modified xsi:type="dcterms:W3CDTF">2026-04-08T14:50:37Z</dcterms:modified>
</cp:coreProperties>
</file>