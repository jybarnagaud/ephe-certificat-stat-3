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325" r:id="rId2"/>
    <p:sldId id="384" r:id="rId3"/>
    <p:sldId id="385" r:id="rId4"/>
    <p:sldId id="386" r:id="rId5"/>
    <p:sldId id="387" r:id="rId6"/>
    <p:sldId id="388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83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E2B3A1-8D51-4B38-B9C0-A9709D9C7B38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FEA8AE-8BB3-48F6-956E-E9C8CF39E81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23363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https://th-thumbnailer.cdn-si-edu.com/IrTIw20B8aOYLjXNRRofLVyS1eQ=/fit-in/1072x0/https://tf-cmsv2-smithsonianmag-media.s3.amazonaws.com/filer/a2/f8/a2f8b8f2-e2ec-41e8-bd7d-602d62a8dd01/danger_islands_expedition_image_3.jpg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FEA8AE-8BB3-48F6-956E-E9C8CF39E81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1583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2709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7213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569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0246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658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903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6735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8460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94159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6888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6316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11EBAF-3E89-4224-B894-EF8FC8703D29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D93823-FDEA-4444-B7EF-25D462EF049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3588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1"/>
          <p:cNvSpPr>
            <a:spLocks noGrp="1"/>
          </p:cNvSpPr>
          <p:nvPr>
            <p:ph type="ctrTitle"/>
          </p:nvPr>
        </p:nvSpPr>
        <p:spPr>
          <a:xfrm>
            <a:off x="2" y="2725274"/>
            <a:ext cx="8387511" cy="703729"/>
          </a:xfrm>
        </p:spPr>
        <p:txBody>
          <a:bodyPr>
            <a:normAutofit/>
          </a:bodyPr>
          <a:lstStyle/>
          <a:p>
            <a:pPr algn="l"/>
            <a:r>
              <a:rPr lang="fr-FR" sz="3600" dirty="0">
                <a:latin typeface="Abadi ExtraLight" panose="020B0204020104020204" pitchFamily="34" charset="0"/>
              </a:rPr>
              <a:t>Analyser des données spatiales</a:t>
            </a:r>
            <a:endParaRPr lang="fr-FR" sz="4800" dirty="0">
              <a:latin typeface="Abadi ExtraLight" panose="020B0204020104020204" pitchFamily="34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BBE46610-9265-49DA-9591-C93E8917F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7765D-F622-4BC4-AC55-80A3CC4A834C}" type="slidenum">
              <a:rPr lang="fr-FR" smtClean="0"/>
              <a:t>1</a:t>
            </a:fld>
            <a:endParaRPr lang="fr-FR"/>
          </a:p>
        </p:txBody>
      </p:sp>
      <p:pic>
        <p:nvPicPr>
          <p:cNvPr id="4" name="Image 3" descr="Une image contenant texte, habits, eau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2DBBF5F-0470-8B7A-7371-A4D93DBBFE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2285" y="-103243"/>
            <a:ext cx="9282495" cy="2694043"/>
          </a:xfrm>
          <a:prstGeom prst="rect">
            <a:avLst/>
          </a:prstGeom>
        </p:spPr>
      </p:pic>
      <p:sp>
        <p:nvSpPr>
          <p:cNvPr id="5" name="Titre 1">
            <a:extLst>
              <a:ext uri="{FF2B5EF4-FFF2-40B4-BE49-F238E27FC236}">
                <a16:creationId xmlns:a16="http://schemas.microsoft.com/office/drawing/2014/main" id="{F64E1141-7356-4149-70A0-7982FBA3BE31}"/>
              </a:ext>
            </a:extLst>
          </p:cNvPr>
          <p:cNvSpPr txBox="1">
            <a:spLocks/>
          </p:cNvSpPr>
          <p:nvPr/>
        </p:nvSpPr>
        <p:spPr>
          <a:xfrm>
            <a:off x="1" y="5284842"/>
            <a:ext cx="9282493" cy="154193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sz="2400" dirty="0">
                <a:latin typeface="Abadi ExtraLight" panose="020B0204020104020204" pitchFamily="34" charset="0"/>
              </a:rPr>
              <a:t>Version 2026</a:t>
            </a:r>
          </a:p>
          <a:p>
            <a:pPr algn="l"/>
            <a:r>
              <a:rPr lang="fr-FR" sz="2400" dirty="0">
                <a:latin typeface="Abadi ExtraLight" panose="020B0204020104020204" pitchFamily="34" charset="0"/>
              </a:rPr>
              <a:t>Jean-Yves Barnagaud – jean-yves.barnagaud@ephe.psl.eu</a:t>
            </a:r>
          </a:p>
        </p:txBody>
      </p:sp>
    </p:spTree>
    <p:extLst>
      <p:ext uri="{BB962C8B-B14F-4D97-AF65-F5344CB8AC3E}">
        <p14:creationId xmlns:p14="http://schemas.microsoft.com/office/powerpoint/2010/main" val="3483753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D9685FF-BB6A-8E8D-05C4-42C57F1DD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7765D-F622-4BC4-AC55-80A3CC4A834C}" type="slidenum">
              <a:rPr lang="fr-FR" smtClean="0"/>
              <a:pPr/>
              <a:t>2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3B19AF5-75E9-4B22-89CD-DDEB2572D276}"/>
              </a:ext>
            </a:extLst>
          </p:cNvPr>
          <p:cNvSpPr txBox="1"/>
          <p:nvPr/>
        </p:nvSpPr>
        <p:spPr>
          <a:xfrm>
            <a:off x="-1112743" y="212724"/>
            <a:ext cx="50202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Objectifs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28D9D84-CABA-D0F9-BC53-8430287589A8}"/>
              </a:ext>
            </a:extLst>
          </p:cNvPr>
          <p:cNvSpPr txBox="1"/>
          <p:nvPr/>
        </p:nvSpPr>
        <p:spPr>
          <a:xfrm>
            <a:off x="-161923" y="1935070"/>
            <a:ext cx="930760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Explorer un jeu de données spatial en autonomie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Identifier les problématiques inhérentes aux données spatiales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dirty="0">
                <a:latin typeface="Abadi ExtraLight" panose="020B0204020104020204" pitchFamily="34" charset="0"/>
              </a:rPr>
              <a:t>Proposer des solutions</a:t>
            </a:r>
          </a:p>
        </p:txBody>
      </p:sp>
    </p:spTree>
    <p:extLst>
      <p:ext uri="{BB962C8B-B14F-4D97-AF65-F5344CB8AC3E}">
        <p14:creationId xmlns:p14="http://schemas.microsoft.com/office/powerpoint/2010/main" val="1686827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ce réservé du contenu 3" descr="Une image contenant sol, plein air, poisson, raie&#10;&#10;Le contenu généré par l’IA peut être incorrect.">
            <a:extLst>
              <a:ext uri="{FF2B5EF4-FFF2-40B4-BE49-F238E27FC236}">
                <a16:creationId xmlns:a16="http://schemas.microsoft.com/office/drawing/2014/main" id="{C832D332-BC68-070D-82D1-959BF5B0F0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81" b="10133"/>
          <a:stretch>
            <a:fillRect/>
          </a:stretch>
        </p:blipFill>
        <p:spPr>
          <a:xfrm>
            <a:off x="-1523979" y="1283"/>
            <a:ext cx="12191980" cy="6856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992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80EB7A33-F5D9-605C-E308-A8689184C13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74" r="24902"/>
          <a:stretch/>
        </p:blipFill>
        <p:spPr>
          <a:xfrm>
            <a:off x="4691905" y="811307"/>
            <a:ext cx="3047356" cy="523538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6489DCD-5045-036A-C5B1-0927890C93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05" r="24608" b="49150"/>
          <a:stretch/>
        </p:blipFill>
        <p:spPr>
          <a:xfrm rot="16200000">
            <a:off x="6321518" y="2315887"/>
            <a:ext cx="5235388" cy="2226231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40ECA4F-301C-88BB-6B43-58E0397037AB}"/>
              </a:ext>
            </a:extLst>
          </p:cNvPr>
          <p:cNvSpPr txBox="1"/>
          <p:nvPr/>
        </p:nvSpPr>
        <p:spPr>
          <a:xfrm>
            <a:off x="-962222" y="734920"/>
            <a:ext cx="47339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1: </a:t>
            </a:r>
            <a:r>
              <a:rPr lang="fr-FR" sz="2800" dirty="0">
                <a:latin typeface="Abadi ExtraLight" panose="020B0204020104020204" pitchFamily="34" charset="0"/>
              </a:rPr>
              <a:t>définir la question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2: </a:t>
            </a:r>
            <a:r>
              <a:rPr lang="fr-FR" sz="2800" dirty="0">
                <a:latin typeface="Abadi ExtraLight" panose="020B0204020104020204" pitchFamily="34" charset="0"/>
              </a:rPr>
              <a:t>élaborer les hypothèses et le modèle 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3: </a:t>
            </a:r>
            <a:r>
              <a:rPr lang="fr-FR" sz="2800" dirty="0">
                <a:latin typeface="Abadi ExtraLight" panose="020B0204020104020204" pitchFamily="34" charset="0"/>
              </a:rPr>
              <a:t>explorer les données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4: </a:t>
            </a:r>
            <a:r>
              <a:rPr lang="fr-FR" sz="2800" dirty="0">
                <a:latin typeface="Abadi ExtraLight" panose="020B0204020104020204" pitchFamily="34" charset="0"/>
              </a:rPr>
              <a:t>élaborer le modèle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5: </a:t>
            </a:r>
            <a:r>
              <a:rPr lang="fr-FR" sz="2800" dirty="0">
                <a:latin typeface="Abadi ExtraLight" panose="020B0204020104020204" pitchFamily="34" charset="0"/>
              </a:rPr>
              <a:t>explorer les résultats</a:t>
            </a:r>
          </a:p>
          <a:p>
            <a:pPr marL="457189" indent="-457189">
              <a:buFont typeface="Arial" panose="020B0604020202020204" pitchFamily="34" charset="0"/>
              <a:buChar char="•"/>
            </a:pPr>
            <a:endParaRPr lang="fr-FR" sz="2800" dirty="0">
              <a:latin typeface="Abadi ExtraLight" panose="020B0204020104020204" pitchFamily="34" charset="0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fr-FR" sz="2800" b="1" dirty="0">
                <a:latin typeface="Abadi ExtraLight" panose="020B0204020104020204" pitchFamily="34" charset="0"/>
              </a:rPr>
              <a:t>6: </a:t>
            </a:r>
            <a:r>
              <a:rPr lang="fr-FR" sz="2800" dirty="0">
                <a:latin typeface="Abadi ExtraLight" panose="020B0204020104020204" pitchFamily="34" charset="0"/>
              </a:rPr>
              <a:t>préparer une restitution </a:t>
            </a:r>
          </a:p>
        </p:txBody>
      </p:sp>
    </p:spTree>
    <p:extLst>
      <p:ext uri="{BB962C8B-B14F-4D97-AF65-F5344CB8AC3E}">
        <p14:creationId xmlns:p14="http://schemas.microsoft.com/office/powerpoint/2010/main" val="59329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443AF1B9-7993-3595-0B16-5BAE78DE20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74" r="24902"/>
          <a:stretch/>
        </p:blipFill>
        <p:spPr>
          <a:xfrm>
            <a:off x="6996955" y="811307"/>
            <a:ext cx="3047356" cy="523538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4FDF7A6-C223-FD7E-A654-B57574239575}"/>
              </a:ext>
            </a:extLst>
          </p:cNvPr>
          <p:cNvSpPr txBox="1"/>
          <p:nvPr/>
        </p:nvSpPr>
        <p:spPr>
          <a:xfrm>
            <a:off x="-862209" y="1125443"/>
            <a:ext cx="6982023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L’herbivorie par les ongulés dans les Alpes</a:t>
            </a:r>
            <a:endParaRPr lang="fr-FR" sz="2800" dirty="0"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s’intéresse aux variations de la pression d’abroutissement imposées par les ongulés à la végétation ligneuse et semi ligneuse dans les Alpes. 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s’attend à une pression d’abroutissement plus forte près des lisières, là où il y a peu de fréquentation, à altitude moyenne, sur des terrains plats et loin des zones à forte pression de chasse.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Les données sont constituées d’un réseau de placettes de 1m² disposées dans trois massifs alpins. Les opérateurs notent la présence ou l’absence de signes d’abroutissement.</a:t>
            </a:r>
          </a:p>
        </p:txBody>
      </p:sp>
    </p:spTree>
    <p:extLst>
      <p:ext uri="{BB962C8B-B14F-4D97-AF65-F5344CB8AC3E}">
        <p14:creationId xmlns:p14="http://schemas.microsoft.com/office/powerpoint/2010/main" val="2674611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4FB03-9921-82E8-BC0D-F6772CB41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7BFC2975-6119-0032-7F83-E6B51F65B43A}"/>
              </a:ext>
            </a:extLst>
          </p:cNvPr>
          <p:cNvSpPr txBox="1"/>
          <p:nvPr/>
        </p:nvSpPr>
        <p:spPr>
          <a:xfrm>
            <a:off x="-862209" y="1125443"/>
            <a:ext cx="6982023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latin typeface="Abadi ExtraLight" panose="020B0204020104020204" pitchFamily="34" charset="0"/>
              </a:rPr>
              <a:t>La répartition du lézard ocellé en Occitanie</a:t>
            </a:r>
            <a:endParaRPr lang="fr-FR" sz="2800" dirty="0">
              <a:latin typeface="Abadi ExtraLight" panose="020B0204020104020204" pitchFamily="34" charset="0"/>
            </a:endParaRPr>
          </a:p>
          <a:p>
            <a:endParaRPr lang="fr-FR" sz="28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s’intéresse aux déterminants de l’occurrence du lézard ocellé dans la région Occitanie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On s’attend à ce que le lézard évite les zones urbaines et préfère le climat méditerranéen</a:t>
            </a:r>
          </a:p>
          <a:p>
            <a:pPr algn="just"/>
            <a:endParaRPr lang="fr-FR" sz="2000" dirty="0">
              <a:latin typeface="Abadi ExtraLight" panose="020B0204020104020204" pitchFamily="34" charset="0"/>
            </a:endParaRPr>
          </a:p>
          <a:p>
            <a:pPr algn="just"/>
            <a:r>
              <a:rPr lang="fr-FR" sz="2000" dirty="0">
                <a:latin typeface="Abadi ExtraLight" panose="020B0204020104020204" pitchFamily="34" charset="0"/>
              </a:rPr>
              <a:t>Les données sont constituées de points d’occurrence géolocalisés issus d’une base de données participative, amassés sans aucun protocole. Il n’y a pas d’absences.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79610B39-6183-432A-69A7-7F0D34828FC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05" r="24608" b="49150"/>
          <a:stretch/>
        </p:blipFill>
        <p:spPr>
          <a:xfrm rot="16200000">
            <a:off x="6321518" y="2315887"/>
            <a:ext cx="5235388" cy="2226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53166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</TotalTime>
  <Words>274</Words>
  <Application>Microsoft Office PowerPoint</Application>
  <PresentationFormat>Affichage à l'écran (4:3)</PresentationFormat>
  <Paragraphs>38</Paragraphs>
  <Slides>6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Abadi ExtraLight</vt:lpstr>
      <vt:lpstr>Aptos</vt:lpstr>
      <vt:lpstr>Aptos Display</vt:lpstr>
      <vt:lpstr>Arial</vt:lpstr>
      <vt:lpstr>Thème Office</vt:lpstr>
      <vt:lpstr>Analyser des données spatiales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Jean-Yves Barnagaud</dc:creator>
  <cp:lastModifiedBy>Jean-Yves Barnagaud</cp:lastModifiedBy>
  <cp:revision>3</cp:revision>
  <dcterms:created xsi:type="dcterms:W3CDTF">2026-04-07T14:51:05Z</dcterms:created>
  <dcterms:modified xsi:type="dcterms:W3CDTF">2026-04-08T09:30:21Z</dcterms:modified>
</cp:coreProperties>
</file>